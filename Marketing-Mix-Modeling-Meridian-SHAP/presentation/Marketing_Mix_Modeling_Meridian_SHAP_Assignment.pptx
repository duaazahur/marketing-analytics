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notesSlides/_rels/notesSlide6.xml.rels" ContentType="application/vnd.openxmlformats-package.relationships+xml"/>
  <Override PartName="/ppt/notesSlides/_rels/notesSlide15.xml.rels" ContentType="application/vnd.openxmlformats-package.relationships+xml"/>
  <Override PartName="/ppt/notesSlides/_rels/notesSlide4.xml.rels" ContentType="application/vnd.openxmlformats-package.relationships+xml"/>
  <Override PartName="/ppt/notesSlides/_rels/notesSlide9.xml.rels" ContentType="application/vnd.openxmlformats-package.relationships+xml"/>
  <Override PartName="/ppt/notesSlides/_rels/notesSlide13.xml.rels" ContentType="application/vnd.openxmlformats-package.relationships+xml"/>
  <Override PartName="/ppt/notesSlides/_rels/notesSlide8.xml.rels" ContentType="application/vnd.openxmlformats-package.relationships+xml"/>
  <Override PartName="/ppt/notesSlides/_rels/notesSlide14.xml.rels" ContentType="application/vnd.openxmlformats-package.relationships+xml"/>
  <Override PartName="/ppt/notesSlides/_rels/notesSlide1.xml.rels" ContentType="application/vnd.openxmlformats-package.relationships+xml"/>
  <Override PartName="/ppt/notesSlides/_rels/notesSlide10.xml.rels" ContentType="application/vnd.openxmlformats-package.relationships+xml"/>
  <Override PartName="/ppt/notesSlides/_rels/notesSlide3.xml.rels" ContentType="application/vnd.openxmlformats-package.relationships+xml"/>
  <Override PartName="/ppt/notesSlides/_rels/notesSlide7.xml.rels" ContentType="application/vnd.openxmlformats-package.relationships+xml"/>
  <Override PartName="/ppt/notesSlides/_rels/notesSlide16.xml.rels" ContentType="application/vnd.openxmlformats-package.relationships+xml"/>
  <Override PartName="/ppt/notesSlides/_rels/notesSlide5.xml.rels" ContentType="application/vnd.openxmlformats-package.relationships+xml"/>
  <Override PartName="/ppt/notesSlides/_rels/notesSlide12.xml.rels" ContentType="application/vnd.openxmlformats-package.relationships+xml"/>
  <Override PartName="/ppt/notesSlides/_rels/notesSlide2.xml.rels" ContentType="application/vnd.openxmlformats-package.relationships+xml"/>
  <Override PartName="/ppt/notesSlides/_rels/notesSlide11.xml.rels" ContentType="application/vnd.openxmlformats-package.relationships+xml"/>
  <Override PartName="/ppt/notesSlides/notesSlide9.xml" ContentType="application/vnd.openxmlformats-officedocument.presentationml.notesSlide+xml"/>
  <Override PartName="/ppt/notesSlides/notesSlide8.xml" ContentType="application/vnd.openxmlformats-officedocument.presentationml.notesSlide+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4.xml" ContentType="application/vnd.openxmlformats-officedocument.presentationml.notesSlide+xml"/>
  <Override PartName="/ppt/notesSlides/notesSlide14.xml" ContentType="application/vnd.openxmlformats-officedocument.presentationml.notesSlide+xml"/>
  <Override PartName="/ppt/notesSlides/notesSlide5.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15.xml" ContentType="application/vnd.openxmlformats-officedocument.presentationml.notesSlide+xml"/>
  <Override PartName="/ppt/notesSlides/notesSlide6.xml" ContentType="application/vnd.openxmlformats-officedocument.presentationml.notesSlide+xml"/>
  <Override PartName="/ppt/notesSlides/notesSlide12.xml" ContentType="application/vnd.openxmlformats-officedocument.presentationml.notesSlide+xml"/>
  <Override PartName="/ppt/notesSlides/notesSlide3.xml" ContentType="application/vnd.openxmlformats-officedocument.presentationml.notesSlide+xml"/>
  <Override PartName="/ppt/notesSlides/notesSlide16.xml" ContentType="application/vnd.openxmlformats-officedocument.presentationml.notesSlide+xml"/>
  <Override PartName="/ppt/notesSlides/notesSlide7.xml" ContentType="application/vnd.openxmlformats-officedocument.presentationml.notesSlide+xml"/>
  <Override PartName="/ppt/_rels/presentation.xml.rels" ContentType="application/vnd.openxmlformats-package.relationships+xml"/>
  <Override PartName="/ppt/slideLayouts/slideLayout13.xml" ContentType="application/vnd.openxmlformats-officedocument.presentationml.slideLayout+xml"/>
  <Override PartName="/ppt/slideLayouts/slideLayout12.xml" ContentType="application/vnd.openxmlformats-officedocument.presentationml.slideLayout+xml"/>
  <Override PartName="/ppt/slideLayouts/slideLayout11.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8.xml" ContentType="application/vnd.openxmlformats-officedocument.presentationml.slideLayout+xml"/>
  <Override PartName="/ppt/slideLayouts/slideLayout7.xml" ContentType="application/vnd.openxmlformats-officedocument.presentationml.slideLayout+xml"/>
  <Override PartName="/ppt/slideLayouts/_rels/slideLayout22.xml.rels" ContentType="application/vnd.openxmlformats-package.relationships+xml"/>
  <Override PartName="/ppt/slideLayouts/_rels/slideLayout7.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9.xml.rels" ContentType="application/vnd.openxmlformats-package.relationships+xml"/>
  <Override PartName="/ppt/slideLayouts/_rels/slideLayout21.xml.rels" ContentType="application/vnd.openxmlformats-package.relationships+xml"/>
  <Override PartName="/ppt/slideLayouts/_rels/slideLayout6.xml.rels" ContentType="application/vnd.openxmlformats-package.relationships+xml"/>
  <Override PartName="/ppt/slideLayouts/_rels/slideLayout3.xml.rels" ContentType="application/vnd.openxmlformats-package.relationships+xml"/>
  <Override PartName="/ppt/slideLayouts/_rels/slideLayout16.xml.rels" ContentType="application/vnd.openxmlformats-package.relationships+xml"/>
  <Override PartName="/ppt/slideLayouts/_rels/slideLayout18.xml.rels" ContentType="application/vnd.openxmlformats-package.relationships+xml"/>
  <Override PartName="/ppt/slideLayouts/_rels/slideLayout5.xml.rels" ContentType="application/vnd.openxmlformats-package.relationships+xml"/>
  <Override PartName="/ppt/slideLayouts/_rels/slideLayout13.xml.rels" ContentType="application/vnd.openxmlformats-package.relationships+xml"/>
  <Override PartName="/ppt/slideLayouts/_rels/slideLayout12.xml.rels" ContentType="application/vnd.openxmlformats-package.relationships+xml"/>
  <Override PartName="/ppt/slideLayouts/_rels/slideLayout11.xml.rels" ContentType="application/vnd.openxmlformats-package.relationships+xml"/>
  <Override PartName="/ppt/slideLayouts/_rels/slideLayout1.xml.rels" ContentType="application/vnd.openxmlformats-package.relationships+xml"/>
  <Override PartName="/ppt/slideLayouts/_rels/slideLayout14.xml.rels" ContentType="application/vnd.openxmlformats-package.relationships+xml"/>
  <Override PartName="/ppt/slideLayouts/_rels/slideLayout10.xml.rels" ContentType="application/vnd.openxmlformats-package.relationships+xml"/>
  <Override PartName="/ppt/slideLayouts/_rels/slideLayout24.xml.rels" ContentType="application/vnd.openxmlformats-package.relationships+xml"/>
  <Override PartName="/ppt/slideLayouts/_rels/slideLayout9.xml.rels" ContentType="application/vnd.openxmlformats-package.relationships+xml"/>
  <Override PartName="/ppt/slideLayouts/_rels/slideLayout23.xml.rels" ContentType="application/vnd.openxmlformats-package.relationships+xml"/>
  <Override PartName="/ppt/slideLayouts/_rels/slideLayout8.xml.rels" ContentType="application/vnd.openxmlformats-package.relationships+xml"/>
  <Override PartName="/ppt/slideLayouts/_rels/slideLayout15.xml.rels" ContentType="application/vnd.openxmlformats-package.relationships+xml"/>
  <Override PartName="/ppt/slideLayouts/_rels/slideLayout2.xml.rels" ContentType="application/vnd.openxmlformats-package.relationships+xml"/>
  <Override PartName="/ppt/slideLayouts/_rels/slideLayout20.xml.rels" ContentType="application/vnd.openxmlformats-package.relationships+xml"/>
  <Override PartName="/ppt/slideLayouts/slideLayout6.xml" ContentType="application/vnd.openxmlformats-officedocument.presentationml.slideLayout+xml"/>
  <Override PartName="/ppt/slideLayouts/slideLayout24.xml" ContentType="application/vnd.openxmlformats-officedocument.presentationml.slideLayout+xml"/>
  <Override PartName="/ppt/slideLayouts/slideLayout5.xml" ContentType="application/vnd.openxmlformats-officedocument.presentationml.slideLayout+xml"/>
  <Override PartName="/ppt/slideLayouts/slideLayout23.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18.xml" ContentType="application/vnd.openxmlformats-officedocument.presentationml.slideLayout+xml"/>
  <Override PartName="/ppt/slideLayouts/slideLayout3.xml" ContentType="application/vnd.openxmlformats-officedocument.presentationml.slideLayout+xml"/>
  <Override PartName="/ppt/slideLayouts/slideLayout21.xml" ContentType="application/vnd.openxmlformats-officedocument.presentationml.slideLayout+xml"/>
  <Override PartName="/ppt/slideLayouts/slideLayout19.xml" ContentType="application/vnd.openxmlformats-officedocument.presentationml.slideLayout+xml"/>
  <Override PartName="/ppt/slideLayouts/slideLayout4.xml" ContentType="application/vnd.openxmlformats-officedocument.presentationml.slideLayout+xml"/>
  <Override PartName="/ppt/slideLayouts/slideLayout22.xml" ContentType="application/vnd.openxmlformats-officedocument.presentationml.slideLayout+xml"/>
  <Override PartName="/ppt/media/image1.png" ContentType="image/png"/>
  <Override PartName="/ppt/media/image2.png" ContentType="image/png"/>
  <Override PartName="/ppt/media/image3.png" ContentType="image/png"/>
  <Override PartName="/ppt/media/image4.png" ContentType="image/png"/>
  <Override PartName="/ppt/media/image5.png" ContentType="image/png"/>
  <Override PartName="/ppt/media/image10.png" ContentType="image/png"/>
  <Override PartName="/ppt/media/image6.png" ContentType="image/png"/>
  <Override PartName="/ppt/media/image7.png" ContentType="image/png"/>
  <Override PartName="/ppt/media/image8.png" ContentType="image/png"/>
  <Override PartName="/ppt/media/image9.png" ContentType="image/png"/>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3.xml" ContentType="application/vnd.openxmlformats-officedocument.presentationml.slide+xml"/>
  <Override PartName="/ppt/slides/slide12.xml" ContentType="application/vnd.openxmlformats-officedocument.presentationml.slide+xml"/>
  <Override PartName="/ppt/slides/slide9.xml" ContentType="application/vnd.openxmlformats-officedocument.presentationml.slide+xml"/>
  <Override PartName="/ppt/slides/_rels/slide8.xml.rels" ContentType="application/vnd.openxmlformats-package.relationships+xml"/>
  <Override PartName="/ppt/slides/_rels/slide10.xml.rels" ContentType="application/vnd.openxmlformats-package.relationships+xml"/>
  <Override PartName="/ppt/slides/_rels/slide7.xml.rels" ContentType="application/vnd.openxmlformats-package.relationships+xml"/>
  <Override PartName="/ppt/slides/_rels/slide13.xml.rels" ContentType="application/vnd.openxmlformats-package.relationships+xml"/>
  <Override PartName="/ppt/slides/_rels/slide16.xml.rels" ContentType="application/vnd.openxmlformats-package.relationships+xml"/>
  <Override PartName="/ppt/slides/_rels/slide12.xml.rels" ContentType="application/vnd.openxmlformats-package.relationships+xml"/>
  <Override PartName="/ppt/slides/_rels/slide15.xml.rels" ContentType="application/vnd.openxmlformats-package.relationships+xml"/>
  <Override PartName="/ppt/slides/_rels/slide9.xml.rels" ContentType="application/vnd.openxmlformats-package.relationships+xml"/>
  <Override PartName="/ppt/slides/_rels/slide14.xml.rels" ContentType="application/vnd.openxmlformats-package.relationships+xml"/>
  <Override PartName="/ppt/slides/_rels/slide11.xml.rels" ContentType="application/vnd.openxmlformats-package.relationships+xml"/>
  <Override PartName="/ppt/slides/_rels/slide1.xml.rels" ContentType="application/vnd.openxmlformats-package.relationships+xml"/>
  <Override PartName="/ppt/slides/_rels/slide4.xml.rels" ContentType="application/vnd.openxmlformats-package.relationships+xml"/>
  <Override PartName="/ppt/slides/_rels/slide2.xml.rels" ContentType="application/vnd.openxmlformats-package.relationships+xml"/>
  <Override PartName="/ppt/slides/_rels/slide5.xml.rels" ContentType="application/vnd.openxmlformats-package.relationships+xml"/>
  <Override PartName="/ppt/slides/_rels/slide3.xml.rels" ContentType="application/vnd.openxmlformats-package.relationships+xml"/>
  <Override PartName="/ppt/slides/_rels/slide6.xml.rels" ContentType="application/vnd.openxmlformats-package.relationships+xml"/>
  <Override PartName="/ppt/slides/slide16.xml" ContentType="application/vnd.openxmlformats-officedocument.presentationml.slide+xml"/>
  <Override PartName="/ppt/slides/slide1.xml" ContentType="application/vnd.openxmlformats-officedocument.presentationml.slide+xml"/>
  <Override PartName="/ppt/slides/slide15.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10.xml" ContentType="application/vnd.openxmlformats-officedocument.presentationml.slide+xml"/>
  <Override PartName="/ppt/slides/slide8.xml" ContentType="application/vnd.openxmlformats-officedocument.presentationml.slide+xml"/>
  <Override PartName="/ppt/slides/slide11.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Lst>
  <p:sldSz cx="12192000" cy="6858000"/>
  <p:notesSz cx="6858000" cy="12192000"/>
</p:presentation>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
</Relationships>
</file>

<file path=ppt/notesMasters/_rels/notesMaster1.xml.rels><?xml version="1.0" encoding="UTF-8"?>
<Relationships xmlns="http://schemas.openxmlformats.org/package/2006/relationships"><Relationship Id="rId1" Type="http://schemas.openxmlformats.org/officeDocument/2006/relationships/theme" Target="../theme/theme3.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79" name="PlaceHolder 1"/>
          <p:cNvSpPr>
            <a:spLocks noGrp="1"/>
          </p:cNvSpPr>
          <p:nvPr>
            <p:ph type="sldImg"/>
          </p:nvPr>
        </p:nvSpPr>
        <p:spPr>
          <a:xfrm>
            <a:off x="533520" y="764280"/>
            <a:ext cx="6704640" cy="3771360"/>
          </a:xfrm>
          <a:prstGeom prst="rect">
            <a:avLst/>
          </a:prstGeom>
        </p:spPr>
        <p:txBody>
          <a:bodyPr lIns="0" rIns="0" tIns="0" bIns="0" anchor="ctr">
            <a:noAutofit/>
          </a:bodyPr>
          <a:p>
            <a:r>
              <a:rPr b="0" lang="en-US" sz="1800" spc="-1" strike="noStrike">
                <a:solidFill>
                  <a:srgbClr val="000000"/>
                </a:solidFill>
                <a:latin typeface="Arial"/>
              </a:rPr>
              <a:t>Click to move the slide</a:t>
            </a:r>
            <a:endParaRPr b="0" lang="en-US" sz="1800" spc="-1" strike="noStrike">
              <a:solidFill>
                <a:srgbClr val="000000"/>
              </a:solidFill>
              <a:latin typeface="Arial"/>
            </a:endParaRPr>
          </a:p>
        </p:txBody>
      </p:sp>
      <p:sp>
        <p:nvSpPr>
          <p:cNvPr id="80" name="PlaceHolder 2"/>
          <p:cNvSpPr>
            <a:spLocks noGrp="1"/>
          </p:cNvSpPr>
          <p:nvPr>
            <p:ph type="body"/>
          </p:nvPr>
        </p:nvSpPr>
        <p:spPr>
          <a:xfrm>
            <a:off x="777240" y="4777560"/>
            <a:ext cx="6217560" cy="4525920"/>
          </a:xfrm>
          <a:prstGeom prst="rect">
            <a:avLst/>
          </a:prstGeom>
        </p:spPr>
        <p:txBody>
          <a:bodyPr lIns="0" rIns="0" tIns="0" bIns="0">
            <a:noAutofit/>
          </a:bodyPr>
          <a:p>
            <a:r>
              <a:rPr b="0" lang="en-US" sz="2000" spc="-1" strike="noStrike">
                <a:latin typeface="Arial"/>
              </a:rPr>
              <a:t>Click to edit the notes format</a:t>
            </a:r>
            <a:endParaRPr b="0" lang="en-US" sz="2000" spc="-1" strike="noStrike">
              <a:latin typeface="Arial"/>
            </a:endParaRPr>
          </a:p>
        </p:txBody>
      </p:sp>
      <p:sp>
        <p:nvSpPr>
          <p:cNvPr id="81" name="PlaceHolder 3"/>
          <p:cNvSpPr>
            <a:spLocks noGrp="1"/>
          </p:cNvSpPr>
          <p:nvPr>
            <p:ph type="hdr"/>
          </p:nvPr>
        </p:nvSpPr>
        <p:spPr>
          <a:xfrm>
            <a:off x="0" y="0"/>
            <a:ext cx="3372840" cy="502560"/>
          </a:xfrm>
          <a:prstGeom prst="rect">
            <a:avLst/>
          </a:prstGeom>
        </p:spPr>
        <p:txBody>
          <a:bodyPr lIns="0" rIns="0" tIns="0" bIns="0">
            <a:noAutofit/>
          </a:bodyPr>
          <a:p>
            <a:r>
              <a:rPr b="0" lang="en-US" sz="1400" spc="-1" strike="noStrike">
                <a:latin typeface="Times New Roman"/>
              </a:rPr>
              <a:t>&lt;header&gt;</a:t>
            </a:r>
            <a:endParaRPr b="0" lang="en-US" sz="1400" spc="-1" strike="noStrike">
              <a:latin typeface="Times New Roman"/>
            </a:endParaRPr>
          </a:p>
        </p:txBody>
      </p:sp>
      <p:sp>
        <p:nvSpPr>
          <p:cNvPr id="82" name="PlaceHolder 4"/>
          <p:cNvSpPr>
            <a:spLocks noGrp="1"/>
          </p:cNvSpPr>
          <p:nvPr>
            <p:ph type="dt"/>
          </p:nvPr>
        </p:nvSpPr>
        <p:spPr>
          <a:xfrm>
            <a:off x="4399200" y="0"/>
            <a:ext cx="3372840" cy="502560"/>
          </a:xfrm>
          <a:prstGeom prst="rect">
            <a:avLst/>
          </a:prstGeom>
        </p:spPr>
        <p:txBody>
          <a:bodyPr lIns="0" rIns="0" tIns="0" bIns="0">
            <a:noAutofit/>
          </a:bodyPr>
          <a:p>
            <a:pPr algn="r"/>
            <a:r>
              <a:rPr b="0" lang="en-US" sz="1400" spc="-1" strike="noStrike">
                <a:latin typeface="Times New Roman"/>
              </a:rPr>
              <a:t>&lt;date/time&gt;</a:t>
            </a:r>
            <a:endParaRPr b="0" lang="en-US" sz="1400" spc="-1" strike="noStrike">
              <a:latin typeface="Times New Roman"/>
            </a:endParaRPr>
          </a:p>
        </p:txBody>
      </p:sp>
      <p:sp>
        <p:nvSpPr>
          <p:cNvPr id="83" name="PlaceHolder 5"/>
          <p:cNvSpPr>
            <a:spLocks noGrp="1"/>
          </p:cNvSpPr>
          <p:nvPr>
            <p:ph type="ftr"/>
          </p:nvPr>
        </p:nvSpPr>
        <p:spPr>
          <a:xfrm>
            <a:off x="0" y="9555480"/>
            <a:ext cx="3372840" cy="502560"/>
          </a:xfrm>
          <a:prstGeom prst="rect">
            <a:avLst/>
          </a:prstGeom>
        </p:spPr>
        <p:txBody>
          <a:bodyPr lIns="0" rIns="0" tIns="0" bIns="0" anchor="b">
            <a:noAutofit/>
          </a:bodyPr>
          <a:p>
            <a:r>
              <a:rPr b="0" lang="en-US" sz="1400" spc="-1" strike="noStrike">
                <a:latin typeface="Times New Roman"/>
              </a:rPr>
              <a:t>&lt;footer&gt;</a:t>
            </a:r>
            <a:endParaRPr b="0" lang="en-US" sz="1400" spc="-1" strike="noStrike">
              <a:latin typeface="Times New Roman"/>
            </a:endParaRPr>
          </a:p>
        </p:txBody>
      </p:sp>
      <p:sp>
        <p:nvSpPr>
          <p:cNvPr id="84" name="PlaceHolder 6"/>
          <p:cNvSpPr>
            <a:spLocks noGrp="1"/>
          </p:cNvSpPr>
          <p:nvPr>
            <p:ph type="sldNum"/>
          </p:nvPr>
        </p:nvSpPr>
        <p:spPr>
          <a:xfrm>
            <a:off x="4399200" y="9555480"/>
            <a:ext cx="3372840" cy="502560"/>
          </a:xfrm>
          <a:prstGeom prst="rect">
            <a:avLst/>
          </a:prstGeom>
        </p:spPr>
        <p:txBody>
          <a:bodyPr lIns="0" rIns="0" tIns="0" bIns="0" anchor="b">
            <a:noAutofit/>
          </a:bodyPr>
          <a:p>
            <a:pPr algn="r"/>
            <a:fld id="{3FA1370D-C6C4-4EAD-B651-7BC4514331C3}" type="slidenum">
              <a:rPr b="0" lang="en-US" sz="1400" spc="-1" strike="noStrike">
                <a:latin typeface="Times New Roman"/>
              </a:rPr>
              <a:t>&lt;number&gt;</a:t>
            </a:fld>
            <a:endParaRPr b="0" lang="en-US"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_rels/notesSlide14.xml.rels><?xml version="1.0" encoding="UTF-8"?>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
</Relationships>
</file>

<file path=ppt/notesSlides/_rels/notesSlide15.xml.rels><?xml version="1.0" encoding="UTF-8"?>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
</Relationships>
</file>

<file path=ppt/notesSlides/_rels/notesSlide16.xml.rels><?xml version="1.0" encoding="UTF-8"?>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09" name="PlaceHolder 1"/>
          <p:cNvSpPr>
            <a:spLocks noGrp="1"/>
          </p:cNvSpPr>
          <p:nvPr>
            <p:ph type="sldImg"/>
          </p:nvPr>
        </p:nvSpPr>
        <p:spPr>
          <a:xfrm>
            <a:off x="685800" y="1143000"/>
            <a:ext cx="5486040" cy="3085920"/>
          </a:xfrm>
          <a:prstGeom prst="rect">
            <a:avLst/>
          </a:prstGeom>
        </p:spPr>
      </p:sp>
      <p:sp>
        <p:nvSpPr>
          <p:cNvPr id="610"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11" name="TextShape 3"/>
          <p:cNvSpPr txBox="1"/>
          <p:nvPr/>
        </p:nvSpPr>
        <p:spPr>
          <a:xfrm>
            <a:off x="3884760" y="8685360"/>
            <a:ext cx="2971440" cy="458280"/>
          </a:xfrm>
          <a:prstGeom prst="rect">
            <a:avLst/>
          </a:prstGeom>
          <a:noFill/>
          <a:ln>
            <a:noFill/>
          </a:ln>
        </p:spPr>
        <p:txBody>
          <a:bodyPr anchor="b">
            <a:noAutofit/>
          </a:bodyPr>
          <a:p>
            <a:pPr algn="r">
              <a:lnSpc>
                <a:spcPct val="100000"/>
              </a:lnSpc>
            </a:pPr>
            <a:fld id="{8A157E0F-2171-4BEF-AE7B-18B1C25A5747}"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2" name="PlaceHolder 1"/>
          <p:cNvSpPr>
            <a:spLocks noGrp="1"/>
          </p:cNvSpPr>
          <p:nvPr>
            <p:ph type="sldImg"/>
          </p:nvPr>
        </p:nvSpPr>
        <p:spPr>
          <a:xfrm>
            <a:off x="685800" y="1143000"/>
            <a:ext cx="5486040" cy="3085920"/>
          </a:xfrm>
          <a:prstGeom prst="rect">
            <a:avLst/>
          </a:prstGeom>
        </p:spPr>
      </p:sp>
      <p:sp>
        <p:nvSpPr>
          <p:cNvPr id="613"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14" name="TextShape 3"/>
          <p:cNvSpPr txBox="1"/>
          <p:nvPr/>
        </p:nvSpPr>
        <p:spPr>
          <a:xfrm>
            <a:off x="3884760" y="8685360"/>
            <a:ext cx="2971440" cy="458280"/>
          </a:xfrm>
          <a:prstGeom prst="rect">
            <a:avLst/>
          </a:prstGeom>
          <a:noFill/>
          <a:ln>
            <a:noFill/>
          </a:ln>
        </p:spPr>
        <p:txBody>
          <a:bodyPr anchor="b">
            <a:noAutofit/>
          </a:bodyPr>
          <a:p>
            <a:pPr algn="r">
              <a:lnSpc>
                <a:spcPct val="100000"/>
              </a:lnSpc>
            </a:pPr>
            <a:fld id="{52A8558F-855E-4B38-BE7F-4B656AA32E1D}"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5" name="PlaceHolder 1"/>
          <p:cNvSpPr>
            <a:spLocks noGrp="1"/>
          </p:cNvSpPr>
          <p:nvPr>
            <p:ph type="sldImg"/>
          </p:nvPr>
        </p:nvSpPr>
        <p:spPr>
          <a:xfrm>
            <a:off x="685800" y="1143000"/>
            <a:ext cx="5486040" cy="3085920"/>
          </a:xfrm>
          <a:prstGeom prst="rect">
            <a:avLst/>
          </a:prstGeom>
        </p:spPr>
      </p:sp>
      <p:sp>
        <p:nvSpPr>
          <p:cNvPr id="616"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1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4CA53750-B351-450C-B0FF-CB3FC5BA2CDF}"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18" name="PlaceHolder 1"/>
          <p:cNvSpPr>
            <a:spLocks noGrp="1"/>
          </p:cNvSpPr>
          <p:nvPr>
            <p:ph type="sldImg"/>
          </p:nvPr>
        </p:nvSpPr>
        <p:spPr>
          <a:xfrm>
            <a:off x="685800" y="1143000"/>
            <a:ext cx="5486040" cy="3085920"/>
          </a:xfrm>
          <a:prstGeom prst="rect">
            <a:avLst/>
          </a:prstGeom>
        </p:spPr>
      </p:sp>
      <p:sp>
        <p:nvSpPr>
          <p:cNvPr id="619"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2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A014739D-2F85-4D4B-BA17-3251DC5B1D24}"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1" name="PlaceHolder 1"/>
          <p:cNvSpPr>
            <a:spLocks noGrp="1"/>
          </p:cNvSpPr>
          <p:nvPr>
            <p:ph type="sldImg"/>
          </p:nvPr>
        </p:nvSpPr>
        <p:spPr>
          <a:xfrm>
            <a:off x="685800" y="1143000"/>
            <a:ext cx="5486040" cy="3085920"/>
          </a:xfrm>
          <a:prstGeom prst="rect">
            <a:avLst/>
          </a:prstGeom>
        </p:spPr>
      </p:sp>
      <p:sp>
        <p:nvSpPr>
          <p:cNvPr id="622"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2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E5CA1BEC-9532-40DD-A62C-F421864F695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4" name="PlaceHolder 1"/>
          <p:cNvSpPr>
            <a:spLocks noGrp="1"/>
          </p:cNvSpPr>
          <p:nvPr>
            <p:ph type="sldImg"/>
          </p:nvPr>
        </p:nvSpPr>
        <p:spPr>
          <a:xfrm>
            <a:off x="685800" y="1143000"/>
            <a:ext cx="5486040" cy="3085920"/>
          </a:xfrm>
          <a:prstGeom prst="rect">
            <a:avLst/>
          </a:prstGeom>
        </p:spPr>
      </p:sp>
      <p:sp>
        <p:nvSpPr>
          <p:cNvPr id="625"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2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B57AE287-69D5-4E06-93FC-51657B002D1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27" name="PlaceHolder 1"/>
          <p:cNvSpPr>
            <a:spLocks noGrp="1"/>
          </p:cNvSpPr>
          <p:nvPr>
            <p:ph type="sldImg"/>
          </p:nvPr>
        </p:nvSpPr>
        <p:spPr>
          <a:xfrm>
            <a:off x="685800" y="1143000"/>
            <a:ext cx="5486040" cy="3085920"/>
          </a:xfrm>
          <a:prstGeom prst="rect">
            <a:avLst/>
          </a:prstGeom>
        </p:spPr>
      </p:sp>
      <p:sp>
        <p:nvSpPr>
          <p:cNvPr id="628"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29" name="TextShape 3"/>
          <p:cNvSpPr txBox="1"/>
          <p:nvPr/>
        </p:nvSpPr>
        <p:spPr>
          <a:xfrm>
            <a:off x="3884760" y="8685360"/>
            <a:ext cx="2971440" cy="458280"/>
          </a:xfrm>
          <a:prstGeom prst="rect">
            <a:avLst/>
          </a:prstGeom>
          <a:noFill/>
          <a:ln>
            <a:noFill/>
          </a:ln>
        </p:spPr>
        <p:txBody>
          <a:bodyPr anchor="b">
            <a:noAutofit/>
          </a:bodyPr>
          <a:p>
            <a:pPr algn="r">
              <a:lnSpc>
                <a:spcPct val="100000"/>
              </a:lnSpc>
            </a:pPr>
            <a:fld id="{74A8E6ED-2185-44C5-9BD6-89DADFFE545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0" name="PlaceHolder 1"/>
          <p:cNvSpPr>
            <a:spLocks noGrp="1"/>
          </p:cNvSpPr>
          <p:nvPr>
            <p:ph type="sldImg"/>
          </p:nvPr>
        </p:nvSpPr>
        <p:spPr>
          <a:xfrm>
            <a:off x="685800" y="1143000"/>
            <a:ext cx="5486040" cy="3085920"/>
          </a:xfrm>
          <a:prstGeom prst="rect">
            <a:avLst/>
          </a:prstGeom>
        </p:spPr>
      </p:sp>
      <p:sp>
        <p:nvSpPr>
          <p:cNvPr id="631"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32" name="TextShape 3"/>
          <p:cNvSpPr txBox="1"/>
          <p:nvPr/>
        </p:nvSpPr>
        <p:spPr>
          <a:xfrm>
            <a:off x="3884760" y="8685360"/>
            <a:ext cx="2971440" cy="458280"/>
          </a:xfrm>
          <a:prstGeom prst="rect">
            <a:avLst/>
          </a:prstGeom>
          <a:noFill/>
          <a:ln>
            <a:noFill/>
          </a:ln>
        </p:spPr>
        <p:txBody>
          <a:bodyPr anchor="b">
            <a:noAutofit/>
          </a:bodyPr>
          <a:p>
            <a:pPr algn="r">
              <a:lnSpc>
                <a:spcPct val="100000"/>
              </a:lnSpc>
            </a:pPr>
            <a:fld id="{1E3E50FE-B2F4-4D2D-A5C4-D6FFE9D237BC}"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3" name="PlaceHolder 1"/>
          <p:cNvSpPr>
            <a:spLocks noGrp="1"/>
          </p:cNvSpPr>
          <p:nvPr>
            <p:ph type="sldImg"/>
          </p:nvPr>
        </p:nvSpPr>
        <p:spPr>
          <a:xfrm>
            <a:off x="685800" y="1143000"/>
            <a:ext cx="5486040" cy="3085920"/>
          </a:xfrm>
          <a:prstGeom prst="rect">
            <a:avLst/>
          </a:prstGeom>
        </p:spPr>
      </p:sp>
      <p:sp>
        <p:nvSpPr>
          <p:cNvPr id="634"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35" name="TextShape 3"/>
          <p:cNvSpPr txBox="1"/>
          <p:nvPr/>
        </p:nvSpPr>
        <p:spPr>
          <a:xfrm>
            <a:off x="3884760" y="8685360"/>
            <a:ext cx="2971440" cy="458280"/>
          </a:xfrm>
          <a:prstGeom prst="rect">
            <a:avLst/>
          </a:prstGeom>
          <a:noFill/>
          <a:ln>
            <a:noFill/>
          </a:ln>
        </p:spPr>
        <p:txBody>
          <a:bodyPr anchor="b">
            <a:noAutofit/>
          </a:bodyPr>
          <a:p>
            <a:pPr algn="r">
              <a:lnSpc>
                <a:spcPct val="100000"/>
              </a:lnSpc>
            </a:pPr>
            <a:fld id="{8E177B5C-4DD8-4ED3-BBD6-D6A9608D682E}"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6" name="PlaceHolder 1"/>
          <p:cNvSpPr>
            <a:spLocks noGrp="1"/>
          </p:cNvSpPr>
          <p:nvPr>
            <p:ph type="sldImg"/>
          </p:nvPr>
        </p:nvSpPr>
        <p:spPr>
          <a:xfrm>
            <a:off x="685800" y="1143000"/>
            <a:ext cx="5486040" cy="3085920"/>
          </a:xfrm>
          <a:prstGeom prst="rect">
            <a:avLst/>
          </a:prstGeom>
        </p:spPr>
      </p:sp>
      <p:sp>
        <p:nvSpPr>
          <p:cNvPr id="637"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38" name="TextShape 3"/>
          <p:cNvSpPr txBox="1"/>
          <p:nvPr/>
        </p:nvSpPr>
        <p:spPr>
          <a:xfrm>
            <a:off x="3884760" y="8685360"/>
            <a:ext cx="2971440" cy="458280"/>
          </a:xfrm>
          <a:prstGeom prst="rect">
            <a:avLst/>
          </a:prstGeom>
          <a:noFill/>
          <a:ln>
            <a:noFill/>
          </a:ln>
        </p:spPr>
        <p:txBody>
          <a:bodyPr anchor="b">
            <a:noAutofit/>
          </a:bodyPr>
          <a:p>
            <a:pPr algn="r">
              <a:lnSpc>
                <a:spcPct val="100000"/>
              </a:lnSpc>
            </a:pPr>
            <a:fld id="{17CF4A36-CEBA-4FE1-973D-08F706855541}"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39" name="PlaceHolder 1"/>
          <p:cNvSpPr>
            <a:spLocks noGrp="1"/>
          </p:cNvSpPr>
          <p:nvPr>
            <p:ph type="sldImg"/>
          </p:nvPr>
        </p:nvSpPr>
        <p:spPr>
          <a:xfrm>
            <a:off x="685800" y="1143000"/>
            <a:ext cx="5486040" cy="3085920"/>
          </a:xfrm>
          <a:prstGeom prst="rect">
            <a:avLst/>
          </a:prstGeom>
        </p:spPr>
      </p:sp>
      <p:sp>
        <p:nvSpPr>
          <p:cNvPr id="640"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41" name="TextShape 3"/>
          <p:cNvSpPr txBox="1"/>
          <p:nvPr/>
        </p:nvSpPr>
        <p:spPr>
          <a:xfrm>
            <a:off x="3884760" y="8685360"/>
            <a:ext cx="2971440" cy="458280"/>
          </a:xfrm>
          <a:prstGeom prst="rect">
            <a:avLst/>
          </a:prstGeom>
          <a:noFill/>
          <a:ln>
            <a:noFill/>
          </a:ln>
        </p:spPr>
        <p:txBody>
          <a:bodyPr anchor="b">
            <a:noAutofit/>
          </a:bodyPr>
          <a:p>
            <a:pPr algn="r">
              <a:lnSpc>
                <a:spcPct val="100000"/>
              </a:lnSpc>
            </a:pPr>
            <a:fld id="{7685E9AF-A719-4A3D-9FB1-7B60474A782B}"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2" name="PlaceHolder 1"/>
          <p:cNvSpPr>
            <a:spLocks noGrp="1"/>
          </p:cNvSpPr>
          <p:nvPr>
            <p:ph type="sldImg"/>
          </p:nvPr>
        </p:nvSpPr>
        <p:spPr>
          <a:xfrm>
            <a:off x="685800" y="1143000"/>
            <a:ext cx="5486040" cy="3085920"/>
          </a:xfrm>
          <a:prstGeom prst="rect">
            <a:avLst/>
          </a:prstGeom>
        </p:spPr>
      </p:sp>
      <p:sp>
        <p:nvSpPr>
          <p:cNvPr id="643"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44" name="TextShape 3"/>
          <p:cNvSpPr txBox="1"/>
          <p:nvPr/>
        </p:nvSpPr>
        <p:spPr>
          <a:xfrm>
            <a:off x="3884760" y="8685360"/>
            <a:ext cx="2971440" cy="458280"/>
          </a:xfrm>
          <a:prstGeom prst="rect">
            <a:avLst/>
          </a:prstGeom>
          <a:noFill/>
          <a:ln>
            <a:noFill/>
          </a:ln>
        </p:spPr>
        <p:txBody>
          <a:bodyPr anchor="b">
            <a:noAutofit/>
          </a:bodyPr>
          <a:p>
            <a:pPr algn="r">
              <a:lnSpc>
                <a:spcPct val="100000"/>
              </a:lnSpc>
            </a:pPr>
            <a:fld id="{EC3C6061-6098-47DC-B5EC-FCF65B914B42}"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5" name="PlaceHolder 1"/>
          <p:cNvSpPr>
            <a:spLocks noGrp="1"/>
          </p:cNvSpPr>
          <p:nvPr>
            <p:ph type="sldImg"/>
          </p:nvPr>
        </p:nvSpPr>
        <p:spPr>
          <a:xfrm>
            <a:off x="685800" y="1143000"/>
            <a:ext cx="5486040" cy="3085920"/>
          </a:xfrm>
          <a:prstGeom prst="rect">
            <a:avLst/>
          </a:prstGeom>
        </p:spPr>
      </p:sp>
      <p:sp>
        <p:nvSpPr>
          <p:cNvPr id="646"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47" name="TextShape 3"/>
          <p:cNvSpPr txBox="1"/>
          <p:nvPr/>
        </p:nvSpPr>
        <p:spPr>
          <a:xfrm>
            <a:off x="3884760" y="8685360"/>
            <a:ext cx="2971440" cy="458280"/>
          </a:xfrm>
          <a:prstGeom prst="rect">
            <a:avLst/>
          </a:prstGeom>
          <a:noFill/>
          <a:ln>
            <a:noFill/>
          </a:ln>
        </p:spPr>
        <p:txBody>
          <a:bodyPr anchor="b">
            <a:noAutofit/>
          </a:bodyPr>
          <a:p>
            <a:pPr algn="r">
              <a:lnSpc>
                <a:spcPct val="100000"/>
              </a:lnSpc>
            </a:pPr>
            <a:fld id="{C7AD5D24-5F9C-4E09-B406-01203345AF4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48" name="PlaceHolder 1"/>
          <p:cNvSpPr>
            <a:spLocks noGrp="1"/>
          </p:cNvSpPr>
          <p:nvPr>
            <p:ph type="sldImg"/>
          </p:nvPr>
        </p:nvSpPr>
        <p:spPr>
          <a:xfrm>
            <a:off x="685800" y="1143000"/>
            <a:ext cx="5486040" cy="3085920"/>
          </a:xfrm>
          <a:prstGeom prst="rect">
            <a:avLst/>
          </a:prstGeom>
        </p:spPr>
      </p:sp>
      <p:sp>
        <p:nvSpPr>
          <p:cNvPr id="649"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50" name="TextShape 3"/>
          <p:cNvSpPr txBox="1"/>
          <p:nvPr/>
        </p:nvSpPr>
        <p:spPr>
          <a:xfrm>
            <a:off x="3884760" y="8685360"/>
            <a:ext cx="2971440" cy="458280"/>
          </a:xfrm>
          <a:prstGeom prst="rect">
            <a:avLst/>
          </a:prstGeom>
          <a:noFill/>
          <a:ln>
            <a:noFill/>
          </a:ln>
        </p:spPr>
        <p:txBody>
          <a:bodyPr anchor="b">
            <a:noAutofit/>
          </a:bodyPr>
          <a:p>
            <a:pPr algn="r">
              <a:lnSpc>
                <a:spcPct val="100000"/>
              </a:lnSpc>
            </a:pPr>
            <a:fld id="{183F3973-04E1-4B18-8366-EA804D0458D6}"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1" name="PlaceHolder 1"/>
          <p:cNvSpPr>
            <a:spLocks noGrp="1"/>
          </p:cNvSpPr>
          <p:nvPr>
            <p:ph type="sldImg"/>
          </p:nvPr>
        </p:nvSpPr>
        <p:spPr>
          <a:xfrm>
            <a:off x="685800" y="1143000"/>
            <a:ext cx="5486040" cy="3085920"/>
          </a:xfrm>
          <a:prstGeom prst="rect">
            <a:avLst/>
          </a:prstGeom>
        </p:spPr>
      </p:sp>
      <p:sp>
        <p:nvSpPr>
          <p:cNvPr id="652"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53" name="TextShape 3"/>
          <p:cNvSpPr txBox="1"/>
          <p:nvPr/>
        </p:nvSpPr>
        <p:spPr>
          <a:xfrm>
            <a:off x="3884760" y="8685360"/>
            <a:ext cx="2971440" cy="458280"/>
          </a:xfrm>
          <a:prstGeom prst="rect">
            <a:avLst/>
          </a:prstGeom>
          <a:noFill/>
          <a:ln>
            <a:noFill/>
          </a:ln>
        </p:spPr>
        <p:txBody>
          <a:bodyPr anchor="b">
            <a:noAutofit/>
          </a:bodyPr>
          <a:p>
            <a:pPr algn="r">
              <a:lnSpc>
                <a:spcPct val="100000"/>
              </a:lnSpc>
            </a:pPr>
            <a:fld id="{D4A49B8F-88C5-4101-A146-9DFE50A54775}"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54" name="PlaceHolder 1"/>
          <p:cNvSpPr>
            <a:spLocks noGrp="1"/>
          </p:cNvSpPr>
          <p:nvPr>
            <p:ph type="sldImg"/>
          </p:nvPr>
        </p:nvSpPr>
        <p:spPr>
          <a:xfrm>
            <a:off x="685800" y="1143000"/>
            <a:ext cx="5486040" cy="3085920"/>
          </a:xfrm>
          <a:prstGeom prst="rect">
            <a:avLst/>
          </a:prstGeom>
        </p:spPr>
      </p:sp>
      <p:sp>
        <p:nvSpPr>
          <p:cNvPr id="655" name="PlaceHolder 2"/>
          <p:cNvSpPr>
            <a:spLocks noGrp="1"/>
          </p:cNvSpPr>
          <p:nvPr>
            <p:ph type="body"/>
          </p:nvPr>
        </p:nvSpPr>
        <p:spPr>
          <a:xfrm>
            <a:off x="685800" y="4400640"/>
            <a:ext cx="5486040" cy="3600000"/>
          </a:xfrm>
          <a:prstGeom prst="rect">
            <a:avLst/>
          </a:prstGeom>
        </p:spPr>
        <p:txBody>
          <a:bodyPr>
            <a:noAutofit/>
          </a:bodyPr>
          <a:p>
            <a:endParaRPr b="0" lang="en-US" sz="2000" spc="-1" strike="noStrike">
              <a:latin typeface="Arial"/>
            </a:endParaRPr>
          </a:p>
        </p:txBody>
      </p:sp>
      <p:sp>
        <p:nvSpPr>
          <p:cNvPr id="656" name="TextShape 3"/>
          <p:cNvSpPr txBox="1"/>
          <p:nvPr/>
        </p:nvSpPr>
        <p:spPr>
          <a:xfrm>
            <a:off x="3884760" y="8685360"/>
            <a:ext cx="2971440" cy="458280"/>
          </a:xfrm>
          <a:prstGeom prst="rect">
            <a:avLst/>
          </a:prstGeom>
          <a:noFill/>
          <a:ln>
            <a:noFill/>
          </a:ln>
        </p:spPr>
        <p:txBody>
          <a:bodyPr anchor="b">
            <a:noAutofit/>
          </a:bodyPr>
          <a:p>
            <a:pPr algn="r">
              <a:lnSpc>
                <a:spcPct val="100000"/>
              </a:lnSpc>
            </a:pPr>
            <a:fld id="{DF9B8E66-E2E1-4B61-9993-6A10550E0CBA}" type="slidenum">
              <a:rPr b="0" lang="en-US" sz="1200" spc="-1" strike="noStrike">
                <a:solidFill>
                  <a:srgbClr val="000000"/>
                </a:solidFill>
                <a:latin typeface="+mn-lt"/>
                <a:ea typeface="+mn-ea"/>
              </a:rPr>
              <a:t>&lt;number&gt;</a:t>
            </a:fld>
            <a:endParaRPr b="0" lang="en-US"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3"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5"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solidFill>
                <a:srgbClr val="000000"/>
              </a:solidFill>
              <a:latin typeface="Arial"/>
            </a:endParaRPr>
          </a:p>
        </p:txBody>
      </p:sp>
      <p:sp>
        <p:nvSpPr>
          <p:cNvPr id="8"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0"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12"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13"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solidFill>
                <a:srgbClr val="000000"/>
              </a:solidFill>
              <a:latin typeface="Arial"/>
            </a:endParaRPr>
          </a:p>
        </p:txBody>
      </p:sp>
      <p:sp>
        <p:nvSpPr>
          <p:cNvPr id="14"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16"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solidFill>
                <a:srgbClr val="000000"/>
              </a:solidFill>
              <a:latin typeface="Arial"/>
            </a:endParaRPr>
          </a:p>
        </p:txBody>
      </p:sp>
      <p:sp>
        <p:nvSpPr>
          <p:cNvPr id="17"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18"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9"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20"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21"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22"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24"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25"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27"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2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29"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30"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1"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32"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33"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34"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35"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36"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37"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3"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44" name="PlaceHolder 2"/>
          <p:cNvSpPr>
            <a:spLocks noGrp="1"/>
          </p:cNvSpPr>
          <p:nvPr>
            <p:ph type="subTitle"/>
          </p:nvPr>
        </p:nvSpPr>
        <p:spPr>
          <a:xfrm>
            <a:off x="609480" y="1604520"/>
            <a:ext cx="10972440" cy="397728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5"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46" name="PlaceHolder 2"/>
          <p:cNvSpPr>
            <a:spLocks noGrp="1"/>
          </p:cNvSpPr>
          <p:nvPr>
            <p:ph type="body"/>
          </p:nvPr>
        </p:nvSpPr>
        <p:spPr>
          <a:xfrm>
            <a:off x="609480" y="1604520"/>
            <a:ext cx="10972440" cy="397728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4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48"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solidFill>
                <a:srgbClr val="000000"/>
              </a:solidFill>
              <a:latin typeface="Arial"/>
            </a:endParaRPr>
          </a:p>
        </p:txBody>
      </p:sp>
      <p:sp>
        <p:nvSpPr>
          <p:cNvPr id="49"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1" name="PlaceHolder 1"/>
          <p:cNvSpPr>
            <a:spLocks noGrp="1"/>
          </p:cNvSpPr>
          <p:nvPr>
            <p:ph type="subTitle"/>
          </p:nvPr>
        </p:nvSpPr>
        <p:spPr>
          <a:xfrm>
            <a:off x="609480" y="273600"/>
            <a:ext cx="10972440" cy="5307840"/>
          </a:xfrm>
          <a:prstGeom prst="rect">
            <a:avLst/>
          </a:prstGeom>
        </p:spPr>
        <p:txBody>
          <a:bodyPr lIns="0" rIns="0" tIns="0" bIns="0" anchor="ctr">
            <a:noAutofit/>
          </a:bodyPr>
          <a:p>
            <a:pPr algn="ctr"/>
            <a:endParaRPr b="0" lang="en-US" sz="3200" spc="-1" strike="noStrike">
              <a:latin typeface="Arial"/>
            </a:endParaRP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53"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54" name="PlaceHolder 3"/>
          <p:cNvSpPr>
            <a:spLocks noGrp="1"/>
          </p:cNvSpPr>
          <p:nvPr>
            <p:ph type="body"/>
          </p:nvPr>
        </p:nvSpPr>
        <p:spPr>
          <a:xfrm>
            <a:off x="6231960" y="1604520"/>
            <a:ext cx="5354280" cy="3977280"/>
          </a:xfrm>
          <a:prstGeom prst="rect">
            <a:avLst/>
          </a:prstGeom>
        </p:spPr>
        <p:txBody>
          <a:bodyPr lIns="0" rIns="0" tIns="0" bIns="0">
            <a:normAutofit/>
          </a:bodyPr>
          <a:p>
            <a:endParaRPr b="0" lang="en-US" sz="3200" spc="-1" strike="noStrike">
              <a:solidFill>
                <a:srgbClr val="000000"/>
              </a:solidFill>
              <a:latin typeface="Arial"/>
            </a:endParaRPr>
          </a:p>
        </p:txBody>
      </p:sp>
      <p:sp>
        <p:nvSpPr>
          <p:cNvPr id="55"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6"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57" name="PlaceHolder 2"/>
          <p:cNvSpPr>
            <a:spLocks noGrp="1"/>
          </p:cNvSpPr>
          <p:nvPr>
            <p:ph type="body"/>
          </p:nvPr>
        </p:nvSpPr>
        <p:spPr>
          <a:xfrm>
            <a:off x="609480" y="1604520"/>
            <a:ext cx="5354280" cy="3977280"/>
          </a:xfrm>
          <a:prstGeom prst="rect">
            <a:avLst/>
          </a:prstGeom>
        </p:spPr>
        <p:txBody>
          <a:bodyPr lIns="0" rIns="0" tIns="0" bIns="0">
            <a:normAutofit/>
          </a:bodyPr>
          <a:p>
            <a:endParaRPr b="0" lang="en-US" sz="3200" spc="-1" strike="noStrike">
              <a:solidFill>
                <a:srgbClr val="000000"/>
              </a:solidFill>
              <a:latin typeface="Arial"/>
            </a:endParaRPr>
          </a:p>
        </p:txBody>
      </p:sp>
      <p:sp>
        <p:nvSpPr>
          <p:cNvPr id="58"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59" name="PlaceHolder 4"/>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0"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61"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62"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63" name="PlaceHolder 4"/>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4"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65" name="PlaceHolder 2"/>
          <p:cNvSpPr>
            <a:spLocks noGrp="1"/>
          </p:cNvSpPr>
          <p:nvPr>
            <p:ph type="body"/>
          </p:nvPr>
        </p:nvSpPr>
        <p:spPr>
          <a:xfrm>
            <a:off x="609480" y="1604520"/>
            <a:ext cx="109724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66" name="PlaceHolder 3"/>
          <p:cNvSpPr>
            <a:spLocks noGrp="1"/>
          </p:cNvSpPr>
          <p:nvPr>
            <p:ph type="body"/>
          </p:nvPr>
        </p:nvSpPr>
        <p:spPr>
          <a:xfrm>
            <a:off x="609480" y="3682080"/>
            <a:ext cx="1097244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68" name="PlaceHolder 2"/>
          <p:cNvSpPr>
            <a:spLocks noGrp="1"/>
          </p:cNvSpPr>
          <p:nvPr>
            <p:ph type="body"/>
          </p:nvPr>
        </p:nvSpPr>
        <p:spPr>
          <a:xfrm>
            <a:off x="60948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69" name="PlaceHolder 3"/>
          <p:cNvSpPr>
            <a:spLocks noGrp="1"/>
          </p:cNvSpPr>
          <p:nvPr>
            <p:ph type="body"/>
          </p:nvPr>
        </p:nvSpPr>
        <p:spPr>
          <a:xfrm>
            <a:off x="6231960" y="160452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70" name="PlaceHolder 4"/>
          <p:cNvSpPr>
            <a:spLocks noGrp="1"/>
          </p:cNvSpPr>
          <p:nvPr>
            <p:ph type="body"/>
          </p:nvPr>
        </p:nvSpPr>
        <p:spPr>
          <a:xfrm>
            <a:off x="609480" y="368208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71" name="PlaceHolder 5"/>
          <p:cNvSpPr>
            <a:spLocks noGrp="1"/>
          </p:cNvSpPr>
          <p:nvPr>
            <p:ph type="body"/>
          </p:nvPr>
        </p:nvSpPr>
        <p:spPr>
          <a:xfrm>
            <a:off x="6231960" y="3682080"/>
            <a:ext cx="535428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2" name="PlaceHolder 1"/>
          <p:cNvSpPr>
            <a:spLocks noGrp="1"/>
          </p:cNvSpPr>
          <p:nvPr>
            <p:ph type="title"/>
          </p:nvPr>
        </p:nvSpPr>
        <p:spPr>
          <a:xfrm>
            <a:off x="609480" y="273600"/>
            <a:ext cx="10972440" cy="1144800"/>
          </a:xfrm>
          <a:prstGeom prst="rect">
            <a:avLst/>
          </a:prstGeom>
        </p:spPr>
        <p:txBody>
          <a:bodyPr lIns="0" rIns="0" tIns="0" bIns="0" anchor="ctr">
            <a:noAutofit/>
          </a:bodyPr>
          <a:p>
            <a:endParaRPr b="0" lang="en-US" sz="1800" spc="-1" strike="noStrike">
              <a:solidFill>
                <a:srgbClr val="000000"/>
              </a:solidFill>
              <a:latin typeface="Arial"/>
            </a:endParaRPr>
          </a:p>
        </p:txBody>
      </p:sp>
      <p:sp>
        <p:nvSpPr>
          <p:cNvPr id="73" name="PlaceHolder 2"/>
          <p:cNvSpPr>
            <a:spLocks noGrp="1"/>
          </p:cNvSpPr>
          <p:nvPr>
            <p:ph type="body"/>
          </p:nvPr>
        </p:nvSpPr>
        <p:spPr>
          <a:xfrm>
            <a:off x="609480" y="160452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74" name="PlaceHolder 3"/>
          <p:cNvSpPr>
            <a:spLocks noGrp="1"/>
          </p:cNvSpPr>
          <p:nvPr>
            <p:ph type="body"/>
          </p:nvPr>
        </p:nvSpPr>
        <p:spPr>
          <a:xfrm>
            <a:off x="4319640" y="160452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75" name="PlaceHolder 4"/>
          <p:cNvSpPr>
            <a:spLocks noGrp="1"/>
          </p:cNvSpPr>
          <p:nvPr>
            <p:ph type="body"/>
          </p:nvPr>
        </p:nvSpPr>
        <p:spPr>
          <a:xfrm>
            <a:off x="8029800" y="160452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76" name="PlaceHolder 5"/>
          <p:cNvSpPr>
            <a:spLocks noGrp="1"/>
          </p:cNvSpPr>
          <p:nvPr>
            <p:ph type="body"/>
          </p:nvPr>
        </p:nvSpPr>
        <p:spPr>
          <a:xfrm>
            <a:off x="609480" y="368208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77" name="PlaceHolder 6"/>
          <p:cNvSpPr>
            <a:spLocks noGrp="1"/>
          </p:cNvSpPr>
          <p:nvPr>
            <p:ph type="body"/>
          </p:nvPr>
        </p:nvSpPr>
        <p:spPr>
          <a:xfrm>
            <a:off x="4319640" y="368208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
        <p:nvSpPr>
          <p:cNvPr id="78" name="PlaceHolder 7"/>
          <p:cNvSpPr>
            <a:spLocks noGrp="1"/>
          </p:cNvSpPr>
          <p:nvPr>
            <p:ph type="body"/>
          </p:nvPr>
        </p:nvSpPr>
        <p:spPr>
          <a:xfrm>
            <a:off x="8029800" y="3682080"/>
            <a:ext cx="3533040" cy="1896840"/>
          </a:xfrm>
          <a:prstGeom prst="rect">
            <a:avLst/>
          </a:prstGeom>
        </p:spPr>
        <p:txBody>
          <a:bodyPr lIns="0" rIns="0" tIns="0" bIns="0">
            <a:normAutofit/>
          </a:bodyPr>
          <a:p>
            <a:endParaRPr b="0" lang="en-US" sz="3200" spc="-1" strike="noStrike">
              <a:solidFill>
                <a:srgbClr val="000000"/>
              </a:solidFill>
              <a:latin typeface="Arial"/>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1" name="PlaceHolder 2"/>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7f9fc"/>
        </a:solidFill>
      </p:bgPr>
    </p:bg>
    <p:spTree>
      <p:nvGrpSpPr>
        <p:cNvPr id="1" name=""/>
        <p:cNvGrpSpPr/>
        <p:nvPr/>
      </p:nvGrpSpPr>
      <p:grpSpPr>
        <a:xfrm>
          <a:off x="0" y="0"/>
          <a:ext cx="0" cy="0"/>
          <a:chOff x="0" y="0"/>
          <a:chExt cx="0" cy="0"/>
        </a:xfrm>
      </p:grpSpPr>
      <p:sp>
        <p:nvSpPr>
          <p:cNvPr id="38" name="CustomShape 1"/>
          <p:cNvSpPr/>
          <p:nvPr/>
        </p:nvSpPr>
        <p:spPr>
          <a:xfrm>
            <a:off x="0" y="0"/>
            <a:ext cx="12191400" cy="91080"/>
          </a:xfrm>
          <a:prstGeom prst="rect">
            <a:avLst/>
          </a:prstGeom>
          <a:solidFill>
            <a:srgbClr val="2563eb"/>
          </a:solidFill>
          <a:ln w="12600">
            <a:solidFill>
              <a:srgbClr val="2563eb"/>
            </a:solidFill>
            <a:round/>
          </a:ln>
        </p:spPr>
        <p:style>
          <a:lnRef idx="0"/>
          <a:fillRef idx="0"/>
          <a:effectRef idx="0"/>
          <a:fontRef idx="minor"/>
        </p:style>
      </p:sp>
      <p:sp>
        <p:nvSpPr>
          <p:cNvPr id="39" name="CustomShape 2"/>
          <p:cNvSpPr/>
          <p:nvPr/>
        </p:nvSpPr>
        <p:spPr>
          <a:xfrm>
            <a:off x="502920" y="6546960"/>
            <a:ext cx="4205880" cy="1641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800" spc="-1" strike="noStrike">
                <a:solidFill>
                  <a:srgbClr val="64748b"/>
                </a:solidFill>
                <a:latin typeface="Arial"/>
                <a:ea typeface="Arial"/>
              </a:rPr>
              <a:t>MARKETING ANALYTICS ASSIGNMENT</a:t>
            </a:r>
            <a:endParaRPr b="0" lang="en-US" sz="800" spc="-1" strike="noStrike">
              <a:latin typeface="Arial"/>
            </a:endParaRPr>
          </a:p>
        </p:txBody>
      </p:sp>
      <p:sp>
        <p:nvSpPr>
          <p:cNvPr id="40" name="PlaceHolder 3"/>
          <p:cNvSpPr>
            <a:spLocks noGrp="1"/>
          </p:cNvSpPr>
          <p:nvPr>
            <p:ph type="sldNum"/>
          </p:nvPr>
        </p:nvSpPr>
        <p:spPr>
          <a:xfrm>
            <a:off x="11228760" y="6519600"/>
            <a:ext cx="411120" cy="200880"/>
          </a:xfrm>
          <a:prstGeom prst="rect">
            <a:avLst/>
          </a:prstGeom>
        </p:spPr>
        <p:txBody>
          <a:bodyPr lIns="0" rIns="0" tIns="0" bIns="0">
            <a:noAutofit/>
          </a:bodyPr>
          <a:p>
            <a:pPr algn="r">
              <a:lnSpc>
                <a:spcPct val="100000"/>
              </a:lnSpc>
            </a:pPr>
            <a:fld id="{C87B1D72-5C75-417C-AD3F-03D069805668}" type="slidenum">
              <a:rPr b="0" lang="en-US" sz="900" spc="-1" strike="noStrike">
                <a:solidFill>
                  <a:srgbClr val="64748b"/>
                </a:solidFill>
                <a:latin typeface="Arial"/>
                <a:ea typeface="Arial"/>
              </a:rPr>
              <a:t>&lt;number&gt;</a:t>
            </a:fld>
            <a:endParaRPr b="0" lang="en-US" sz="900" spc="-1" strike="noStrike">
              <a:latin typeface="Times New Roman"/>
            </a:endParaRPr>
          </a:p>
        </p:txBody>
      </p:sp>
      <p:sp>
        <p:nvSpPr>
          <p:cNvPr id="41" name="PlaceHolder 4"/>
          <p:cNvSpPr>
            <a:spLocks noGrp="1"/>
          </p:cNvSpPr>
          <p:nvPr>
            <p:ph type="title"/>
          </p:nvPr>
        </p:nvSpPr>
        <p:spPr>
          <a:xfrm>
            <a:off x="609480" y="273600"/>
            <a:ext cx="10972440" cy="1144800"/>
          </a:xfrm>
          <a:prstGeom prst="rect">
            <a:avLst/>
          </a:prstGeom>
        </p:spPr>
        <p:txBody>
          <a:bodyPr lIns="0" rIns="0" tIns="0" bIns="0" anchor="ctr">
            <a:noAutofit/>
          </a:bodyPr>
          <a:p>
            <a:r>
              <a:rPr b="0" lang="en-US" sz="1800" spc="-1" strike="noStrike">
                <a:solidFill>
                  <a:srgbClr val="000000"/>
                </a:solidFill>
                <a:latin typeface="Arial"/>
              </a:rPr>
              <a:t>Click to edit the title text format</a:t>
            </a:r>
            <a:endParaRPr b="0" lang="en-US" sz="1800" spc="-1" strike="noStrike">
              <a:solidFill>
                <a:srgbClr val="000000"/>
              </a:solidFill>
              <a:latin typeface="Arial"/>
            </a:endParaRPr>
          </a:p>
        </p:txBody>
      </p:sp>
      <p:sp>
        <p:nvSpPr>
          <p:cNvPr id="42" name="PlaceHolder 5"/>
          <p:cNvSpPr>
            <a:spLocks noGrp="1"/>
          </p:cNvSpPr>
          <p:nvPr>
            <p:ph type="body"/>
          </p:nvPr>
        </p:nvSpPr>
        <p:spPr>
          <a:xfrm>
            <a:off x="609480" y="1604520"/>
            <a:ext cx="10972440" cy="3977280"/>
          </a:xfrm>
          <a:prstGeom prst="rect">
            <a:avLst/>
          </a:prstGeom>
        </p:spPr>
        <p:txBody>
          <a:bodyPr lIns="0" rIns="0" tIns="0" bIns="0">
            <a:normAutofit/>
          </a:bodyPr>
          <a:p>
            <a:pPr marL="432000" indent="-324000">
              <a:spcBef>
                <a:spcPts val="1417"/>
              </a:spcBef>
              <a:buClr>
                <a:srgbClr val="000000"/>
              </a:buClr>
              <a:buSzPct val="45000"/>
              <a:buFont typeface="Wingdings" charset="2"/>
              <a:buChar char=""/>
            </a:pPr>
            <a:r>
              <a:rPr b="0" lang="en-US" sz="3200" spc="-1" strike="noStrike">
                <a:solidFill>
                  <a:srgbClr val="000000"/>
                </a:solidFill>
                <a:latin typeface="Arial"/>
              </a:rPr>
              <a:t>Click to edit the outline text format</a:t>
            </a:r>
            <a:endParaRPr b="0" lang="en-US" sz="32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US" sz="2400" spc="-1" strike="noStrike">
                <a:solidFill>
                  <a:srgbClr val="000000"/>
                </a:solidFill>
                <a:latin typeface="Arial"/>
              </a:rPr>
              <a:t>Second Outline Level</a:t>
            </a:r>
            <a:endParaRPr b="0" lang="en-US" sz="2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US" sz="2000" spc="-1" strike="noStrike">
                <a:solidFill>
                  <a:srgbClr val="000000"/>
                </a:solidFill>
                <a:latin typeface="Arial"/>
              </a:rPr>
              <a:t>Third Outline Level</a:t>
            </a:r>
            <a:endParaRPr b="0" lang="en-US" sz="20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US" sz="2000" spc="-1" strike="noStrike">
                <a:solidFill>
                  <a:srgbClr val="000000"/>
                </a:solidFill>
                <a:latin typeface="Arial"/>
              </a:rPr>
              <a:t>Fourth Outline Level</a:t>
            </a:r>
            <a:endParaRPr b="0" lang="en-US" sz="20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US" sz="2000" spc="-1" strike="noStrike">
                <a:solidFill>
                  <a:srgbClr val="000000"/>
                </a:solidFill>
                <a:latin typeface="Arial"/>
              </a:rPr>
              <a:t>Fifth Outline Level</a:t>
            </a:r>
            <a:endParaRPr b="0" lang="en-US"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US" sz="2000" spc="-1" strike="noStrike">
                <a:solidFill>
                  <a:srgbClr val="000000"/>
                </a:solidFill>
                <a:latin typeface="Arial"/>
              </a:rPr>
              <a:t>Sixth Outline Level</a:t>
            </a:r>
            <a:endParaRPr b="0" lang="en-US"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US" sz="2000" spc="-1" strike="noStrike">
                <a:solidFill>
                  <a:srgbClr val="000000"/>
                </a:solidFill>
                <a:latin typeface="Arial"/>
              </a:rPr>
              <a:t>Seventh Outline Level</a:t>
            </a:r>
            <a:endParaRPr b="0" lang="en-US"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13.xml"/><Relationship Id="rId3"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image" Target="../media/image2.png"/><Relationship Id="rId2" Type="http://schemas.openxmlformats.org/officeDocument/2006/relationships/slideLayout" Target="../slideLayouts/slideLayout13.xml"/><Relationship Id="rId3"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image" Target="../media/image3.png"/><Relationship Id="rId2" Type="http://schemas.openxmlformats.org/officeDocument/2006/relationships/slideLayout" Target="../slideLayouts/slideLayout13.xml"/><Relationship Id="rId3"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image" Target="../media/image4.png"/><Relationship Id="rId2" Type="http://schemas.openxmlformats.org/officeDocument/2006/relationships/slideLayout" Target="../slideLayouts/slideLayout13.xml"/><Relationship Id="rId3"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image" Target="../media/image5.png"/><Relationship Id="rId2" Type="http://schemas.openxmlformats.org/officeDocument/2006/relationships/slideLayout" Target="../slideLayouts/slideLayout13.xml"/><Relationship Id="rId3"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image" Target="../media/image6.png"/><Relationship Id="rId2" Type="http://schemas.openxmlformats.org/officeDocument/2006/relationships/slideLayout" Target="../slideLayouts/slideLayout13.xml"/><Relationship Id="rId3"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image" Target="../media/image7.png"/><Relationship Id="rId2" Type="http://schemas.openxmlformats.org/officeDocument/2006/relationships/slideLayout" Target="../slideLayouts/slideLayout13.xml"/><Relationship Id="rId3"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image" Target="../media/image8.png"/><Relationship Id="rId2" Type="http://schemas.openxmlformats.org/officeDocument/2006/relationships/image" Target="../media/image9.png"/><Relationship Id="rId3" Type="http://schemas.openxmlformats.org/officeDocument/2006/relationships/slideLayout" Target="../slideLayouts/slideLayout13.xml"/><Relationship Id="rId4" Type="http://schemas.openxmlformats.org/officeDocument/2006/relationships/notesSlide" Target="../notesSlides/notesSlide13.xml"/>
</Relationships>
</file>

<file path=ppt/slides/_rels/slide14.xml.rels><?xml version="1.0" encoding="UTF-8"?>
<Relationships xmlns="http://schemas.openxmlformats.org/package/2006/relationships"><Relationship Id="rId1" Type="http://schemas.openxmlformats.org/officeDocument/2006/relationships/image" Target="../media/image10.png"/><Relationship Id="rId2" Type="http://schemas.openxmlformats.org/officeDocument/2006/relationships/slideLayout" Target="../slideLayouts/slideLayout13.xml"/><Relationship Id="rId3" Type="http://schemas.openxmlformats.org/officeDocument/2006/relationships/notesSlide" Target="../notesSlides/notesSlide14.xml"/>
</Relationships>
</file>

<file path=ppt/slides/_rels/slide15.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5.xml"/>
</Relationships>
</file>

<file path=ppt/slides/_rels/slide16.xml.rels><?xml version="1.0" encoding="UTF-8"?>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16.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b1f33"/>
        </a:solidFill>
      </p:bgPr>
    </p:bg>
    <p:spTree>
      <p:nvGrpSpPr>
        <p:cNvPr id="1" name=""/>
        <p:cNvGrpSpPr/>
        <p:nvPr/>
      </p:nvGrpSpPr>
      <p:grpSpPr>
        <a:xfrm>
          <a:off x="0" y="0"/>
          <a:ext cx="0" cy="0"/>
          <a:chOff x="0" y="0"/>
          <a:chExt cx="0" cy="0"/>
        </a:xfrm>
      </p:grpSpPr>
      <p:sp>
        <p:nvSpPr>
          <p:cNvPr id="85" name="CustomShape 1"/>
          <p:cNvSpPr/>
          <p:nvPr/>
        </p:nvSpPr>
        <p:spPr>
          <a:xfrm>
            <a:off x="8549640" y="18360"/>
            <a:ext cx="3611520" cy="3611520"/>
          </a:xfrm>
          <a:prstGeom prst="ellipse">
            <a:avLst/>
          </a:prstGeom>
          <a:solidFill>
            <a:srgbClr val="173a5e">
              <a:alpha val="92000"/>
            </a:srgbClr>
          </a:solidFill>
          <a:ln w="12600">
            <a:solidFill>
              <a:srgbClr val="173a5e">
                <a:alpha val="0"/>
              </a:srgbClr>
            </a:solidFill>
            <a:round/>
          </a:ln>
        </p:spPr>
        <p:style>
          <a:lnRef idx="0"/>
          <a:fillRef idx="0"/>
          <a:effectRef idx="0"/>
          <a:fontRef idx="minor"/>
        </p:style>
      </p:sp>
      <p:sp>
        <p:nvSpPr>
          <p:cNvPr id="86" name="CustomShape 2"/>
          <p:cNvSpPr/>
          <p:nvPr/>
        </p:nvSpPr>
        <p:spPr>
          <a:xfrm>
            <a:off x="9646920" y="2194560"/>
            <a:ext cx="2486880" cy="2486880"/>
          </a:xfrm>
          <a:prstGeom prst="ellipse">
            <a:avLst/>
          </a:prstGeom>
          <a:solidFill>
            <a:srgbClr val="2563eb">
              <a:alpha val="78000"/>
            </a:srgbClr>
          </a:solidFill>
          <a:ln w="12600">
            <a:solidFill>
              <a:srgbClr val="2563eb">
                <a:alpha val="0"/>
              </a:srgbClr>
            </a:solidFill>
            <a:round/>
          </a:ln>
        </p:spPr>
        <p:style>
          <a:lnRef idx="0"/>
          <a:fillRef idx="0"/>
          <a:effectRef idx="0"/>
          <a:fontRef idx="minor"/>
        </p:style>
      </p:sp>
      <p:sp>
        <p:nvSpPr>
          <p:cNvPr id="87" name="CustomShape 3"/>
          <p:cNvSpPr/>
          <p:nvPr/>
        </p:nvSpPr>
        <p:spPr>
          <a:xfrm>
            <a:off x="7406640" y="4096440"/>
            <a:ext cx="1992960" cy="1992960"/>
          </a:xfrm>
          <a:prstGeom prst="ellipse">
            <a:avLst/>
          </a:prstGeom>
          <a:solidFill>
            <a:srgbClr val="0ea5a4">
              <a:alpha val="80000"/>
            </a:srgbClr>
          </a:solidFill>
          <a:ln w="12600">
            <a:solidFill>
              <a:srgbClr val="0ea5a4">
                <a:alpha val="0"/>
              </a:srgbClr>
            </a:solidFill>
            <a:round/>
          </a:ln>
        </p:spPr>
        <p:style>
          <a:lnRef idx="0"/>
          <a:fillRef idx="0"/>
          <a:effectRef idx="0"/>
          <a:fontRef idx="minor"/>
        </p:style>
      </p:sp>
      <p:sp>
        <p:nvSpPr>
          <p:cNvPr id="88" name="CustomShape 4"/>
          <p:cNvSpPr/>
          <p:nvPr/>
        </p:nvSpPr>
        <p:spPr>
          <a:xfrm>
            <a:off x="685800" y="658440"/>
            <a:ext cx="6217560" cy="310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300" spc="180" strike="noStrike">
                <a:solidFill>
                  <a:srgbClr val="8bb8ff"/>
                </a:solidFill>
                <a:latin typeface="Arial"/>
              </a:rPr>
              <a:t>MARKETING MIX MODELING</a:t>
            </a:r>
            <a:endParaRPr b="0" lang="en-US" sz="1300" spc="-1" strike="noStrike">
              <a:latin typeface="Arial"/>
            </a:endParaRPr>
          </a:p>
        </p:txBody>
      </p:sp>
      <p:sp>
        <p:nvSpPr>
          <p:cNvPr id="89" name="CustomShape 5"/>
          <p:cNvSpPr/>
          <p:nvPr/>
        </p:nvSpPr>
        <p:spPr>
          <a:xfrm>
            <a:off x="658440" y="1234440"/>
            <a:ext cx="6766200" cy="15084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3400" spc="-1" strike="noStrike">
                <a:solidFill>
                  <a:srgbClr val="ffffff"/>
                </a:solidFill>
                <a:latin typeface="Arial"/>
              </a:rPr>
              <a:t>Meridian MMM +</a:t>
            </a:r>
            <a:endParaRPr b="0" lang="en-US" sz="3400" spc="-1" strike="noStrike">
              <a:latin typeface="Arial"/>
            </a:endParaRPr>
          </a:p>
          <a:p>
            <a:pPr>
              <a:lnSpc>
                <a:spcPct val="100000"/>
              </a:lnSpc>
              <a:tabLst>
                <a:tab algn="l" pos="0"/>
              </a:tabLst>
            </a:pPr>
            <a:r>
              <a:rPr b="1" lang="en-US" sz="3400" spc="-1" strike="noStrike">
                <a:solidFill>
                  <a:srgbClr val="ffffff"/>
                </a:solidFill>
                <a:latin typeface="Arial"/>
              </a:rPr>
              <a:t>SHAP Explainability</a:t>
            </a:r>
            <a:endParaRPr b="0" lang="en-US" sz="3400" spc="-1" strike="noStrike">
              <a:latin typeface="Arial"/>
            </a:endParaRPr>
          </a:p>
        </p:txBody>
      </p:sp>
      <p:sp>
        <p:nvSpPr>
          <p:cNvPr id="90" name="CustomShape 6"/>
          <p:cNvSpPr/>
          <p:nvPr/>
        </p:nvSpPr>
        <p:spPr>
          <a:xfrm>
            <a:off x="694800" y="3063240"/>
            <a:ext cx="6674760" cy="6854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500" spc="-1" strike="noStrike">
                <a:solidFill>
                  <a:srgbClr val="d8e5f2"/>
                </a:solidFill>
                <a:latin typeface="Arial"/>
              </a:rPr>
              <a:t>A Bayesian analysis of channel contribution, saturation, ROI and future investment scenarios</a:t>
            </a:r>
            <a:endParaRPr b="0" lang="en-US" sz="1500" spc="-1" strike="noStrike">
              <a:latin typeface="Arial"/>
            </a:endParaRPr>
          </a:p>
        </p:txBody>
      </p:sp>
      <p:sp>
        <p:nvSpPr>
          <p:cNvPr id="91" name="Line 7"/>
          <p:cNvSpPr/>
          <p:nvPr/>
        </p:nvSpPr>
        <p:spPr>
          <a:xfrm>
            <a:off x="694800" y="4132800"/>
            <a:ext cx="1828800" cy="0"/>
          </a:xfrm>
          <a:prstGeom prst="line">
            <a:avLst/>
          </a:prstGeom>
          <a:ln w="38160">
            <a:solidFill>
              <a:srgbClr val="0ea5a4"/>
            </a:solidFill>
            <a:round/>
          </a:ln>
        </p:spPr>
        <p:style>
          <a:lnRef idx="0"/>
          <a:fillRef idx="0"/>
          <a:effectRef idx="0"/>
          <a:fontRef idx="minor"/>
        </p:style>
      </p:sp>
      <p:sp>
        <p:nvSpPr>
          <p:cNvPr id="92" name="CustomShape 8"/>
          <p:cNvSpPr/>
          <p:nvPr/>
        </p:nvSpPr>
        <p:spPr>
          <a:xfrm>
            <a:off x="694800" y="4325040"/>
            <a:ext cx="4297320" cy="310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300" spc="-1" strike="noStrike">
                <a:solidFill>
                  <a:srgbClr val="ffffff"/>
                </a:solidFill>
                <a:latin typeface="Arial"/>
              </a:rPr>
              <a:t>Marketing Analytics Assignment</a:t>
            </a:r>
            <a:endParaRPr b="0" lang="en-US" sz="1300" spc="-1" strike="noStrike">
              <a:latin typeface="Arial"/>
            </a:endParaRPr>
          </a:p>
        </p:txBody>
      </p:sp>
      <p:sp>
        <p:nvSpPr>
          <p:cNvPr id="93" name="CustomShape 9"/>
          <p:cNvSpPr/>
          <p:nvPr/>
        </p:nvSpPr>
        <p:spPr>
          <a:xfrm>
            <a:off x="694800" y="4773240"/>
            <a:ext cx="384012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150" spc="-1" strike="noStrike">
                <a:solidFill>
                  <a:srgbClr val="b7c7d8"/>
                </a:solidFill>
                <a:latin typeface="Arial"/>
              </a:rPr>
              <a:t>Prepared by Duaa Zahur</a:t>
            </a:r>
            <a:endParaRPr b="0" lang="en-US" sz="1150" spc="-1" strike="noStrike">
              <a:latin typeface="Arial"/>
            </a:endParaRPr>
          </a:p>
        </p:txBody>
      </p:sp>
      <p:sp>
        <p:nvSpPr>
          <p:cNvPr id="94" name="CustomShape 10"/>
          <p:cNvSpPr/>
          <p:nvPr/>
        </p:nvSpPr>
        <p:spPr>
          <a:xfrm>
            <a:off x="713160" y="5897880"/>
            <a:ext cx="127800" cy="127800"/>
          </a:xfrm>
          <a:prstGeom prst="ellipse">
            <a:avLst/>
          </a:prstGeom>
          <a:solidFill>
            <a:srgbClr val="2563eb"/>
          </a:solidFill>
          <a:ln w="12600">
            <a:solidFill>
              <a:srgbClr val="2563eb"/>
            </a:solidFill>
            <a:round/>
          </a:ln>
        </p:spPr>
        <p:style>
          <a:lnRef idx="0"/>
          <a:fillRef idx="0"/>
          <a:effectRef idx="0"/>
          <a:fontRef idx="minor"/>
        </p:style>
      </p:sp>
      <p:sp>
        <p:nvSpPr>
          <p:cNvPr id="95" name="CustomShape 11"/>
          <p:cNvSpPr/>
          <p:nvPr/>
        </p:nvSpPr>
        <p:spPr>
          <a:xfrm>
            <a:off x="896040" y="5833800"/>
            <a:ext cx="840960" cy="228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750" spc="-1" strike="noStrike">
                <a:solidFill>
                  <a:srgbClr val="b7c7d8"/>
                </a:solidFill>
                <a:latin typeface="Arial"/>
              </a:rPr>
              <a:t>Paid Search</a:t>
            </a:r>
            <a:endParaRPr b="0" lang="en-US" sz="750" spc="-1" strike="noStrike">
              <a:latin typeface="Arial"/>
            </a:endParaRPr>
          </a:p>
        </p:txBody>
      </p:sp>
      <p:sp>
        <p:nvSpPr>
          <p:cNvPr id="96" name="CustomShape 12"/>
          <p:cNvSpPr/>
          <p:nvPr/>
        </p:nvSpPr>
        <p:spPr>
          <a:xfrm>
            <a:off x="1792080" y="5897880"/>
            <a:ext cx="127800" cy="127800"/>
          </a:xfrm>
          <a:prstGeom prst="ellipse">
            <a:avLst/>
          </a:prstGeom>
          <a:solidFill>
            <a:srgbClr val="7c3aed"/>
          </a:solidFill>
          <a:ln w="12600">
            <a:solidFill>
              <a:srgbClr val="7c3aed"/>
            </a:solidFill>
            <a:round/>
          </a:ln>
        </p:spPr>
        <p:style>
          <a:lnRef idx="0"/>
          <a:fillRef idx="0"/>
          <a:effectRef idx="0"/>
          <a:fontRef idx="minor"/>
        </p:style>
      </p:sp>
      <p:sp>
        <p:nvSpPr>
          <p:cNvPr id="97" name="CustomShape 13"/>
          <p:cNvSpPr/>
          <p:nvPr/>
        </p:nvSpPr>
        <p:spPr>
          <a:xfrm>
            <a:off x="1974960" y="5833800"/>
            <a:ext cx="840960" cy="228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750" spc="-1" strike="noStrike">
                <a:solidFill>
                  <a:srgbClr val="b7c7d8"/>
                </a:solidFill>
                <a:latin typeface="Arial"/>
              </a:rPr>
              <a:t>Shopping</a:t>
            </a:r>
            <a:endParaRPr b="0" lang="en-US" sz="750" spc="-1" strike="noStrike">
              <a:latin typeface="Arial"/>
            </a:endParaRPr>
          </a:p>
        </p:txBody>
      </p:sp>
      <p:sp>
        <p:nvSpPr>
          <p:cNvPr id="98" name="CustomShape 14"/>
          <p:cNvSpPr/>
          <p:nvPr/>
        </p:nvSpPr>
        <p:spPr>
          <a:xfrm>
            <a:off x="2871360" y="5897880"/>
            <a:ext cx="127800" cy="127800"/>
          </a:xfrm>
          <a:prstGeom prst="ellipse">
            <a:avLst/>
          </a:prstGeom>
          <a:solidFill>
            <a:srgbClr val="f59e0b"/>
          </a:solidFill>
          <a:ln w="12600">
            <a:solidFill>
              <a:srgbClr val="f59e0b"/>
            </a:solidFill>
            <a:round/>
          </a:ln>
        </p:spPr>
        <p:style>
          <a:lnRef idx="0"/>
          <a:fillRef idx="0"/>
          <a:effectRef idx="0"/>
          <a:fontRef idx="minor"/>
        </p:style>
      </p:sp>
      <p:sp>
        <p:nvSpPr>
          <p:cNvPr id="99" name="CustomShape 15"/>
          <p:cNvSpPr/>
          <p:nvPr/>
        </p:nvSpPr>
        <p:spPr>
          <a:xfrm>
            <a:off x="3054240" y="5833800"/>
            <a:ext cx="840960" cy="228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750" spc="-1" strike="noStrike">
                <a:solidFill>
                  <a:srgbClr val="b7c7d8"/>
                </a:solidFill>
                <a:latin typeface="Arial"/>
              </a:rPr>
              <a:t>PMAX</a:t>
            </a:r>
            <a:endParaRPr b="0" lang="en-US" sz="750" spc="-1" strike="noStrike">
              <a:latin typeface="Arial"/>
            </a:endParaRPr>
          </a:p>
        </p:txBody>
      </p:sp>
      <p:sp>
        <p:nvSpPr>
          <p:cNvPr id="100" name="CustomShape 16"/>
          <p:cNvSpPr/>
          <p:nvPr/>
        </p:nvSpPr>
        <p:spPr>
          <a:xfrm>
            <a:off x="3950280" y="5897880"/>
            <a:ext cx="127800" cy="127800"/>
          </a:xfrm>
          <a:prstGeom prst="ellipse">
            <a:avLst/>
          </a:prstGeom>
          <a:solidFill>
            <a:srgbClr val="ef4444"/>
          </a:solidFill>
          <a:ln w="12600">
            <a:solidFill>
              <a:srgbClr val="ef4444"/>
            </a:solidFill>
            <a:round/>
          </a:ln>
        </p:spPr>
        <p:style>
          <a:lnRef idx="0"/>
          <a:fillRef idx="0"/>
          <a:effectRef idx="0"/>
          <a:fontRef idx="minor"/>
        </p:style>
      </p:sp>
      <p:sp>
        <p:nvSpPr>
          <p:cNvPr id="101" name="CustomShape 17"/>
          <p:cNvSpPr/>
          <p:nvPr/>
        </p:nvSpPr>
        <p:spPr>
          <a:xfrm>
            <a:off x="4133160" y="5833800"/>
            <a:ext cx="840960" cy="228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750" spc="-1" strike="noStrike">
                <a:solidFill>
                  <a:srgbClr val="b7c7d8"/>
                </a:solidFill>
                <a:latin typeface="Arial"/>
              </a:rPr>
              <a:t>Video</a:t>
            </a:r>
            <a:endParaRPr b="0" lang="en-US" sz="750" spc="-1" strike="noStrike">
              <a:latin typeface="Arial"/>
            </a:endParaRPr>
          </a:p>
        </p:txBody>
      </p:sp>
      <p:sp>
        <p:nvSpPr>
          <p:cNvPr id="102" name="CustomShape 18"/>
          <p:cNvSpPr/>
          <p:nvPr/>
        </p:nvSpPr>
        <p:spPr>
          <a:xfrm>
            <a:off x="5029200" y="5897880"/>
            <a:ext cx="127800" cy="127800"/>
          </a:xfrm>
          <a:prstGeom prst="ellipse">
            <a:avLst/>
          </a:prstGeom>
          <a:solidFill>
            <a:srgbClr val="2563eb"/>
          </a:solidFill>
          <a:ln w="12600">
            <a:solidFill>
              <a:srgbClr val="2563eb"/>
            </a:solidFill>
            <a:round/>
          </a:ln>
        </p:spPr>
        <p:style>
          <a:lnRef idx="0"/>
          <a:fillRef idx="0"/>
          <a:effectRef idx="0"/>
          <a:fontRef idx="minor"/>
        </p:style>
      </p:sp>
      <p:sp>
        <p:nvSpPr>
          <p:cNvPr id="103" name="CustomShape 19"/>
          <p:cNvSpPr/>
          <p:nvPr/>
        </p:nvSpPr>
        <p:spPr>
          <a:xfrm>
            <a:off x="5212080" y="5833800"/>
            <a:ext cx="840960" cy="228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750" spc="-1" strike="noStrike">
                <a:solidFill>
                  <a:srgbClr val="b7c7d8"/>
                </a:solidFill>
                <a:latin typeface="Arial"/>
              </a:rPr>
              <a:t>Facebook</a:t>
            </a:r>
            <a:endParaRPr b="0" lang="en-US" sz="750" spc="-1" strike="noStrike">
              <a:latin typeface="Arial"/>
            </a:endParaRPr>
          </a:p>
        </p:txBody>
      </p:sp>
      <p:sp>
        <p:nvSpPr>
          <p:cNvPr id="104" name="CustomShape 20"/>
          <p:cNvSpPr/>
          <p:nvPr/>
        </p:nvSpPr>
        <p:spPr>
          <a:xfrm>
            <a:off x="6108120" y="5897880"/>
            <a:ext cx="127800" cy="127800"/>
          </a:xfrm>
          <a:prstGeom prst="ellipse">
            <a:avLst/>
          </a:prstGeom>
          <a:solidFill>
            <a:srgbClr val="ec4899"/>
          </a:solidFill>
          <a:ln w="12600">
            <a:solidFill>
              <a:srgbClr val="ec4899"/>
            </a:solidFill>
            <a:round/>
          </a:ln>
        </p:spPr>
        <p:style>
          <a:lnRef idx="0"/>
          <a:fillRef idx="0"/>
          <a:effectRef idx="0"/>
          <a:fontRef idx="minor"/>
        </p:style>
      </p:sp>
      <p:sp>
        <p:nvSpPr>
          <p:cNvPr id="105" name="CustomShape 21"/>
          <p:cNvSpPr/>
          <p:nvPr/>
        </p:nvSpPr>
        <p:spPr>
          <a:xfrm>
            <a:off x="6291000" y="5833800"/>
            <a:ext cx="840960" cy="228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750" spc="-1" strike="noStrike">
                <a:solidFill>
                  <a:srgbClr val="b7c7d8"/>
                </a:solidFill>
                <a:latin typeface="Arial"/>
              </a:rPr>
              <a:t>Instagram</a:t>
            </a:r>
            <a:endParaRPr b="0" lang="en-US" sz="750" spc="-1" strike="noStrike">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06"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Executive summary</a:t>
            </a:r>
            <a:endParaRPr b="0" lang="en-US" sz="2600" spc="-1" strike="noStrike">
              <a:latin typeface="Arial"/>
            </a:endParaRPr>
          </a:p>
        </p:txBody>
      </p:sp>
      <p:sp>
        <p:nvSpPr>
          <p:cNvPr id="107"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The model points to a focused reallocation strategy, not a blanket budget increase.</a:t>
            </a:r>
            <a:endParaRPr b="0" lang="en-US" sz="1050" spc="-1" strike="noStrike">
              <a:latin typeface="Arial"/>
            </a:endParaRPr>
          </a:p>
        </p:txBody>
      </p:sp>
      <p:sp>
        <p:nvSpPr>
          <p:cNvPr id="108"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109"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KEY OUTCOMES</a:t>
            </a:r>
            <a:endParaRPr b="0" lang="en-US" sz="900" spc="-1" strike="noStrike">
              <a:latin typeface="Arial"/>
            </a:endParaRPr>
          </a:p>
        </p:txBody>
      </p:sp>
      <p:sp>
        <p:nvSpPr>
          <p:cNvPr id="110" name="CustomShape 5"/>
          <p:cNvSpPr/>
          <p:nvPr/>
        </p:nvSpPr>
        <p:spPr>
          <a:xfrm>
            <a:off x="594360" y="1508760"/>
            <a:ext cx="2605680" cy="1298160"/>
          </a:xfrm>
          <a:prstGeom prst="roundRect">
            <a:avLst>
              <a:gd name="adj" fmla="val 5634"/>
            </a:avLst>
          </a:prstGeom>
          <a:solidFill>
            <a:srgbClr val="ffffff"/>
          </a:solidFill>
          <a:ln w="12600">
            <a:solidFill>
              <a:srgbClr val="d9e2ec"/>
            </a:solidFill>
            <a:round/>
          </a:ln>
          <a:effectLst>
            <a:outerShdw algn="bl" blurRad="25400" dir="2700000" dist="12218" kx="0" ky="0" rotWithShape="0" sx="100000" sy="100000">
              <a:srgbClr val="000000">
                <a:alpha val="16000"/>
              </a:srgbClr>
            </a:outerShdw>
          </a:effectLst>
        </p:spPr>
        <p:style>
          <a:lnRef idx="0"/>
          <a:fillRef idx="0"/>
          <a:effectRef idx="0"/>
          <a:fontRef idx="minor"/>
        </p:style>
      </p:sp>
      <p:sp>
        <p:nvSpPr>
          <p:cNvPr id="111" name="CustomShape 6"/>
          <p:cNvSpPr/>
          <p:nvPr/>
        </p:nvSpPr>
        <p:spPr>
          <a:xfrm>
            <a:off x="594360" y="1508760"/>
            <a:ext cx="72720" cy="1298160"/>
          </a:xfrm>
          <a:prstGeom prst="rect">
            <a:avLst/>
          </a:prstGeom>
          <a:solidFill>
            <a:srgbClr val="2563eb"/>
          </a:solidFill>
          <a:ln w="12600">
            <a:solidFill>
              <a:srgbClr val="2563eb"/>
            </a:solidFill>
            <a:round/>
          </a:ln>
        </p:spPr>
        <p:style>
          <a:lnRef idx="0"/>
          <a:fillRef idx="0"/>
          <a:effectRef idx="0"/>
          <a:fontRef idx="minor"/>
        </p:style>
      </p:sp>
      <p:sp>
        <p:nvSpPr>
          <p:cNvPr id="112" name="CustomShape 7"/>
          <p:cNvSpPr/>
          <p:nvPr/>
        </p:nvSpPr>
        <p:spPr>
          <a:xfrm>
            <a:off x="795600" y="1691640"/>
            <a:ext cx="228564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0.710</a:t>
            </a:r>
            <a:endParaRPr b="0" lang="en-US" sz="2500" spc="-1" strike="noStrike">
              <a:latin typeface="Arial"/>
            </a:endParaRPr>
          </a:p>
        </p:txBody>
      </p:sp>
      <p:sp>
        <p:nvSpPr>
          <p:cNvPr id="113" name="CustomShape 8"/>
          <p:cNvSpPr/>
          <p:nvPr/>
        </p:nvSpPr>
        <p:spPr>
          <a:xfrm>
            <a:off x="795600" y="2194560"/>
            <a:ext cx="228564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Holdout R²</a:t>
            </a:r>
            <a:endParaRPr b="0" lang="en-US" sz="1050" spc="-1" strike="noStrike">
              <a:latin typeface="Arial"/>
            </a:endParaRPr>
          </a:p>
        </p:txBody>
      </p:sp>
      <p:sp>
        <p:nvSpPr>
          <p:cNvPr id="114" name="CustomShape 9"/>
          <p:cNvSpPr/>
          <p:nvPr/>
        </p:nvSpPr>
        <p:spPr>
          <a:xfrm>
            <a:off x="795600" y="2487240"/>
            <a:ext cx="228564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Good generalization</a:t>
            </a:r>
            <a:endParaRPr b="0" lang="en-US" sz="820" spc="-1" strike="noStrike">
              <a:latin typeface="Arial"/>
            </a:endParaRPr>
          </a:p>
        </p:txBody>
      </p:sp>
      <p:sp>
        <p:nvSpPr>
          <p:cNvPr id="115" name="CustomShape 10"/>
          <p:cNvSpPr/>
          <p:nvPr/>
        </p:nvSpPr>
        <p:spPr>
          <a:xfrm>
            <a:off x="3401640" y="1508760"/>
            <a:ext cx="2605680" cy="1298160"/>
          </a:xfrm>
          <a:prstGeom prst="roundRect">
            <a:avLst>
              <a:gd name="adj" fmla="val 5634"/>
            </a:avLst>
          </a:prstGeom>
          <a:solidFill>
            <a:srgbClr val="ffffff"/>
          </a:solidFill>
          <a:ln w="12600">
            <a:solidFill>
              <a:srgbClr val="d9e2ec"/>
            </a:solidFill>
            <a:round/>
          </a:ln>
          <a:effectLst>
            <a:outerShdw algn="bl" blurRad="322580000" dir="0" dist="161290080" kx="0" ky="0" rotWithShape="0" sx="100000" sy="100000">
              <a:srgbClr val="000000"/>
            </a:outerShdw>
          </a:effectLst>
        </p:spPr>
        <p:style>
          <a:lnRef idx="0"/>
          <a:fillRef idx="0"/>
          <a:effectRef idx="0"/>
          <a:fontRef idx="minor"/>
        </p:style>
      </p:sp>
      <p:sp>
        <p:nvSpPr>
          <p:cNvPr id="116" name="CustomShape 11"/>
          <p:cNvSpPr/>
          <p:nvPr/>
        </p:nvSpPr>
        <p:spPr>
          <a:xfrm>
            <a:off x="3401640" y="1508760"/>
            <a:ext cx="72720" cy="1298160"/>
          </a:xfrm>
          <a:prstGeom prst="rect">
            <a:avLst/>
          </a:prstGeom>
          <a:solidFill>
            <a:srgbClr val="0ea5a4"/>
          </a:solidFill>
          <a:ln w="12600">
            <a:solidFill>
              <a:srgbClr val="0ea5a4"/>
            </a:solidFill>
            <a:round/>
          </a:ln>
        </p:spPr>
        <p:style>
          <a:lnRef idx="0"/>
          <a:fillRef idx="0"/>
          <a:effectRef idx="0"/>
          <a:fontRef idx="minor"/>
        </p:style>
      </p:sp>
      <p:sp>
        <p:nvSpPr>
          <p:cNvPr id="117" name="CustomShape 12"/>
          <p:cNvSpPr/>
          <p:nvPr/>
        </p:nvSpPr>
        <p:spPr>
          <a:xfrm>
            <a:off x="3602880" y="1691640"/>
            <a:ext cx="228564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5.41</a:t>
            </a:r>
            <a:endParaRPr b="0" lang="en-US" sz="2500" spc="-1" strike="noStrike">
              <a:latin typeface="Arial"/>
            </a:endParaRPr>
          </a:p>
        </p:txBody>
      </p:sp>
      <p:sp>
        <p:nvSpPr>
          <p:cNvPr id="118" name="CustomShape 13"/>
          <p:cNvSpPr/>
          <p:nvPr/>
        </p:nvSpPr>
        <p:spPr>
          <a:xfrm>
            <a:off x="3602880" y="2194560"/>
            <a:ext cx="228564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Paid Search mROI</a:t>
            </a:r>
            <a:endParaRPr b="0" lang="en-US" sz="1050" spc="-1" strike="noStrike">
              <a:latin typeface="Arial"/>
            </a:endParaRPr>
          </a:p>
        </p:txBody>
      </p:sp>
      <p:sp>
        <p:nvSpPr>
          <p:cNvPr id="119" name="CustomShape 14"/>
          <p:cNvSpPr/>
          <p:nvPr/>
        </p:nvSpPr>
        <p:spPr>
          <a:xfrm>
            <a:off x="3602880" y="2487240"/>
            <a:ext cx="228564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Best scale opportunity</a:t>
            </a:r>
            <a:endParaRPr b="0" lang="en-US" sz="820" spc="-1" strike="noStrike">
              <a:latin typeface="Arial"/>
            </a:endParaRPr>
          </a:p>
        </p:txBody>
      </p:sp>
      <p:sp>
        <p:nvSpPr>
          <p:cNvPr id="120" name="CustomShape 15"/>
          <p:cNvSpPr/>
          <p:nvPr/>
        </p:nvSpPr>
        <p:spPr>
          <a:xfrm>
            <a:off x="6208920" y="1508760"/>
            <a:ext cx="2605680" cy="1298160"/>
          </a:xfrm>
          <a:prstGeom prst="roundRect">
            <a:avLst>
              <a:gd name="adj" fmla="val 5634"/>
            </a:avLst>
          </a:prstGeom>
          <a:solidFill>
            <a:srgbClr val="ffffff"/>
          </a:solidFill>
          <a:ln w="12600">
            <a:solidFill>
              <a:srgbClr val="d9e2ec"/>
            </a:solidFill>
            <a:round/>
          </a:ln>
          <a:effectLst>
            <a:outerShdw algn="bl" blurRad="0" dir="0" dist="0" kx="0" ky="0" rotWithShape="0" sx="100000" sy="100000">
              <a:srgbClr val="000000">
                <a:alpha val="0"/>
              </a:srgbClr>
            </a:outerShdw>
          </a:effectLst>
        </p:spPr>
        <p:style>
          <a:lnRef idx="0"/>
          <a:fillRef idx="0"/>
          <a:effectRef idx="0"/>
          <a:fontRef idx="minor"/>
        </p:style>
      </p:sp>
      <p:sp>
        <p:nvSpPr>
          <p:cNvPr id="121" name="CustomShape 16"/>
          <p:cNvSpPr/>
          <p:nvPr/>
        </p:nvSpPr>
        <p:spPr>
          <a:xfrm>
            <a:off x="6208920" y="1508760"/>
            <a:ext cx="72720" cy="1298160"/>
          </a:xfrm>
          <a:prstGeom prst="rect">
            <a:avLst/>
          </a:prstGeom>
          <a:solidFill>
            <a:srgbClr val="ec4899"/>
          </a:solidFill>
          <a:ln w="12600">
            <a:solidFill>
              <a:srgbClr val="ec4899"/>
            </a:solidFill>
            <a:round/>
          </a:ln>
        </p:spPr>
        <p:style>
          <a:lnRef idx="0"/>
          <a:fillRef idx="0"/>
          <a:effectRef idx="0"/>
          <a:fontRef idx="minor"/>
        </p:style>
      </p:sp>
      <p:sp>
        <p:nvSpPr>
          <p:cNvPr id="122" name="CustomShape 17"/>
          <p:cNvSpPr/>
          <p:nvPr/>
        </p:nvSpPr>
        <p:spPr>
          <a:xfrm>
            <a:off x="6409800" y="1691640"/>
            <a:ext cx="228564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63.5%</a:t>
            </a:r>
            <a:endParaRPr b="0" lang="en-US" sz="2500" spc="-1" strike="noStrike">
              <a:latin typeface="Arial"/>
            </a:endParaRPr>
          </a:p>
        </p:txBody>
      </p:sp>
      <p:sp>
        <p:nvSpPr>
          <p:cNvPr id="123" name="CustomShape 18"/>
          <p:cNvSpPr/>
          <p:nvPr/>
        </p:nvSpPr>
        <p:spPr>
          <a:xfrm>
            <a:off x="6409800" y="2194560"/>
            <a:ext cx="228564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Meta contribution</a:t>
            </a:r>
            <a:endParaRPr b="0" lang="en-US" sz="1050" spc="-1" strike="noStrike">
              <a:latin typeface="Arial"/>
            </a:endParaRPr>
          </a:p>
        </p:txBody>
      </p:sp>
      <p:sp>
        <p:nvSpPr>
          <p:cNvPr id="124" name="CustomShape 19"/>
          <p:cNvSpPr/>
          <p:nvPr/>
        </p:nvSpPr>
        <p:spPr>
          <a:xfrm>
            <a:off x="6409800" y="2487240"/>
            <a:ext cx="228564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Facebook + Instagram</a:t>
            </a:r>
            <a:endParaRPr b="0" lang="en-US" sz="820" spc="-1" strike="noStrike">
              <a:latin typeface="Arial"/>
            </a:endParaRPr>
          </a:p>
        </p:txBody>
      </p:sp>
      <p:sp>
        <p:nvSpPr>
          <p:cNvPr id="125" name="CustomShape 20"/>
          <p:cNvSpPr/>
          <p:nvPr/>
        </p:nvSpPr>
        <p:spPr>
          <a:xfrm>
            <a:off x="9015840" y="1508760"/>
            <a:ext cx="2605680" cy="1298160"/>
          </a:xfrm>
          <a:prstGeom prst="roundRect">
            <a:avLst>
              <a:gd name="adj" fmla="val 5634"/>
            </a:avLst>
          </a:prstGeom>
          <a:solidFill>
            <a:srgbClr val="ffffff"/>
          </a:solidFill>
          <a:ln w="12600">
            <a:solidFill>
              <a:srgbClr val="d9e2ec"/>
            </a:solidFill>
            <a:round/>
          </a:ln>
          <a:effectLst>
            <a:outerShdw algn="bl" blurRad="0" dir="0" dist="0" kx="0" ky="0" rotWithShape="0" sx="100000" sy="100000">
              <a:srgbClr val="000000">
                <a:alpha val="0"/>
              </a:srgbClr>
            </a:outerShdw>
          </a:effectLst>
        </p:spPr>
        <p:style>
          <a:lnRef idx="0"/>
          <a:fillRef idx="0"/>
          <a:effectRef idx="0"/>
          <a:fontRef idx="minor"/>
        </p:style>
      </p:sp>
      <p:sp>
        <p:nvSpPr>
          <p:cNvPr id="126" name="CustomShape 21"/>
          <p:cNvSpPr/>
          <p:nvPr/>
        </p:nvSpPr>
        <p:spPr>
          <a:xfrm>
            <a:off x="9015840" y="1508760"/>
            <a:ext cx="72720" cy="1298160"/>
          </a:xfrm>
          <a:prstGeom prst="rect">
            <a:avLst/>
          </a:prstGeom>
          <a:solidFill>
            <a:srgbClr val="f59e0b"/>
          </a:solidFill>
          <a:ln w="12600">
            <a:solidFill>
              <a:srgbClr val="f59e0b"/>
            </a:solidFill>
            <a:round/>
          </a:ln>
        </p:spPr>
        <p:style>
          <a:lnRef idx="0"/>
          <a:fillRef idx="0"/>
          <a:effectRef idx="0"/>
          <a:fontRef idx="minor"/>
        </p:style>
      </p:sp>
      <p:sp>
        <p:nvSpPr>
          <p:cNvPr id="127" name="CustomShape 22"/>
          <p:cNvSpPr/>
          <p:nvPr/>
        </p:nvSpPr>
        <p:spPr>
          <a:xfrm>
            <a:off x="9217080" y="1691640"/>
            <a:ext cx="228564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+$760.5k</a:t>
            </a:r>
            <a:endParaRPr b="0" lang="en-US" sz="2500" spc="-1" strike="noStrike">
              <a:latin typeface="Arial"/>
            </a:endParaRPr>
          </a:p>
        </p:txBody>
      </p:sp>
      <p:sp>
        <p:nvSpPr>
          <p:cNvPr id="128" name="CustomShape 23"/>
          <p:cNvSpPr/>
          <p:nvPr/>
        </p:nvSpPr>
        <p:spPr>
          <a:xfrm>
            <a:off x="9217080" y="2194560"/>
            <a:ext cx="228564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Best profit change</a:t>
            </a:r>
            <a:endParaRPr b="0" lang="en-US" sz="1050" spc="-1" strike="noStrike">
              <a:latin typeface="Arial"/>
            </a:endParaRPr>
          </a:p>
        </p:txBody>
      </p:sp>
      <p:sp>
        <p:nvSpPr>
          <p:cNvPr id="129" name="CustomShape 24"/>
          <p:cNvSpPr/>
          <p:nvPr/>
        </p:nvSpPr>
        <p:spPr>
          <a:xfrm>
            <a:off x="9217080" y="2487240"/>
            <a:ext cx="228564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Paid Search +50%</a:t>
            </a:r>
            <a:endParaRPr b="0" lang="en-US" sz="820" spc="-1" strike="noStrike">
              <a:latin typeface="Arial"/>
            </a:endParaRPr>
          </a:p>
        </p:txBody>
      </p:sp>
      <p:sp>
        <p:nvSpPr>
          <p:cNvPr id="130" name="CustomShape 25"/>
          <p:cNvSpPr/>
          <p:nvPr/>
        </p:nvSpPr>
        <p:spPr>
          <a:xfrm>
            <a:off x="594360" y="3154680"/>
            <a:ext cx="5440320" cy="2422800"/>
          </a:xfrm>
          <a:prstGeom prst="roundRect">
            <a:avLst>
              <a:gd name="adj" fmla="val 3019"/>
            </a:avLst>
          </a:prstGeom>
          <a:solidFill>
            <a:srgbClr val="ffffff"/>
          </a:solidFill>
          <a:ln w="12600">
            <a:solidFill>
              <a:srgbClr val="d9e2ec"/>
            </a:solidFill>
            <a:round/>
          </a:ln>
          <a:effectLst>
            <a:outerShdw algn="bl" blurRad="0" dir="0" dist="0" kx="0" ky="0" rotWithShape="0" sx="100000" sy="100000">
              <a:srgbClr val="000000">
                <a:alpha val="0"/>
              </a:srgbClr>
            </a:outerShdw>
          </a:effectLst>
        </p:spPr>
        <p:style>
          <a:lnRef idx="0"/>
          <a:fillRef idx="0"/>
          <a:effectRef idx="0"/>
          <a:fontRef idx="minor"/>
        </p:style>
      </p:sp>
      <p:sp>
        <p:nvSpPr>
          <p:cNvPr id="131" name="CustomShape 26"/>
          <p:cNvSpPr/>
          <p:nvPr/>
        </p:nvSpPr>
        <p:spPr>
          <a:xfrm>
            <a:off x="758880" y="3319200"/>
            <a:ext cx="438480" cy="438480"/>
          </a:xfrm>
          <a:prstGeom prst="roundRect">
            <a:avLst>
              <a:gd name="adj" fmla="val 16667"/>
            </a:avLst>
          </a:prstGeom>
          <a:solidFill>
            <a:srgbClr val="2563eb"/>
          </a:solidFill>
          <a:ln w="12600">
            <a:solidFill>
              <a:srgbClr val="2563eb"/>
            </a:solidFill>
            <a:round/>
          </a:ln>
        </p:spPr>
        <p:style>
          <a:lnRef idx="0"/>
          <a:fillRef idx="0"/>
          <a:effectRef idx="0"/>
          <a:fontRef idx="minor"/>
        </p:style>
      </p:sp>
      <p:sp>
        <p:nvSpPr>
          <p:cNvPr id="132" name="CustomShape 27"/>
          <p:cNvSpPr/>
          <p:nvPr/>
        </p:nvSpPr>
        <p:spPr>
          <a:xfrm>
            <a:off x="1307520" y="3319200"/>
            <a:ext cx="456264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What the evidence says</a:t>
            </a:r>
            <a:endParaRPr b="0" lang="en-US" sz="1400" spc="-1" strike="noStrike">
              <a:latin typeface="Arial"/>
            </a:endParaRPr>
          </a:p>
        </p:txBody>
      </p:sp>
      <p:sp>
        <p:nvSpPr>
          <p:cNvPr id="133" name="CustomShape 28"/>
          <p:cNvSpPr/>
          <p:nvPr/>
        </p:nvSpPr>
        <p:spPr>
          <a:xfrm>
            <a:off x="795600" y="3858840"/>
            <a:ext cx="5037840" cy="156312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050" spc="-1" strike="noStrike">
                <a:solidFill>
                  <a:srgbClr val="64748b"/>
                </a:solidFill>
                <a:latin typeface="Arial"/>
              </a:rPr>
              <a:t>Meta channels drive the largest volume, but Google Paid Search delivers the strongest financial efficiency and still has substantial headroom. PMAX and Shopping are closer to saturation, while Video is below break-even.</a:t>
            </a:r>
            <a:endParaRPr b="0" lang="en-US" sz="1050" spc="-1" strike="noStrike">
              <a:latin typeface="Arial"/>
            </a:endParaRPr>
          </a:p>
        </p:txBody>
      </p:sp>
      <p:sp>
        <p:nvSpPr>
          <p:cNvPr id="134" name="CustomShape 29"/>
          <p:cNvSpPr/>
          <p:nvPr/>
        </p:nvSpPr>
        <p:spPr>
          <a:xfrm>
            <a:off x="6263640" y="3154680"/>
            <a:ext cx="5321520" cy="2422800"/>
          </a:xfrm>
          <a:prstGeom prst="roundRect">
            <a:avLst>
              <a:gd name="adj" fmla="val 3019"/>
            </a:avLst>
          </a:prstGeom>
          <a:solidFill>
            <a:srgbClr val="ffffff"/>
          </a:solidFill>
          <a:ln w="12600">
            <a:solidFill>
              <a:srgbClr val="d9e2ec"/>
            </a:solidFill>
            <a:round/>
          </a:ln>
          <a:effectLst>
            <a:outerShdw algn="bl" blurRad="8" dir="0" dist="0" kx="0" ky="0" rotWithShape="0" sx="100000" sy="100000">
              <a:srgbClr val="000000">
                <a:alpha val="0"/>
              </a:srgbClr>
            </a:outerShdw>
          </a:effectLst>
        </p:spPr>
        <p:style>
          <a:lnRef idx="0"/>
          <a:fillRef idx="0"/>
          <a:effectRef idx="0"/>
          <a:fontRef idx="minor"/>
        </p:style>
      </p:sp>
      <p:sp>
        <p:nvSpPr>
          <p:cNvPr id="135" name="CustomShape 30"/>
          <p:cNvSpPr/>
          <p:nvPr/>
        </p:nvSpPr>
        <p:spPr>
          <a:xfrm>
            <a:off x="6428160" y="3319200"/>
            <a:ext cx="438480" cy="438480"/>
          </a:xfrm>
          <a:prstGeom prst="roundRect">
            <a:avLst>
              <a:gd name="adj" fmla="val 16667"/>
            </a:avLst>
          </a:prstGeom>
          <a:solidFill>
            <a:srgbClr val="0ea5a4"/>
          </a:solidFill>
          <a:ln w="12600">
            <a:solidFill>
              <a:srgbClr val="0ea5a4"/>
            </a:solidFill>
            <a:round/>
          </a:ln>
        </p:spPr>
        <p:style>
          <a:lnRef idx="0"/>
          <a:fillRef idx="0"/>
          <a:effectRef idx="0"/>
          <a:fontRef idx="minor"/>
        </p:style>
      </p:sp>
      <p:sp>
        <p:nvSpPr>
          <p:cNvPr id="136" name="CustomShape 31"/>
          <p:cNvSpPr/>
          <p:nvPr/>
        </p:nvSpPr>
        <p:spPr>
          <a:xfrm>
            <a:off x="6976800" y="3319200"/>
            <a:ext cx="444348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Recommended action</a:t>
            </a:r>
            <a:endParaRPr b="0" lang="en-US" sz="1400" spc="-1" strike="noStrike">
              <a:latin typeface="Arial"/>
            </a:endParaRPr>
          </a:p>
        </p:txBody>
      </p:sp>
      <p:sp>
        <p:nvSpPr>
          <p:cNvPr id="137" name="CustomShape 32"/>
          <p:cNvSpPr/>
          <p:nvPr/>
        </p:nvSpPr>
        <p:spPr>
          <a:xfrm>
            <a:off x="6464880" y="3858840"/>
            <a:ext cx="4919040" cy="156312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050" spc="-1" strike="noStrike">
                <a:solidFill>
                  <a:srgbClr val="64748b"/>
                </a:solidFill>
                <a:latin typeface="Arial"/>
              </a:rPr>
              <a:t>Scale Paid Search first, maintain controlled investment in Meta, trim PMAX and Shopping, and review Video. Avoid distributing incremental budget equally across all channels.</a:t>
            </a:r>
            <a:endParaRPr b="0" lang="en-US" sz="1050" spc="-1" strike="noStrike">
              <a:latin typeface="Arial"/>
            </a:endParaRPr>
          </a:p>
        </p:txBody>
      </p:sp>
      <p:sp>
        <p:nvSpPr>
          <p:cNvPr id="138" name="CustomShape 33"/>
          <p:cNvSpPr/>
          <p:nvPr/>
        </p:nvSpPr>
        <p:spPr>
          <a:xfrm>
            <a:off x="6080760" y="6528960"/>
            <a:ext cx="4754520" cy="164160"/>
          </a:xfrm>
          <a:prstGeom prst="rect">
            <a:avLst/>
          </a:prstGeom>
          <a:noFill/>
          <a:ln>
            <a:noFill/>
          </a:ln>
        </p:spPr>
        <p:style>
          <a:lnRef idx="0"/>
          <a:fillRef idx="0"/>
          <a:effectRef idx="0"/>
          <a:fontRef idx="minor"/>
        </p:style>
        <p:txBody>
          <a:bodyPr lIns="0" rIns="0" tIns="0" bIns="0" anchor="ctr">
            <a:normAutofit/>
          </a:bodyPr>
          <a:p>
            <a:pPr algn="r">
              <a:lnSpc>
                <a:spcPct val="100000"/>
              </a:lnSpc>
              <a:tabLst>
                <a:tab algn="l" pos="0"/>
              </a:tabLst>
            </a:pPr>
            <a:r>
              <a:rPr b="0" lang="en-US" sz="750" spc="-1" strike="noStrike">
                <a:solidFill>
                  <a:srgbClr val="94a3b8"/>
                </a:solidFill>
                <a:latin typeface="Arial"/>
              </a:rPr>
              <a:t>Posterior means shown unless stated otherwise.</a:t>
            </a:r>
            <a:endParaRPr b="0" lang="en-US" sz="750" spc="-1" strike="noStrike">
              <a:latin typeface="Arial"/>
            </a:endParaRPr>
          </a:p>
        </p:txBody>
      </p:sp>
      <p:sp>
        <p:nvSpPr>
          <p:cNvPr id="139" name="TextShape 34"/>
          <p:cNvSpPr txBox="1"/>
          <p:nvPr/>
        </p:nvSpPr>
        <p:spPr>
          <a:xfrm>
            <a:off x="11228760" y="6519600"/>
            <a:ext cx="411120" cy="200880"/>
          </a:xfrm>
          <a:prstGeom prst="rect">
            <a:avLst/>
          </a:prstGeom>
          <a:noFill/>
          <a:ln>
            <a:noFill/>
          </a:ln>
        </p:spPr>
        <p:txBody>
          <a:bodyPr lIns="0" rIns="0" tIns="0" bIns="0">
            <a:noAutofit/>
          </a:bodyPr>
          <a:p>
            <a:pPr algn="r">
              <a:lnSpc>
                <a:spcPct val="100000"/>
              </a:lnSpc>
            </a:pPr>
            <a:fld id="{5EA7F2B9-2423-480F-A14A-0E310ECB304D}"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0"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Assignment coverage and point alignment</a:t>
            </a:r>
            <a:endParaRPr b="0" lang="en-US" sz="2600" spc="-1" strike="noStrike">
              <a:latin typeface="Arial"/>
            </a:endParaRPr>
          </a:p>
        </p:txBody>
      </p:sp>
      <p:sp>
        <p:nvSpPr>
          <p:cNvPr id="141"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All six required tasks are represented in the analysis and in this deck.</a:t>
            </a:r>
            <a:endParaRPr b="0" lang="en-US" sz="1050" spc="-1" strike="noStrike">
              <a:latin typeface="Arial"/>
            </a:endParaRPr>
          </a:p>
        </p:txBody>
      </p:sp>
      <p:sp>
        <p:nvSpPr>
          <p:cNvPr id="142"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143"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RUBRIC MAP</a:t>
            </a:r>
            <a:endParaRPr b="0" lang="en-US" sz="900" spc="-1" strike="noStrike">
              <a:latin typeface="Arial"/>
            </a:endParaRPr>
          </a:p>
        </p:txBody>
      </p:sp>
      <p:sp>
        <p:nvSpPr>
          <p:cNvPr id="144" name="CustomShape 5"/>
          <p:cNvSpPr/>
          <p:nvPr/>
        </p:nvSpPr>
        <p:spPr>
          <a:xfrm>
            <a:off x="640080" y="1481400"/>
            <a:ext cx="5284800" cy="1225080"/>
          </a:xfrm>
          <a:prstGeom prst="roundRect">
            <a:avLst>
              <a:gd name="adj" fmla="val 5224"/>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145" name="CustomShape 6"/>
          <p:cNvSpPr/>
          <p:nvPr/>
        </p:nvSpPr>
        <p:spPr>
          <a:xfrm>
            <a:off x="841320" y="1710000"/>
            <a:ext cx="566640" cy="566640"/>
          </a:xfrm>
          <a:prstGeom prst="ellipse">
            <a:avLst/>
          </a:prstGeom>
          <a:solidFill>
            <a:srgbClr val="2563eb"/>
          </a:solidFill>
          <a:ln w="12600">
            <a:solidFill>
              <a:srgbClr val="2563eb"/>
            </a:solidFill>
            <a:round/>
          </a:ln>
        </p:spPr>
        <p:style>
          <a:lnRef idx="0"/>
          <a:fillRef idx="0"/>
          <a:effectRef idx="0"/>
          <a:fontRef idx="minor"/>
        </p:style>
      </p:sp>
      <p:sp>
        <p:nvSpPr>
          <p:cNvPr id="146" name="CustomShape 7"/>
          <p:cNvSpPr/>
          <p:nvPr/>
        </p:nvSpPr>
        <p:spPr>
          <a:xfrm>
            <a:off x="841320" y="1810440"/>
            <a:ext cx="566640" cy="228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Arial"/>
              </a:rPr>
              <a:t>1</a:t>
            </a:r>
            <a:endParaRPr b="0" lang="en-US" sz="1400" spc="-1" strike="noStrike">
              <a:latin typeface="Arial"/>
            </a:endParaRPr>
          </a:p>
        </p:txBody>
      </p:sp>
      <p:sp>
        <p:nvSpPr>
          <p:cNvPr id="147" name="CustomShape 8"/>
          <p:cNvSpPr/>
          <p:nvPr/>
        </p:nvSpPr>
        <p:spPr>
          <a:xfrm>
            <a:off x="1572840" y="1645920"/>
            <a:ext cx="3108600" cy="2739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1f33"/>
                </a:solidFill>
                <a:latin typeface="Arial"/>
              </a:rPr>
              <a:t>EDA</a:t>
            </a:r>
            <a:endParaRPr b="0" lang="en-US" sz="1400" spc="-1" strike="noStrike">
              <a:latin typeface="Arial"/>
            </a:endParaRPr>
          </a:p>
        </p:txBody>
      </p:sp>
      <p:sp>
        <p:nvSpPr>
          <p:cNvPr id="148" name="CustomShape 9"/>
          <p:cNvSpPr/>
          <p:nvPr/>
        </p:nvSpPr>
        <p:spPr>
          <a:xfrm>
            <a:off x="4800600" y="1664280"/>
            <a:ext cx="840960" cy="22824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1000" spc="-1" strike="noStrike">
                <a:solidFill>
                  <a:srgbClr val="0ea5a4"/>
                </a:solidFill>
                <a:latin typeface="Arial"/>
              </a:rPr>
              <a:t>10 pts</a:t>
            </a:r>
            <a:endParaRPr b="0" lang="en-US" sz="1000" spc="-1" strike="noStrike">
              <a:latin typeface="Arial"/>
            </a:endParaRPr>
          </a:p>
        </p:txBody>
      </p:sp>
      <p:sp>
        <p:nvSpPr>
          <p:cNvPr id="149" name="CustomShape 10"/>
          <p:cNvSpPr/>
          <p:nvPr/>
        </p:nvSpPr>
        <p:spPr>
          <a:xfrm>
            <a:off x="1572840" y="2039040"/>
            <a:ext cx="3977280" cy="4201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9" spc="-1" strike="noStrike">
                <a:solidFill>
                  <a:srgbClr val="64748b"/>
                </a:solidFill>
                <a:latin typeface="Arial"/>
              </a:rPr>
              <a:t>Missing values, spend trends, seasonality, outliers</a:t>
            </a:r>
            <a:endParaRPr b="0" lang="en-US" sz="939" spc="-1" strike="noStrike">
              <a:latin typeface="Arial"/>
            </a:endParaRPr>
          </a:p>
        </p:txBody>
      </p:sp>
      <p:sp>
        <p:nvSpPr>
          <p:cNvPr id="150" name="CustomShape 11"/>
          <p:cNvSpPr/>
          <p:nvPr/>
        </p:nvSpPr>
        <p:spPr>
          <a:xfrm>
            <a:off x="5330880" y="2194560"/>
            <a:ext cx="31068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700" spc="-1" strike="noStrike">
                <a:solidFill>
                  <a:srgbClr val="16a34a"/>
                </a:solidFill>
                <a:latin typeface="Arial"/>
              </a:rPr>
              <a:t>✓</a:t>
            </a:r>
            <a:endParaRPr b="0" lang="en-US" sz="1700" spc="-1" strike="noStrike">
              <a:latin typeface="Arial"/>
            </a:endParaRPr>
          </a:p>
        </p:txBody>
      </p:sp>
      <p:sp>
        <p:nvSpPr>
          <p:cNvPr id="151" name="CustomShape 12"/>
          <p:cNvSpPr/>
          <p:nvPr/>
        </p:nvSpPr>
        <p:spPr>
          <a:xfrm>
            <a:off x="6217920" y="1481400"/>
            <a:ext cx="5284800" cy="1225080"/>
          </a:xfrm>
          <a:prstGeom prst="roundRect">
            <a:avLst>
              <a:gd name="adj" fmla="val 5224"/>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152" name="CustomShape 13"/>
          <p:cNvSpPr/>
          <p:nvPr/>
        </p:nvSpPr>
        <p:spPr>
          <a:xfrm>
            <a:off x="6419160" y="1710000"/>
            <a:ext cx="566640" cy="566640"/>
          </a:xfrm>
          <a:prstGeom prst="ellipse">
            <a:avLst/>
          </a:prstGeom>
          <a:solidFill>
            <a:srgbClr val="2563eb"/>
          </a:solidFill>
          <a:ln w="12600">
            <a:solidFill>
              <a:srgbClr val="2563eb"/>
            </a:solidFill>
            <a:round/>
          </a:ln>
        </p:spPr>
        <p:style>
          <a:lnRef idx="0"/>
          <a:fillRef idx="0"/>
          <a:effectRef idx="0"/>
          <a:fontRef idx="minor"/>
        </p:style>
      </p:sp>
      <p:sp>
        <p:nvSpPr>
          <p:cNvPr id="153" name="CustomShape 14"/>
          <p:cNvSpPr/>
          <p:nvPr/>
        </p:nvSpPr>
        <p:spPr>
          <a:xfrm>
            <a:off x="6419160" y="1810440"/>
            <a:ext cx="566640" cy="228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Arial"/>
              </a:rPr>
              <a:t>2</a:t>
            </a:r>
            <a:endParaRPr b="0" lang="en-US" sz="1400" spc="-1" strike="noStrike">
              <a:latin typeface="Arial"/>
            </a:endParaRPr>
          </a:p>
        </p:txBody>
      </p:sp>
      <p:sp>
        <p:nvSpPr>
          <p:cNvPr id="154" name="CustomShape 15"/>
          <p:cNvSpPr/>
          <p:nvPr/>
        </p:nvSpPr>
        <p:spPr>
          <a:xfrm>
            <a:off x="7150680" y="1645920"/>
            <a:ext cx="3108600" cy="2739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1f33"/>
                </a:solidFill>
                <a:latin typeface="Arial"/>
              </a:rPr>
              <a:t>Data preparation</a:t>
            </a:r>
            <a:endParaRPr b="0" lang="en-US" sz="1400" spc="-1" strike="noStrike">
              <a:latin typeface="Arial"/>
            </a:endParaRPr>
          </a:p>
        </p:txBody>
      </p:sp>
      <p:sp>
        <p:nvSpPr>
          <p:cNvPr id="155" name="CustomShape 16"/>
          <p:cNvSpPr/>
          <p:nvPr/>
        </p:nvSpPr>
        <p:spPr>
          <a:xfrm>
            <a:off x="10378440" y="1664280"/>
            <a:ext cx="840960" cy="22824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1000" spc="-1" strike="noStrike">
                <a:solidFill>
                  <a:srgbClr val="0ea5a4"/>
                </a:solidFill>
                <a:latin typeface="Arial"/>
              </a:rPr>
              <a:t>15 pts</a:t>
            </a:r>
            <a:endParaRPr b="0" lang="en-US" sz="1000" spc="-1" strike="noStrike">
              <a:latin typeface="Arial"/>
            </a:endParaRPr>
          </a:p>
        </p:txBody>
      </p:sp>
      <p:sp>
        <p:nvSpPr>
          <p:cNvPr id="156" name="CustomShape 17"/>
          <p:cNvSpPr/>
          <p:nvPr/>
        </p:nvSpPr>
        <p:spPr>
          <a:xfrm>
            <a:off x="7150680" y="2039040"/>
            <a:ext cx="3977280" cy="4201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9" spc="-1" strike="noStrike">
                <a:solidFill>
                  <a:srgbClr val="64748b"/>
                </a:solidFill>
                <a:latin typeface="Arial"/>
              </a:rPr>
              <a:t>Daily modeling table, media, controls, train/validation</a:t>
            </a:r>
            <a:endParaRPr b="0" lang="en-US" sz="939" spc="-1" strike="noStrike">
              <a:latin typeface="Arial"/>
            </a:endParaRPr>
          </a:p>
        </p:txBody>
      </p:sp>
      <p:sp>
        <p:nvSpPr>
          <p:cNvPr id="157" name="CustomShape 18"/>
          <p:cNvSpPr/>
          <p:nvPr/>
        </p:nvSpPr>
        <p:spPr>
          <a:xfrm>
            <a:off x="10908720" y="2194560"/>
            <a:ext cx="31068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700" spc="-1" strike="noStrike">
                <a:solidFill>
                  <a:srgbClr val="16a34a"/>
                </a:solidFill>
                <a:latin typeface="Arial"/>
              </a:rPr>
              <a:t>✓</a:t>
            </a:r>
            <a:endParaRPr b="0" lang="en-US" sz="1700" spc="-1" strike="noStrike">
              <a:latin typeface="Arial"/>
            </a:endParaRPr>
          </a:p>
        </p:txBody>
      </p:sp>
      <p:sp>
        <p:nvSpPr>
          <p:cNvPr id="158" name="CustomShape 19"/>
          <p:cNvSpPr/>
          <p:nvPr/>
        </p:nvSpPr>
        <p:spPr>
          <a:xfrm>
            <a:off x="640080" y="2990160"/>
            <a:ext cx="5284800" cy="1225080"/>
          </a:xfrm>
          <a:prstGeom prst="roundRect">
            <a:avLst>
              <a:gd name="adj" fmla="val 5224"/>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159" name="CustomShape 20"/>
          <p:cNvSpPr/>
          <p:nvPr/>
        </p:nvSpPr>
        <p:spPr>
          <a:xfrm>
            <a:off x="841320" y="3218760"/>
            <a:ext cx="566640" cy="566640"/>
          </a:xfrm>
          <a:prstGeom prst="ellipse">
            <a:avLst/>
          </a:prstGeom>
          <a:solidFill>
            <a:srgbClr val="f59e0b"/>
          </a:solidFill>
          <a:ln w="12600">
            <a:solidFill>
              <a:srgbClr val="f59e0b"/>
            </a:solidFill>
            <a:round/>
          </a:ln>
        </p:spPr>
        <p:style>
          <a:lnRef idx="0"/>
          <a:fillRef idx="0"/>
          <a:effectRef idx="0"/>
          <a:fontRef idx="minor"/>
        </p:style>
      </p:sp>
      <p:sp>
        <p:nvSpPr>
          <p:cNvPr id="160" name="CustomShape 21"/>
          <p:cNvSpPr/>
          <p:nvPr/>
        </p:nvSpPr>
        <p:spPr>
          <a:xfrm>
            <a:off x="841320" y="3319200"/>
            <a:ext cx="566640" cy="228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Arial"/>
              </a:rPr>
              <a:t>3</a:t>
            </a:r>
            <a:endParaRPr b="0" lang="en-US" sz="1400" spc="-1" strike="noStrike">
              <a:latin typeface="Arial"/>
            </a:endParaRPr>
          </a:p>
        </p:txBody>
      </p:sp>
      <p:sp>
        <p:nvSpPr>
          <p:cNvPr id="161" name="CustomShape 22"/>
          <p:cNvSpPr/>
          <p:nvPr/>
        </p:nvSpPr>
        <p:spPr>
          <a:xfrm>
            <a:off x="1572840" y="3154680"/>
            <a:ext cx="3108600" cy="2739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1f33"/>
                </a:solidFill>
                <a:latin typeface="Arial"/>
              </a:rPr>
              <a:t>Meridian MMM</a:t>
            </a:r>
            <a:endParaRPr b="0" lang="en-US" sz="1400" spc="-1" strike="noStrike">
              <a:latin typeface="Arial"/>
            </a:endParaRPr>
          </a:p>
        </p:txBody>
      </p:sp>
      <p:sp>
        <p:nvSpPr>
          <p:cNvPr id="162" name="CustomShape 23"/>
          <p:cNvSpPr/>
          <p:nvPr/>
        </p:nvSpPr>
        <p:spPr>
          <a:xfrm>
            <a:off x="4800600" y="3173040"/>
            <a:ext cx="840960" cy="22824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1000" spc="-1" strike="noStrike">
                <a:solidFill>
                  <a:srgbClr val="0ea5a4"/>
                </a:solidFill>
                <a:latin typeface="Arial"/>
              </a:rPr>
              <a:t>25 pts</a:t>
            </a:r>
            <a:endParaRPr b="0" lang="en-US" sz="1000" spc="-1" strike="noStrike">
              <a:latin typeface="Arial"/>
            </a:endParaRPr>
          </a:p>
        </p:txBody>
      </p:sp>
      <p:sp>
        <p:nvSpPr>
          <p:cNvPr id="163" name="CustomShape 24"/>
          <p:cNvSpPr/>
          <p:nvPr/>
        </p:nvSpPr>
        <p:spPr>
          <a:xfrm>
            <a:off x="1572840" y="3547800"/>
            <a:ext cx="3977280" cy="4201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9" spc="-1" strike="noStrike">
                <a:solidFill>
                  <a:srgbClr val="64748b"/>
                </a:solidFill>
                <a:latin typeface="Arial"/>
              </a:rPr>
              <a:t>Bayesian training, fit, contribution, adstock, saturation</a:t>
            </a:r>
            <a:endParaRPr b="0" lang="en-US" sz="939" spc="-1" strike="noStrike">
              <a:latin typeface="Arial"/>
            </a:endParaRPr>
          </a:p>
        </p:txBody>
      </p:sp>
      <p:sp>
        <p:nvSpPr>
          <p:cNvPr id="164" name="CustomShape 25"/>
          <p:cNvSpPr/>
          <p:nvPr/>
        </p:nvSpPr>
        <p:spPr>
          <a:xfrm>
            <a:off x="5330880" y="3703320"/>
            <a:ext cx="31068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700" spc="-1" strike="noStrike">
                <a:solidFill>
                  <a:srgbClr val="16a34a"/>
                </a:solidFill>
                <a:latin typeface="Arial"/>
              </a:rPr>
              <a:t>✓</a:t>
            </a:r>
            <a:endParaRPr b="0" lang="en-US" sz="1700" spc="-1" strike="noStrike">
              <a:latin typeface="Arial"/>
            </a:endParaRPr>
          </a:p>
        </p:txBody>
      </p:sp>
      <p:sp>
        <p:nvSpPr>
          <p:cNvPr id="165" name="CustomShape 26"/>
          <p:cNvSpPr/>
          <p:nvPr/>
        </p:nvSpPr>
        <p:spPr>
          <a:xfrm>
            <a:off x="6217920" y="2990160"/>
            <a:ext cx="5284800" cy="1225080"/>
          </a:xfrm>
          <a:prstGeom prst="roundRect">
            <a:avLst>
              <a:gd name="adj" fmla="val 5224"/>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166" name="CustomShape 27"/>
          <p:cNvSpPr/>
          <p:nvPr/>
        </p:nvSpPr>
        <p:spPr>
          <a:xfrm>
            <a:off x="6419160" y="3218760"/>
            <a:ext cx="566640" cy="566640"/>
          </a:xfrm>
          <a:prstGeom prst="ellipse">
            <a:avLst/>
          </a:prstGeom>
          <a:solidFill>
            <a:srgbClr val="2563eb"/>
          </a:solidFill>
          <a:ln w="12600">
            <a:solidFill>
              <a:srgbClr val="2563eb"/>
            </a:solidFill>
            <a:round/>
          </a:ln>
        </p:spPr>
        <p:style>
          <a:lnRef idx="0"/>
          <a:fillRef idx="0"/>
          <a:effectRef idx="0"/>
          <a:fontRef idx="minor"/>
        </p:style>
      </p:sp>
      <p:sp>
        <p:nvSpPr>
          <p:cNvPr id="167" name="CustomShape 28"/>
          <p:cNvSpPr/>
          <p:nvPr/>
        </p:nvSpPr>
        <p:spPr>
          <a:xfrm>
            <a:off x="6419160" y="3319200"/>
            <a:ext cx="566640" cy="228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Arial"/>
              </a:rPr>
              <a:t>4</a:t>
            </a:r>
            <a:endParaRPr b="0" lang="en-US" sz="1400" spc="-1" strike="noStrike">
              <a:latin typeface="Arial"/>
            </a:endParaRPr>
          </a:p>
        </p:txBody>
      </p:sp>
      <p:sp>
        <p:nvSpPr>
          <p:cNvPr id="168" name="CustomShape 29"/>
          <p:cNvSpPr/>
          <p:nvPr/>
        </p:nvSpPr>
        <p:spPr>
          <a:xfrm>
            <a:off x="7150680" y="3154680"/>
            <a:ext cx="3108600" cy="2739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1f33"/>
                </a:solidFill>
                <a:latin typeface="Arial"/>
              </a:rPr>
              <a:t>ROI &amp; mROI</a:t>
            </a:r>
            <a:endParaRPr b="0" lang="en-US" sz="1400" spc="-1" strike="noStrike">
              <a:latin typeface="Arial"/>
            </a:endParaRPr>
          </a:p>
        </p:txBody>
      </p:sp>
      <p:sp>
        <p:nvSpPr>
          <p:cNvPr id="169" name="CustomShape 30"/>
          <p:cNvSpPr/>
          <p:nvPr/>
        </p:nvSpPr>
        <p:spPr>
          <a:xfrm>
            <a:off x="10378440" y="3173040"/>
            <a:ext cx="840960" cy="22824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1000" spc="-1" strike="noStrike">
                <a:solidFill>
                  <a:srgbClr val="0ea5a4"/>
                </a:solidFill>
                <a:latin typeface="Arial"/>
              </a:rPr>
              <a:t>20 pts</a:t>
            </a:r>
            <a:endParaRPr b="0" lang="en-US" sz="1000" spc="-1" strike="noStrike">
              <a:latin typeface="Arial"/>
            </a:endParaRPr>
          </a:p>
        </p:txBody>
      </p:sp>
      <p:sp>
        <p:nvSpPr>
          <p:cNvPr id="170" name="CustomShape 31"/>
          <p:cNvSpPr/>
          <p:nvPr/>
        </p:nvSpPr>
        <p:spPr>
          <a:xfrm>
            <a:off x="7150680" y="3547800"/>
            <a:ext cx="3977280" cy="4201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9" spc="-1" strike="noStrike">
                <a:solidFill>
                  <a:srgbClr val="64748b"/>
                </a:solidFill>
                <a:latin typeface="Arial"/>
              </a:rPr>
              <a:t>Channel efficiency, under/over-investment</a:t>
            </a:r>
            <a:endParaRPr b="0" lang="en-US" sz="939" spc="-1" strike="noStrike">
              <a:latin typeface="Arial"/>
            </a:endParaRPr>
          </a:p>
        </p:txBody>
      </p:sp>
      <p:sp>
        <p:nvSpPr>
          <p:cNvPr id="171" name="CustomShape 32"/>
          <p:cNvSpPr/>
          <p:nvPr/>
        </p:nvSpPr>
        <p:spPr>
          <a:xfrm>
            <a:off x="10908720" y="3703320"/>
            <a:ext cx="31068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700" spc="-1" strike="noStrike">
                <a:solidFill>
                  <a:srgbClr val="16a34a"/>
                </a:solidFill>
                <a:latin typeface="Arial"/>
              </a:rPr>
              <a:t>✓</a:t>
            </a:r>
            <a:endParaRPr b="0" lang="en-US" sz="1700" spc="-1" strike="noStrike">
              <a:latin typeface="Arial"/>
            </a:endParaRPr>
          </a:p>
        </p:txBody>
      </p:sp>
      <p:sp>
        <p:nvSpPr>
          <p:cNvPr id="172" name="CustomShape 33"/>
          <p:cNvSpPr/>
          <p:nvPr/>
        </p:nvSpPr>
        <p:spPr>
          <a:xfrm>
            <a:off x="640080" y="4498920"/>
            <a:ext cx="5284800" cy="1225080"/>
          </a:xfrm>
          <a:prstGeom prst="roundRect">
            <a:avLst>
              <a:gd name="adj" fmla="val 5224"/>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173" name="CustomShape 34"/>
          <p:cNvSpPr/>
          <p:nvPr/>
        </p:nvSpPr>
        <p:spPr>
          <a:xfrm>
            <a:off x="841320" y="4727520"/>
            <a:ext cx="566640" cy="566640"/>
          </a:xfrm>
          <a:prstGeom prst="ellipse">
            <a:avLst/>
          </a:prstGeom>
          <a:solidFill>
            <a:srgbClr val="2563eb"/>
          </a:solidFill>
          <a:ln w="12600">
            <a:solidFill>
              <a:srgbClr val="2563eb"/>
            </a:solidFill>
            <a:round/>
          </a:ln>
        </p:spPr>
        <p:style>
          <a:lnRef idx="0"/>
          <a:fillRef idx="0"/>
          <a:effectRef idx="0"/>
          <a:fontRef idx="minor"/>
        </p:style>
      </p:sp>
      <p:sp>
        <p:nvSpPr>
          <p:cNvPr id="174" name="CustomShape 35"/>
          <p:cNvSpPr/>
          <p:nvPr/>
        </p:nvSpPr>
        <p:spPr>
          <a:xfrm>
            <a:off x="841320" y="4827960"/>
            <a:ext cx="566640" cy="228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Arial"/>
              </a:rPr>
              <a:t>5</a:t>
            </a:r>
            <a:endParaRPr b="0" lang="en-US" sz="1400" spc="-1" strike="noStrike">
              <a:latin typeface="Arial"/>
            </a:endParaRPr>
          </a:p>
        </p:txBody>
      </p:sp>
      <p:sp>
        <p:nvSpPr>
          <p:cNvPr id="175" name="CustomShape 36"/>
          <p:cNvSpPr/>
          <p:nvPr/>
        </p:nvSpPr>
        <p:spPr>
          <a:xfrm>
            <a:off x="1572840" y="4663440"/>
            <a:ext cx="3108600" cy="2739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1f33"/>
                </a:solidFill>
                <a:latin typeface="Arial"/>
              </a:rPr>
              <a:t>SHAP explainability</a:t>
            </a:r>
            <a:endParaRPr b="0" lang="en-US" sz="1400" spc="-1" strike="noStrike">
              <a:latin typeface="Arial"/>
            </a:endParaRPr>
          </a:p>
        </p:txBody>
      </p:sp>
      <p:sp>
        <p:nvSpPr>
          <p:cNvPr id="176" name="CustomShape 37"/>
          <p:cNvSpPr/>
          <p:nvPr/>
        </p:nvSpPr>
        <p:spPr>
          <a:xfrm>
            <a:off x="4800600" y="4681800"/>
            <a:ext cx="840960" cy="22824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1000" spc="-1" strike="noStrike">
                <a:solidFill>
                  <a:srgbClr val="0ea5a4"/>
                </a:solidFill>
                <a:latin typeface="Arial"/>
              </a:rPr>
              <a:t>15 pts</a:t>
            </a:r>
            <a:endParaRPr b="0" lang="en-US" sz="1000" spc="-1" strike="noStrike">
              <a:latin typeface="Arial"/>
            </a:endParaRPr>
          </a:p>
        </p:txBody>
      </p:sp>
      <p:sp>
        <p:nvSpPr>
          <p:cNvPr id="177" name="CustomShape 38"/>
          <p:cNvSpPr/>
          <p:nvPr/>
        </p:nvSpPr>
        <p:spPr>
          <a:xfrm>
            <a:off x="1572840" y="5056560"/>
            <a:ext cx="3977280" cy="4201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9" spc="-1" strike="noStrike">
                <a:solidFill>
                  <a:srgbClr val="64748b"/>
                </a:solidFill>
                <a:latin typeface="Arial"/>
              </a:rPr>
              <a:t>Summary, dependence, importance vs MMM</a:t>
            </a:r>
            <a:endParaRPr b="0" lang="en-US" sz="939" spc="-1" strike="noStrike">
              <a:latin typeface="Arial"/>
            </a:endParaRPr>
          </a:p>
        </p:txBody>
      </p:sp>
      <p:sp>
        <p:nvSpPr>
          <p:cNvPr id="178" name="CustomShape 39"/>
          <p:cNvSpPr/>
          <p:nvPr/>
        </p:nvSpPr>
        <p:spPr>
          <a:xfrm>
            <a:off x="5330880" y="5212080"/>
            <a:ext cx="31068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700" spc="-1" strike="noStrike">
                <a:solidFill>
                  <a:srgbClr val="16a34a"/>
                </a:solidFill>
                <a:latin typeface="Arial"/>
              </a:rPr>
              <a:t>✓</a:t>
            </a:r>
            <a:endParaRPr b="0" lang="en-US" sz="1700" spc="-1" strike="noStrike">
              <a:latin typeface="Arial"/>
            </a:endParaRPr>
          </a:p>
        </p:txBody>
      </p:sp>
      <p:sp>
        <p:nvSpPr>
          <p:cNvPr id="179" name="CustomShape 40"/>
          <p:cNvSpPr/>
          <p:nvPr/>
        </p:nvSpPr>
        <p:spPr>
          <a:xfrm>
            <a:off x="6217920" y="4498920"/>
            <a:ext cx="5284800" cy="1225080"/>
          </a:xfrm>
          <a:prstGeom prst="roundRect">
            <a:avLst>
              <a:gd name="adj" fmla="val 5224"/>
            </a:avLst>
          </a:prstGeom>
          <a:solidFill>
            <a:srgbClr val="ffffff"/>
          </a:solidFill>
          <a:ln w="12600">
            <a:solidFill>
              <a:srgbClr val="d9e2ec"/>
            </a:solidFill>
            <a:round/>
          </a:ln>
          <a:effectLst>
            <a:outerShdw algn="bl" blurRad="3" dir="0" dist="0" kx="0" ky="0" rotWithShape="0" sx="100000" sy="100000">
              <a:srgbClr val="000000">
                <a:alpha val="0"/>
              </a:srgbClr>
            </a:outerShdw>
          </a:effectLst>
        </p:spPr>
        <p:style>
          <a:lnRef idx="0"/>
          <a:fillRef idx="0"/>
          <a:effectRef idx="0"/>
          <a:fontRef idx="minor"/>
        </p:style>
      </p:sp>
      <p:sp>
        <p:nvSpPr>
          <p:cNvPr id="180" name="CustomShape 41"/>
          <p:cNvSpPr/>
          <p:nvPr/>
        </p:nvSpPr>
        <p:spPr>
          <a:xfrm>
            <a:off x="6419160" y="4727520"/>
            <a:ext cx="566640" cy="566640"/>
          </a:xfrm>
          <a:prstGeom prst="ellipse">
            <a:avLst/>
          </a:prstGeom>
          <a:solidFill>
            <a:srgbClr val="2563eb"/>
          </a:solidFill>
          <a:ln w="12600">
            <a:solidFill>
              <a:srgbClr val="2563eb"/>
            </a:solidFill>
            <a:round/>
          </a:ln>
        </p:spPr>
        <p:style>
          <a:lnRef idx="0"/>
          <a:fillRef idx="0"/>
          <a:effectRef idx="0"/>
          <a:fontRef idx="minor"/>
        </p:style>
      </p:sp>
      <p:sp>
        <p:nvSpPr>
          <p:cNvPr id="181" name="CustomShape 42"/>
          <p:cNvSpPr/>
          <p:nvPr/>
        </p:nvSpPr>
        <p:spPr>
          <a:xfrm>
            <a:off x="6419160" y="4827960"/>
            <a:ext cx="566640" cy="228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400" spc="-1" strike="noStrike">
                <a:solidFill>
                  <a:srgbClr val="ffffff"/>
                </a:solidFill>
                <a:latin typeface="Arial"/>
              </a:rPr>
              <a:t>6</a:t>
            </a:r>
            <a:endParaRPr b="0" lang="en-US" sz="1400" spc="-1" strike="noStrike">
              <a:latin typeface="Arial"/>
            </a:endParaRPr>
          </a:p>
        </p:txBody>
      </p:sp>
      <p:sp>
        <p:nvSpPr>
          <p:cNvPr id="182" name="CustomShape 43"/>
          <p:cNvSpPr/>
          <p:nvPr/>
        </p:nvSpPr>
        <p:spPr>
          <a:xfrm>
            <a:off x="7150680" y="4663440"/>
            <a:ext cx="3108600" cy="27396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400" spc="-1" strike="noStrike">
                <a:solidFill>
                  <a:srgbClr val="0b1f33"/>
                </a:solidFill>
                <a:latin typeface="Arial"/>
              </a:rPr>
              <a:t>Scenario simulation</a:t>
            </a:r>
            <a:endParaRPr b="0" lang="en-US" sz="1400" spc="-1" strike="noStrike">
              <a:latin typeface="Arial"/>
            </a:endParaRPr>
          </a:p>
        </p:txBody>
      </p:sp>
      <p:sp>
        <p:nvSpPr>
          <p:cNvPr id="183" name="CustomShape 44"/>
          <p:cNvSpPr/>
          <p:nvPr/>
        </p:nvSpPr>
        <p:spPr>
          <a:xfrm>
            <a:off x="10378440" y="4681800"/>
            <a:ext cx="840960" cy="22824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1000" spc="-1" strike="noStrike">
                <a:solidFill>
                  <a:srgbClr val="0ea5a4"/>
                </a:solidFill>
                <a:latin typeface="Arial"/>
              </a:rPr>
              <a:t>15 pts</a:t>
            </a:r>
            <a:endParaRPr b="0" lang="en-US" sz="1000" spc="-1" strike="noStrike">
              <a:latin typeface="Arial"/>
            </a:endParaRPr>
          </a:p>
        </p:txBody>
      </p:sp>
      <p:sp>
        <p:nvSpPr>
          <p:cNvPr id="184" name="CustomShape 45"/>
          <p:cNvSpPr/>
          <p:nvPr/>
        </p:nvSpPr>
        <p:spPr>
          <a:xfrm>
            <a:off x="7150680" y="5056560"/>
            <a:ext cx="3977280" cy="4201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9" spc="-1" strike="noStrike">
                <a:solidFill>
                  <a:srgbClr val="64748b"/>
                </a:solidFill>
                <a:latin typeface="Arial"/>
              </a:rPr>
              <a:t>Revenue, purchases, ROI and recommendations</a:t>
            </a:r>
            <a:endParaRPr b="0" lang="en-US" sz="939" spc="-1" strike="noStrike">
              <a:latin typeface="Arial"/>
            </a:endParaRPr>
          </a:p>
        </p:txBody>
      </p:sp>
      <p:sp>
        <p:nvSpPr>
          <p:cNvPr id="185" name="CustomShape 46"/>
          <p:cNvSpPr/>
          <p:nvPr/>
        </p:nvSpPr>
        <p:spPr>
          <a:xfrm>
            <a:off x="10908720" y="5212080"/>
            <a:ext cx="31068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700" spc="-1" strike="noStrike">
                <a:solidFill>
                  <a:srgbClr val="16a34a"/>
                </a:solidFill>
                <a:latin typeface="Arial"/>
              </a:rPr>
              <a:t>✓</a:t>
            </a:r>
            <a:endParaRPr b="0" lang="en-US" sz="1700" spc="-1" strike="noStrike">
              <a:latin typeface="Arial"/>
            </a:endParaRPr>
          </a:p>
        </p:txBody>
      </p:sp>
      <p:sp>
        <p:nvSpPr>
          <p:cNvPr id="186" name="TextShape 47"/>
          <p:cNvSpPr txBox="1"/>
          <p:nvPr/>
        </p:nvSpPr>
        <p:spPr>
          <a:xfrm>
            <a:off x="11228760" y="6519600"/>
            <a:ext cx="411120" cy="200880"/>
          </a:xfrm>
          <a:prstGeom prst="rect">
            <a:avLst/>
          </a:prstGeom>
          <a:noFill/>
          <a:ln>
            <a:noFill/>
          </a:ln>
        </p:spPr>
        <p:txBody>
          <a:bodyPr lIns="0" rIns="0" tIns="0" bIns="0">
            <a:noAutofit/>
          </a:bodyPr>
          <a:p>
            <a:pPr algn="r">
              <a:lnSpc>
                <a:spcPct val="100000"/>
              </a:lnSpc>
            </a:pPr>
            <a:fld id="{54D83211-7465-4049-9029-506EB43D16C6}"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87"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Data scope and modeling choice</a:t>
            </a:r>
            <a:endParaRPr b="0" lang="en-US" sz="2600" spc="-1" strike="noStrike">
              <a:latin typeface="Arial"/>
            </a:endParaRPr>
          </a:p>
        </p:txBody>
      </p:sp>
      <p:sp>
        <p:nvSpPr>
          <p:cNvPr id="188"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A single complete organization-level time series was selected for consistency and interpretability.</a:t>
            </a:r>
            <a:endParaRPr b="0" lang="en-US" sz="1050" spc="-1" strike="noStrike">
              <a:latin typeface="Arial"/>
            </a:endParaRPr>
          </a:p>
        </p:txBody>
      </p:sp>
      <p:sp>
        <p:nvSpPr>
          <p:cNvPr id="189"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190"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DATA SELECTION</a:t>
            </a:r>
            <a:endParaRPr b="0" lang="en-US" sz="900" spc="-1" strike="noStrike">
              <a:latin typeface="Arial"/>
            </a:endParaRPr>
          </a:p>
        </p:txBody>
      </p:sp>
      <p:sp>
        <p:nvSpPr>
          <p:cNvPr id="191" name="CustomShape 5"/>
          <p:cNvSpPr/>
          <p:nvPr/>
        </p:nvSpPr>
        <p:spPr>
          <a:xfrm>
            <a:off x="594360" y="1444680"/>
            <a:ext cx="4891680" cy="4407120"/>
          </a:xfrm>
          <a:prstGeom prst="roundRect">
            <a:avLst>
              <a:gd name="adj" fmla="val 1660"/>
            </a:avLst>
          </a:prstGeom>
          <a:solidFill>
            <a:srgbClr val="ffffff"/>
          </a:solidFill>
          <a:ln w="12600">
            <a:solidFill>
              <a:srgbClr val="d9e2ec"/>
            </a:solidFill>
            <a:round/>
          </a:ln>
          <a:effectLst>
            <a:outerShdw algn="bl" blurRad="4" dir="0" dist="0" kx="0" ky="0" rotWithShape="0" sx="100000" sy="100000">
              <a:srgbClr val="000000">
                <a:alpha val="0"/>
              </a:srgbClr>
            </a:outerShdw>
          </a:effectLst>
        </p:spPr>
        <p:style>
          <a:lnRef idx="0"/>
          <a:fillRef idx="0"/>
          <a:effectRef idx="0"/>
          <a:fontRef idx="minor"/>
        </p:style>
      </p:sp>
      <p:sp>
        <p:nvSpPr>
          <p:cNvPr id="192" name="CustomShape 6"/>
          <p:cNvSpPr/>
          <p:nvPr/>
        </p:nvSpPr>
        <p:spPr>
          <a:xfrm>
            <a:off x="868680" y="1673280"/>
            <a:ext cx="4023000" cy="34704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1f33"/>
                </a:solidFill>
                <a:latin typeface="Arial"/>
              </a:rPr>
              <a:t>Selected organization profile</a:t>
            </a:r>
            <a:endParaRPr b="0" lang="en-US" sz="1700" spc="-1" strike="noStrike">
              <a:latin typeface="Arial"/>
            </a:endParaRPr>
          </a:p>
        </p:txBody>
      </p:sp>
      <p:sp>
        <p:nvSpPr>
          <p:cNvPr id="193" name="CustomShape 7"/>
          <p:cNvSpPr/>
          <p:nvPr/>
        </p:nvSpPr>
        <p:spPr>
          <a:xfrm>
            <a:off x="868680" y="2212920"/>
            <a:ext cx="14169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1" strike="noStrike">
                <a:solidFill>
                  <a:srgbClr val="64748b"/>
                </a:solidFill>
                <a:latin typeface="Arial"/>
              </a:rPr>
              <a:t>Industry</a:t>
            </a:r>
            <a:endParaRPr b="0" lang="en-US" sz="1000" spc="-1" strike="noStrike">
              <a:latin typeface="Arial"/>
            </a:endParaRPr>
          </a:p>
        </p:txBody>
      </p:sp>
      <p:sp>
        <p:nvSpPr>
          <p:cNvPr id="194" name="CustomShape 8"/>
          <p:cNvSpPr/>
          <p:nvPr/>
        </p:nvSpPr>
        <p:spPr>
          <a:xfrm>
            <a:off x="2212920" y="2212920"/>
            <a:ext cx="274284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0b1f33"/>
                </a:solidFill>
                <a:latin typeface="Arial"/>
              </a:rPr>
              <a:t>Beauty &amp; Fitness</a:t>
            </a:r>
            <a:endParaRPr b="0" lang="en-US" sz="1050" spc="-1" strike="noStrike">
              <a:latin typeface="Arial"/>
            </a:endParaRPr>
          </a:p>
        </p:txBody>
      </p:sp>
      <p:sp>
        <p:nvSpPr>
          <p:cNvPr id="195" name="Line 9"/>
          <p:cNvSpPr/>
          <p:nvPr/>
        </p:nvSpPr>
        <p:spPr>
          <a:xfrm>
            <a:off x="868680" y="2541960"/>
            <a:ext cx="4041360" cy="0"/>
          </a:xfrm>
          <a:prstGeom prst="line">
            <a:avLst/>
          </a:prstGeom>
          <a:ln w="12600">
            <a:solidFill>
              <a:srgbClr val="e8edf3"/>
            </a:solidFill>
            <a:round/>
          </a:ln>
        </p:spPr>
        <p:style>
          <a:lnRef idx="0"/>
          <a:fillRef idx="0"/>
          <a:effectRef idx="0"/>
          <a:fontRef idx="minor"/>
        </p:style>
      </p:sp>
      <p:sp>
        <p:nvSpPr>
          <p:cNvPr id="196" name="CustomShape 10"/>
          <p:cNvSpPr/>
          <p:nvPr/>
        </p:nvSpPr>
        <p:spPr>
          <a:xfrm>
            <a:off x="868680" y="2688480"/>
            <a:ext cx="14169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1" strike="noStrike">
                <a:solidFill>
                  <a:srgbClr val="64748b"/>
                </a:solidFill>
                <a:latin typeface="Arial"/>
              </a:rPr>
              <a:t>Category</a:t>
            </a:r>
            <a:endParaRPr b="0" lang="en-US" sz="1000" spc="-1" strike="noStrike">
              <a:latin typeface="Arial"/>
            </a:endParaRPr>
          </a:p>
        </p:txBody>
      </p:sp>
      <p:sp>
        <p:nvSpPr>
          <p:cNvPr id="197" name="CustomShape 11"/>
          <p:cNvSpPr/>
          <p:nvPr/>
        </p:nvSpPr>
        <p:spPr>
          <a:xfrm>
            <a:off x="2212920" y="2688480"/>
            <a:ext cx="274284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0b1f33"/>
                </a:solidFill>
                <a:latin typeface="Arial"/>
              </a:rPr>
              <a:t>Face &amp; Body Care</a:t>
            </a:r>
            <a:endParaRPr b="0" lang="en-US" sz="1050" spc="-1" strike="noStrike">
              <a:latin typeface="Arial"/>
            </a:endParaRPr>
          </a:p>
        </p:txBody>
      </p:sp>
      <p:sp>
        <p:nvSpPr>
          <p:cNvPr id="198" name="Line 12"/>
          <p:cNvSpPr/>
          <p:nvPr/>
        </p:nvSpPr>
        <p:spPr>
          <a:xfrm>
            <a:off x="868680" y="3017520"/>
            <a:ext cx="4041360" cy="0"/>
          </a:xfrm>
          <a:prstGeom prst="line">
            <a:avLst/>
          </a:prstGeom>
          <a:ln w="12600">
            <a:solidFill>
              <a:srgbClr val="e8edf3"/>
            </a:solidFill>
            <a:round/>
          </a:ln>
        </p:spPr>
        <p:style>
          <a:lnRef idx="0"/>
          <a:fillRef idx="0"/>
          <a:effectRef idx="0"/>
          <a:fontRef idx="minor"/>
        </p:style>
      </p:sp>
      <p:sp>
        <p:nvSpPr>
          <p:cNvPr id="199" name="CustomShape 13"/>
          <p:cNvSpPr/>
          <p:nvPr/>
        </p:nvSpPr>
        <p:spPr>
          <a:xfrm>
            <a:off x="868680" y="3163680"/>
            <a:ext cx="14169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1" strike="noStrike">
                <a:solidFill>
                  <a:srgbClr val="64748b"/>
                </a:solidFill>
                <a:latin typeface="Arial"/>
              </a:rPr>
              <a:t>Currency</a:t>
            </a:r>
            <a:endParaRPr b="0" lang="en-US" sz="1000" spc="-1" strike="noStrike">
              <a:latin typeface="Arial"/>
            </a:endParaRPr>
          </a:p>
        </p:txBody>
      </p:sp>
      <p:sp>
        <p:nvSpPr>
          <p:cNvPr id="200" name="CustomShape 14"/>
          <p:cNvSpPr/>
          <p:nvPr/>
        </p:nvSpPr>
        <p:spPr>
          <a:xfrm>
            <a:off x="2212920" y="3163680"/>
            <a:ext cx="274284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50" spc="-1" strike="noStrike">
                <a:solidFill>
                  <a:srgbClr val="0b1f33"/>
                </a:solidFill>
                <a:latin typeface="Arial"/>
              </a:rPr>
              <a:t>USD</a:t>
            </a:r>
            <a:endParaRPr b="0" lang="en-US" sz="1050" spc="-1" strike="noStrike">
              <a:latin typeface="Arial"/>
            </a:endParaRPr>
          </a:p>
        </p:txBody>
      </p:sp>
      <p:sp>
        <p:nvSpPr>
          <p:cNvPr id="201" name="Line 15"/>
          <p:cNvSpPr/>
          <p:nvPr/>
        </p:nvSpPr>
        <p:spPr>
          <a:xfrm>
            <a:off x="868680" y="3492720"/>
            <a:ext cx="4041360" cy="0"/>
          </a:xfrm>
          <a:prstGeom prst="line">
            <a:avLst/>
          </a:prstGeom>
          <a:ln w="12600">
            <a:solidFill>
              <a:srgbClr val="e8edf3"/>
            </a:solidFill>
            <a:round/>
          </a:ln>
        </p:spPr>
        <p:style>
          <a:lnRef idx="0"/>
          <a:fillRef idx="0"/>
          <a:effectRef idx="0"/>
          <a:fontRef idx="minor"/>
        </p:style>
      </p:sp>
      <p:sp>
        <p:nvSpPr>
          <p:cNvPr id="202" name="CustomShape 16"/>
          <p:cNvSpPr/>
          <p:nvPr/>
        </p:nvSpPr>
        <p:spPr>
          <a:xfrm>
            <a:off x="868680" y="3639240"/>
            <a:ext cx="14169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1" strike="noStrike">
                <a:solidFill>
                  <a:srgbClr val="64748b"/>
                </a:solidFill>
                <a:latin typeface="Arial"/>
              </a:rPr>
              <a:t>Period</a:t>
            </a:r>
            <a:endParaRPr b="0" lang="en-US" sz="1000" spc="-1" strike="noStrike">
              <a:latin typeface="Arial"/>
            </a:endParaRPr>
          </a:p>
        </p:txBody>
      </p:sp>
      <p:sp>
        <p:nvSpPr>
          <p:cNvPr id="203" name="CustomShape 17"/>
          <p:cNvSpPr/>
          <p:nvPr/>
        </p:nvSpPr>
        <p:spPr>
          <a:xfrm>
            <a:off x="2212920" y="3639240"/>
            <a:ext cx="274284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50" spc="-1" strike="noStrike">
                <a:solidFill>
                  <a:srgbClr val="0b1f33"/>
                </a:solidFill>
                <a:latin typeface="Arial"/>
              </a:rPr>
              <a:t>21 Nov 2020 - 19 May 2024</a:t>
            </a:r>
            <a:endParaRPr b="0" lang="en-US" sz="1050" spc="-1" strike="noStrike">
              <a:latin typeface="Arial"/>
            </a:endParaRPr>
          </a:p>
        </p:txBody>
      </p:sp>
      <p:sp>
        <p:nvSpPr>
          <p:cNvPr id="204" name="Line 18"/>
          <p:cNvSpPr/>
          <p:nvPr/>
        </p:nvSpPr>
        <p:spPr>
          <a:xfrm>
            <a:off x="868680" y="3968280"/>
            <a:ext cx="4041360" cy="0"/>
          </a:xfrm>
          <a:prstGeom prst="line">
            <a:avLst/>
          </a:prstGeom>
          <a:ln w="12600">
            <a:solidFill>
              <a:srgbClr val="e8edf3"/>
            </a:solidFill>
            <a:round/>
          </a:ln>
        </p:spPr>
        <p:style>
          <a:lnRef idx="0"/>
          <a:fillRef idx="0"/>
          <a:effectRef idx="0"/>
          <a:fontRef idx="minor"/>
        </p:style>
      </p:sp>
      <p:sp>
        <p:nvSpPr>
          <p:cNvPr id="205" name="CustomShape 19"/>
          <p:cNvSpPr/>
          <p:nvPr/>
        </p:nvSpPr>
        <p:spPr>
          <a:xfrm>
            <a:off x="868680" y="4114800"/>
            <a:ext cx="14169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1" strike="noStrike">
                <a:solidFill>
                  <a:srgbClr val="64748b"/>
                </a:solidFill>
                <a:latin typeface="Arial"/>
              </a:rPr>
              <a:t>Observations</a:t>
            </a:r>
            <a:endParaRPr b="0" lang="en-US" sz="1000" spc="-1" strike="noStrike">
              <a:latin typeface="Arial"/>
            </a:endParaRPr>
          </a:p>
        </p:txBody>
      </p:sp>
      <p:sp>
        <p:nvSpPr>
          <p:cNvPr id="206" name="CustomShape 20"/>
          <p:cNvSpPr/>
          <p:nvPr/>
        </p:nvSpPr>
        <p:spPr>
          <a:xfrm>
            <a:off x="2212920" y="4114800"/>
            <a:ext cx="274284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50" spc="-1" strike="noStrike">
                <a:solidFill>
                  <a:srgbClr val="0b1f33"/>
                </a:solidFill>
                <a:latin typeface="Arial"/>
              </a:rPr>
              <a:t>1,276 daily rows</a:t>
            </a:r>
            <a:endParaRPr b="0" lang="en-US" sz="1050" spc="-1" strike="noStrike">
              <a:latin typeface="Arial"/>
            </a:endParaRPr>
          </a:p>
        </p:txBody>
      </p:sp>
      <p:sp>
        <p:nvSpPr>
          <p:cNvPr id="207" name="Line 21"/>
          <p:cNvSpPr/>
          <p:nvPr/>
        </p:nvSpPr>
        <p:spPr>
          <a:xfrm>
            <a:off x="868680" y="4443840"/>
            <a:ext cx="4041360" cy="0"/>
          </a:xfrm>
          <a:prstGeom prst="line">
            <a:avLst/>
          </a:prstGeom>
          <a:ln w="12600">
            <a:solidFill>
              <a:srgbClr val="e8edf3"/>
            </a:solidFill>
            <a:round/>
          </a:ln>
        </p:spPr>
        <p:style>
          <a:lnRef idx="0"/>
          <a:fillRef idx="0"/>
          <a:effectRef idx="0"/>
          <a:fontRef idx="minor"/>
        </p:style>
      </p:sp>
      <p:sp>
        <p:nvSpPr>
          <p:cNvPr id="208" name="CustomShape 22"/>
          <p:cNvSpPr/>
          <p:nvPr/>
        </p:nvSpPr>
        <p:spPr>
          <a:xfrm>
            <a:off x="868680" y="4590360"/>
            <a:ext cx="14169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1" strike="noStrike">
                <a:solidFill>
                  <a:srgbClr val="64748b"/>
                </a:solidFill>
                <a:latin typeface="Arial"/>
              </a:rPr>
              <a:t>Paid channels</a:t>
            </a:r>
            <a:endParaRPr b="0" lang="en-US" sz="1000" spc="-1" strike="noStrike">
              <a:latin typeface="Arial"/>
            </a:endParaRPr>
          </a:p>
        </p:txBody>
      </p:sp>
      <p:sp>
        <p:nvSpPr>
          <p:cNvPr id="209" name="CustomShape 23"/>
          <p:cNvSpPr/>
          <p:nvPr/>
        </p:nvSpPr>
        <p:spPr>
          <a:xfrm>
            <a:off x="2212920" y="4590360"/>
            <a:ext cx="274284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50" spc="-1" strike="noStrike">
                <a:solidFill>
                  <a:srgbClr val="0b1f33"/>
                </a:solidFill>
                <a:latin typeface="Arial"/>
              </a:rPr>
              <a:t>6</a:t>
            </a:r>
            <a:endParaRPr b="0" lang="en-US" sz="1050" spc="-1" strike="noStrike">
              <a:latin typeface="Arial"/>
            </a:endParaRPr>
          </a:p>
        </p:txBody>
      </p:sp>
      <p:sp>
        <p:nvSpPr>
          <p:cNvPr id="210" name="Line 24"/>
          <p:cNvSpPr/>
          <p:nvPr/>
        </p:nvSpPr>
        <p:spPr>
          <a:xfrm>
            <a:off x="868680" y="4919400"/>
            <a:ext cx="4041360" cy="0"/>
          </a:xfrm>
          <a:prstGeom prst="line">
            <a:avLst/>
          </a:prstGeom>
          <a:ln w="12600">
            <a:solidFill>
              <a:srgbClr val="e8edf3"/>
            </a:solidFill>
            <a:round/>
          </a:ln>
        </p:spPr>
        <p:style>
          <a:lnRef idx="0"/>
          <a:fillRef idx="0"/>
          <a:effectRef idx="0"/>
          <a:fontRef idx="minor"/>
        </p:style>
      </p:sp>
      <p:sp>
        <p:nvSpPr>
          <p:cNvPr id="211" name="CustomShape 25"/>
          <p:cNvSpPr/>
          <p:nvPr/>
        </p:nvSpPr>
        <p:spPr>
          <a:xfrm>
            <a:off x="868680" y="5065920"/>
            <a:ext cx="14169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1" strike="noStrike">
                <a:solidFill>
                  <a:srgbClr val="64748b"/>
                </a:solidFill>
                <a:latin typeface="Arial"/>
              </a:rPr>
              <a:t>Control variables</a:t>
            </a:r>
            <a:endParaRPr b="0" lang="en-US" sz="1000" spc="-1" strike="noStrike">
              <a:latin typeface="Arial"/>
            </a:endParaRPr>
          </a:p>
        </p:txBody>
      </p:sp>
      <p:sp>
        <p:nvSpPr>
          <p:cNvPr id="212" name="CustomShape 26"/>
          <p:cNvSpPr/>
          <p:nvPr/>
        </p:nvSpPr>
        <p:spPr>
          <a:xfrm>
            <a:off x="2212920" y="5065920"/>
            <a:ext cx="274284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50" spc="-1" strike="noStrike">
                <a:solidFill>
                  <a:srgbClr val="0b1f33"/>
                </a:solidFill>
                <a:latin typeface="Arial"/>
              </a:rPr>
              <a:t>16</a:t>
            </a:r>
            <a:endParaRPr b="0" lang="en-US" sz="1050" spc="-1" strike="noStrike">
              <a:latin typeface="Arial"/>
            </a:endParaRPr>
          </a:p>
        </p:txBody>
      </p:sp>
      <p:sp>
        <p:nvSpPr>
          <p:cNvPr id="213" name="CustomShape 27"/>
          <p:cNvSpPr/>
          <p:nvPr/>
        </p:nvSpPr>
        <p:spPr>
          <a:xfrm>
            <a:off x="5742360" y="1444680"/>
            <a:ext cx="2815920" cy="4407120"/>
          </a:xfrm>
          <a:prstGeom prst="roundRect">
            <a:avLst>
              <a:gd name="adj" fmla="val 1948"/>
            </a:avLst>
          </a:prstGeom>
          <a:solidFill>
            <a:srgbClr val="ffffff"/>
          </a:solidFill>
          <a:ln w="12600">
            <a:solidFill>
              <a:srgbClr val="d9e2ec"/>
            </a:solidFill>
            <a:round/>
          </a:ln>
          <a:effectLst>
            <a:outerShdw algn="bl" blurRad="5" dir="0" dist="0" kx="0" ky="0" rotWithShape="0" sx="100000" sy="100000">
              <a:srgbClr val="000000">
                <a:alpha val="0"/>
              </a:srgbClr>
            </a:outerShdw>
          </a:effectLst>
        </p:spPr>
        <p:style>
          <a:lnRef idx="0"/>
          <a:fillRef idx="0"/>
          <a:effectRef idx="0"/>
          <a:fontRef idx="minor"/>
        </p:style>
      </p:sp>
      <p:pic>
        <p:nvPicPr>
          <p:cNvPr id="214" name="Image 0" descr="/mnt/data/mmm_deck_assets/spend_share_donut.png"/>
          <p:cNvPicPr/>
          <p:nvPr/>
        </p:nvPicPr>
        <p:blipFill>
          <a:blip r:embed="rId1"/>
          <a:stretch/>
        </p:blipFill>
        <p:spPr>
          <a:xfrm>
            <a:off x="5833800" y="2068920"/>
            <a:ext cx="2633040" cy="3158280"/>
          </a:xfrm>
          <a:prstGeom prst="rect">
            <a:avLst/>
          </a:prstGeom>
          <a:ln>
            <a:noFill/>
          </a:ln>
        </p:spPr>
      </p:pic>
      <p:sp>
        <p:nvSpPr>
          <p:cNvPr id="215" name="CustomShape 28"/>
          <p:cNvSpPr/>
          <p:nvPr/>
        </p:nvSpPr>
        <p:spPr>
          <a:xfrm>
            <a:off x="8796600" y="1444680"/>
            <a:ext cx="2815920" cy="4407120"/>
          </a:xfrm>
          <a:prstGeom prst="roundRect">
            <a:avLst>
              <a:gd name="adj" fmla="val 2597"/>
            </a:avLst>
          </a:prstGeom>
          <a:solidFill>
            <a:srgbClr val="ffffff"/>
          </a:solidFill>
          <a:ln w="12600">
            <a:solidFill>
              <a:srgbClr val="d9e2ec"/>
            </a:solidFill>
            <a:round/>
          </a:ln>
          <a:effectLst>
            <a:outerShdw algn="bl" blurRad="7" dir="0" dist="0" kx="0" ky="0" rotWithShape="0" sx="100000" sy="100000">
              <a:srgbClr val="000000">
                <a:alpha val="0"/>
              </a:srgbClr>
            </a:outerShdw>
          </a:effectLst>
        </p:spPr>
        <p:style>
          <a:lnRef idx="0"/>
          <a:fillRef idx="0"/>
          <a:effectRef idx="0"/>
          <a:fontRef idx="minor"/>
        </p:style>
      </p:sp>
      <p:sp>
        <p:nvSpPr>
          <p:cNvPr id="216" name="CustomShape 29"/>
          <p:cNvSpPr/>
          <p:nvPr/>
        </p:nvSpPr>
        <p:spPr>
          <a:xfrm>
            <a:off x="9052560" y="1691640"/>
            <a:ext cx="2304000" cy="319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600" spc="-1" strike="noStrike">
                <a:solidFill>
                  <a:srgbClr val="0b1f33"/>
                </a:solidFill>
                <a:latin typeface="Arial"/>
              </a:rPr>
              <a:t>Channels retained</a:t>
            </a:r>
            <a:endParaRPr b="0" lang="en-US" sz="1600" spc="-1" strike="noStrike">
              <a:latin typeface="Arial"/>
            </a:endParaRPr>
          </a:p>
        </p:txBody>
      </p:sp>
      <p:sp>
        <p:nvSpPr>
          <p:cNvPr id="217" name="CustomShape 30"/>
          <p:cNvSpPr/>
          <p:nvPr/>
        </p:nvSpPr>
        <p:spPr>
          <a:xfrm>
            <a:off x="9089280" y="2212920"/>
            <a:ext cx="2175840" cy="310680"/>
          </a:xfrm>
          <a:prstGeom prst="roundRect">
            <a:avLst>
              <a:gd name="adj" fmla="val 23529"/>
            </a:avLst>
          </a:prstGeom>
          <a:solidFill>
            <a:srgbClr val="e8f0ff"/>
          </a:solidFill>
          <a:ln w="12600">
            <a:solidFill>
              <a:srgbClr val="e8f0ff"/>
            </a:solidFill>
            <a:round/>
          </a:ln>
        </p:spPr>
        <p:style>
          <a:lnRef idx="0"/>
          <a:fillRef idx="0"/>
          <a:effectRef idx="0"/>
          <a:fontRef idx="minor"/>
        </p:style>
      </p:sp>
      <p:sp>
        <p:nvSpPr>
          <p:cNvPr id="218" name="CustomShape 31"/>
          <p:cNvSpPr/>
          <p:nvPr/>
        </p:nvSpPr>
        <p:spPr>
          <a:xfrm>
            <a:off x="9171360" y="2272320"/>
            <a:ext cx="201132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Google Paid Search</a:t>
            </a:r>
            <a:endParaRPr b="0" lang="en-US" sz="900" spc="-1" strike="noStrike">
              <a:latin typeface="Arial"/>
            </a:endParaRPr>
          </a:p>
        </p:txBody>
      </p:sp>
      <p:sp>
        <p:nvSpPr>
          <p:cNvPr id="219" name="CustomShape 32"/>
          <p:cNvSpPr/>
          <p:nvPr/>
        </p:nvSpPr>
        <p:spPr>
          <a:xfrm>
            <a:off x="9089280" y="2715840"/>
            <a:ext cx="2175840" cy="310680"/>
          </a:xfrm>
          <a:prstGeom prst="roundRect">
            <a:avLst>
              <a:gd name="adj" fmla="val 23529"/>
            </a:avLst>
          </a:prstGeom>
          <a:solidFill>
            <a:srgbClr val="e8f0ff"/>
          </a:solidFill>
          <a:ln w="12600">
            <a:solidFill>
              <a:srgbClr val="e8f0ff"/>
            </a:solidFill>
            <a:round/>
          </a:ln>
        </p:spPr>
        <p:style>
          <a:lnRef idx="0"/>
          <a:fillRef idx="0"/>
          <a:effectRef idx="0"/>
          <a:fontRef idx="minor"/>
        </p:style>
      </p:sp>
      <p:sp>
        <p:nvSpPr>
          <p:cNvPr id="220" name="CustomShape 33"/>
          <p:cNvSpPr/>
          <p:nvPr/>
        </p:nvSpPr>
        <p:spPr>
          <a:xfrm>
            <a:off x="9171360" y="2775240"/>
            <a:ext cx="201132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Google Shopping</a:t>
            </a:r>
            <a:endParaRPr b="0" lang="en-US" sz="900" spc="-1" strike="noStrike">
              <a:latin typeface="Arial"/>
            </a:endParaRPr>
          </a:p>
        </p:txBody>
      </p:sp>
      <p:sp>
        <p:nvSpPr>
          <p:cNvPr id="221" name="CustomShape 34"/>
          <p:cNvSpPr/>
          <p:nvPr/>
        </p:nvSpPr>
        <p:spPr>
          <a:xfrm>
            <a:off x="9089280" y="3218760"/>
            <a:ext cx="2175840" cy="310680"/>
          </a:xfrm>
          <a:prstGeom prst="roundRect">
            <a:avLst>
              <a:gd name="adj" fmla="val 23529"/>
            </a:avLst>
          </a:prstGeom>
          <a:solidFill>
            <a:srgbClr val="e8f0ff"/>
          </a:solidFill>
          <a:ln w="12600">
            <a:solidFill>
              <a:srgbClr val="e8f0ff"/>
            </a:solidFill>
            <a:round/>
          </a:ln>
        </p:spPr>
        <p:style>
          <a:lnRef idx="0"/>
          <a:fillRef idx="0"/>
          <a:effectRef idx="0"/>
          <a:fontRef idx="minor"/>
        </p:style>
      </p:sp>
      <p:sp>
        <p:nvSpPr>
          <p:cNvPr id="222" name="CustomShape 35"/>
          <p:cNvSpPr/>
          <p:nvPr/>
        </p:nvSpPr>
        <p:spPr>
          <a:xfrm>
            <a:off x="9171360" y="3278160"/>
            <a:ext cx="201132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Google PMAX</a:t>
            </a:r>
            <a:endParaRPr b="0" lang="en-US" sz="900" spc="-1" strike="noStrike">
              <a:latin typeface="Arial"/>
            </a:endParaRPr>
          </a:p>
        </p:txBody>
      </p:sp>
      <p:sp>
        <p:nvSpPr>
          <p:cNvPr id="223" name="CustomShape 36"/>
          <p:cNvSpPr/>
          <p:nvPr/>
        </p:nvSpPr>
        <p:spPr>
          <a:xfrm>
            <a:off x="9089280" y="3721680"/>
            <a:ext cx="2175840" cy="310680"/>
          </a:xfrm>
          <a:prstGeom prst="roundRect">
            <a:avLst>
              <a:gd name="adj" fmla="val 23529"/>
            </a:avLst>
          </a:prstGeom>
          <a:solidFill>
            <a:srgbClr val="e8f0ff"/>
          </a:solidFill>
          <a:ln w="12600">
            <a:solidFill>
              <a:srgbClr val="e8f0ff"/>
            </a:solidFill>
            <a:round/>
          </a:ln>
        </p:spPr>
        <p:style>
          <a:lnRef idx="0"/>
          <a:fillRef idx="0"/>
          <a:effectRef idx="0"/>
          <a:fontRef idx="minor"/>
        </p:style>
      </p:sp>
      <p:sp>
        <p:nvSpPr>
          <p:cNvPr id="224" name="CustomShape 37"/>
          <p:cNvSpPr/>
          <p:nvPr/>
        </p:nvSpPr>
        <p:spPr>
          <a:xfrm>
            <a:off x="9171360" y="3781080"/>
            <a:ext cx="201132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Google Video</a:t>
            </a:r>
            <a:endParaRPr b="0" lang="en-US" sz="900" spc="-1" strike="noStrike">
              <a:latin typeface="Arial"/>
            </a:endParaRPr>
          </a:p>
        </p:txBody>
      </p:sp>
      <p:sp>
        <p:nvSpPr>
          <p:cNvPr id="225" name="CustomShape 38"/>
          <p:cNvSpPr/>
          <p:nvPr/>
        </p:nvSpPr>
        <p:spPr>
          <a:xfrm>
            <a:off x="9089280" y="4224600"/>
            <a:ext cx="2175840" cy="310680"/>
          </a:xfrm>
          <a:prstGeom prst="roundRect">
            <a:avLst>
              <a:gd name="adj" fmla="val 23529"/>
            </a:avLst>
          </a:prstGeom>
          <a:solidFill>
            <a:srgbClr val="e7f0ff"/>
          </a:solidFill>
          <a:ln w="12600">
            <a:solidFill>
              <a:srgbClr val="e7f0ff"/>
            </a:solidFill>
            <a:round/>
          </a:ln>
        </p:spPr>
        <p:style>
          <a:lnRef idx="0"/>
          <a:fillRef idx="0"/>
          <a:effectRef idx="0"/>
          <a:fontRef idx="minor"/>
        </p:style>
      </p:sp>
      <p:sp>
        <p:nvSpPr>
          <p:cNvPr id="226" name="CustomShape 39"/>
          <p:cNvSpPr/>
          <p:nvPr/>
        </p:nvSpPr>
        <p:spPr>
          <a:xfrm>
            <a:off x="9171360" y="4284000"/>
            <a:ext cx="201132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Meta Facebook</a:t>
            </a:r>
            <a:endParaRPr b="0" lang="en-US" sz="900" spc="-1" strike="noStrike">
              <a:latin typeface="Arial"/>
            </a:endParaRPr>
          </a:p>
        </p:txBody>
      </p:sp>
      <p:sp>
        <p:nvSpPr>
          <p:cNvPr id="227" name="CustomShape 40"/>
          <p:cNvSpPr/>
          <p:nvPr/>
        </p:nvSpPr>
        <p:spPr>
          <a:xfrm>
            <a:off x="9089280" y="4727520"/>
            <a:ext cx="2175840" cy="310680"/>
          </a:xfrm>
          <a:prstGeom prst="roundRect">
            <a:avLst>
              <a:gd name="adj" fmla="val 23529"/>
            </a:avLst>
          </a:prstGeom>
          <a:solidFill>
            <a:srgbClr val="fce7f3"/>
          </a:solidFill>
          <a:ln w="12600">
            <a:solidFill>
              <a:srgbClr val="fce7f3"/>
            </a:solidFill>
            <a:round/>
          </a:ln>
        </p:spPr>
        <p:style>
          <a:lnRef idx="0"/>
          <a:fillRef idx="0"/>
          <a:effectRef idx="0"/>
          <a:fontRef idx="minor"/>
        </p:style>
      </p:sp>
      <p:sp>
        <p:nvSpPr>
          <p:cNvPr id="228" name="CustomShape 41"/>
          <p:cNvSpPr/>
          <p:nvPr/>
        </p:nvSpPr>
        <p:spPr>
          <a:xfrm>
            <a:off x="9171360" y="4786920"/>
            <a:ext cx="201132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ec4899"/>
                </a:solidFill>
                <a:latin typeface="Arial"/>
              </a:rPr>
              <a:t>Meta Instagram</a:t>
            </a:r>
            <a:endParaRPr b="0" lang="en-US" sz="900" spc="-1" strike="noStrike">
              <a:latin typeface="Arial"/>
            </a:endParaRPr>
          </a:p>
        </p:txBody>
      </p:sp>
      <p:sp>
        <p:nvSpPr>
          <p:cNvPr id="229" name="CustomShape 42"/>
          <p:cNvSpPr/>
          <p:nvPr/>
        </p:nvSpPr>
        <p:spPr>
          <a:xfrm>
            <a:off x="9070920" y="5376600"/>
            <a:ext cx="2212560" cy="347040"/>
          </a:xfrm>
          <a:prstGeom prst="rect">
            <a:avLst/>
          </a:prstGeom>
          <a:noFill/>
          <a:ln>
            <a:noFill/>
          </a:ln>
        </p:spPr>
        <p:style>
          <a:lnRef idx="0"/>
          <a:fillRef idx="0"/>
          <a:effectRef idx="0"/>
          <a:fontRef idx="minor"/>
        </p:style>
        <p:txBody>
          <a:bodyPr lIns="0" rIns="0" tIns="0" bIns="0" anchor="ctr">
            <a:normAutofit fontScale="61000"/>
          </a:bodyPr>
          <a:p>
            <a:pPr>
              <a:lnSpc>
                <a:spcPct val="100000"/>
              </a:lnSpc>
              <a:tabLst>
                <a:tab algn="l" pos="0"/>
              </a:tabLst>
            </a:pPr>
            <a:r>
              <a:rPr b="0" lang="en-US" sz="839" spc="-1" strike="noStrike">
                <a:solidFill>
                  <a:srgbClr val="64748b"/>
                </a:solidFill>
                <a:latin typeface="Arial"/>
              </a:rPr>
              <a:t>Why one organization?</a:t>
            </a:r>
            <a:endParaRPr b="0" lang="en-US" sz="839" spc="-1" strike="noStrike">
              <a:latin typeface="Arial"/>
            </a:endParaRPr>
          </a:p>
          <a:p>
            <a:pPr>
              <a:lnSpc>
                <a:spcPct val="100000"/>
              </a:lnSpc>
              <a:tabLst>
                <a:tab algn="l" pos="0"/>
              </a:tabLst>
            </a:pPr>
            <a:r>
              <a:rPr b="0" lang="en-US" sz="839" spc="-1" strike="noStrike">
                <a:solidFill>
                  <a:srgbClr val="64748b"/>
                </a:solidFill>
                <a:latin typeface="Arial"/>
              </a:rPr>
              <a:t>A complete, continuous daily series avoids mixing different currencies, business models and demand patterns.</a:t>
            </a:r>
            <a:endParaRPr b="0" lang="en-US" sz="839" spc="-1" strike="noStrike">
              <a:latin typeface="Arial"/>
            </a:endParaRPr>
          </a:p>
        </p:txBody>
      </p:sp>
      <p:sp>
        <p:nvSpPr>
          <p:cNvPr id="230" name="TextShape 43"/>
          <p:cNvSpPr txBox="1"/>
          <p:nvPr/>
        </p:nvSpPr>
        <p:spPr>
          <a:xfrm>
            <a:off x="11228760" y="6519600"/>
            <a:ext cx="411120" cy="200880"/>
          </a:xfrm>
          <a:prstGeom prst="rect">
            <a:avLst/>
          </a:prstGeom>
          <a:noFill/>
          <a:ln>
            <a:noFill/>
          </a:ln>
        </p:spPr>
        <p:txBody>
          <a:bodyPr lIns="0" rIns="0" tIns="0" bIns="0">
            <a:noAutofit/>
          </a:bodyPr>
          <a:p>
            <a:pPr algn="r">
              <a:lnSpc>
                <a:spcPct val="100000"/>
              </a:lnSpc>
            </a:pPr>
            <a:fld id="{5E253F2E-54B9-4774-AF63-30A72207F931}"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31"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Exploratory analysis</a:t>
            </a:r>
            <a:endParaRPr b="0" lang="en-US" sz="2600" spc="-1" strike="noStrike">
              <a:latin typeface="Arial"/>
            </a:endParaRPr>
          </a:p>
        </p:txBody>
      </p:sp>
      <p:sp>
        <p:nvSpPr>
          <p:cNvPr id="232"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Seasonality and spend concentration are material features of this business.</a:t>
            </a:r>
            <a:endParaRPr b="0" lang="en-US" sz="1050" spc="-1" strike="noStrike">
              <a:latin typeface="Arial"/>
            </a:endParaRPr>
          </a:p>
        </p:txBody>
      </p:sp>
      <p:sp>
        <p:nvSpPr>
          <p:cNvPr id="233"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234"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TASK 1 · 10 POINTS</a:t>
            </a:r>
            <a:endParaRPr b="0" lang="en-US" sz="900" spc="-1" strike="noStrike">
              <a:latin typeface="Arial"/>
            </a:endParaRPr>
          </a:p>
        </p:txBody>
      </p:sp>
      <p:sp>
        <p:nvSpPr>
          <p:cNvPr id="235" name="CustomShape 5"/>
          <p:cNvSpPr/>
          <p:nvPr/>
        </p:nvSpPr>
        <p:spPr>
          <a:xfrm>
            <a:off x="567000" y="1417320"/>
            <a:ext cx="7452000" cy="4498560"/>
          </a:xfrm>
          <a:prstGeom prst="roundRect">
            <a:avLst>
              <a:gd name="adj" fmla="val 1220"/>
            </a:avLst>
          </a:prstGeom>
          <a:solidFill>
            <a:srgbClr val="ffffff"/>
          </a:solidFill>
          <a:ln w="12600">
            <a:solidFill>
              <a:srgbClr val="d9e2ec"/>
            </a:solidFill>
            <a:round/>
          </a:ln>
          <a:effectLst>
            <a:outerShdw algn="bl" blurRad="9" dir="0" dist="0" kx="0" ky="0" rotWithShape="0" sx="100000" sy="100000">
              <a:srgbClr val="000000">
                <a:alpha val="0"/>
              </a:srgbClr>
            </a:outerShdw>
          </a:effectLst>
        </p:spPr>
        <p:style>
          <a:lnRef idx="0"/>
          <a:fillRef idx="0"/>
          <a:effectRef idx="0"/>
          <a:fontRef idx="minor"/>
        </p:style>
      </p:sp>
      <p:pic>
        <p:nvPicPr>
          <p:cNvPr id="236" name="Image 0" descr="/mnt/data/weekly_media_spend_trends(1).png"/>
          <p:cNvPicPr/>
          <p:nvPr/>
        </p:nvPicPr>
        <p:blipFill>
          <a:blip r:embed="rId1"/>
          <a:stretch/>
        </p:blipFill>
        <p:spPr>
          <a:xfrm>
            <a:off x="658440" y="1996560"/>
            <a:ext cx="7269120" cy="3339720"/>
          </a:xfrm>
          <a:prstGeom prst="rect">
            <a:avLst/>
          </a:prstGeom>
          <a:ln>
            <a:noFill/>
          </a:ln>
        </p:spPr>
      </p:pic>
      <p:sp>
        <p:nvSpPr>
          <p:cNvPr id="237" name="CustomShape 6"/>
          <p:cNvSpPr/>
          <p:nvPr/>
        </p:nvSpPr>
        <p:spPr>
          <a:xfrm>
            <a:off x="8247960" y="1417320"/>
            <a:ext cx="3355560" cy="987120"/>
          </a:xfrm>
          <a:prstGeom prst="roundRect">
            <a:avLst>
              <a:gd name="adj" fmla="val 7407"/>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238" name="CustomShape 7"/>
          <p:cNvSpPr/>
          <p:nvPr/>
        </p:nvSpPr>
        <p:spPr>
          <a:xfrm>
            <a:off x="8412480" y="1581840"/>
            <a:ext cx="438480" cy="438480"/>
          </a:xfrm>
          <a:prstGeom prst="roundRect">
            <a:avLst>
              <a:gd name="adj" fmla="val 16667"/>
            </a:avLst>
          </a:prstGeom>
          <a:solidFill>
            <a:srgbClr val="ec4899"/>
          </a:solidFill>
          <a:ln w="12600">
            <a:solidFill>
              <a:srgbClr val="ec4899"/>
            </a:solidFill>
            <a:round/>
          </a:ln>
        </p:spPr>
        <p:style>
          <a:lnRef idx="0"/>
          <a:fillRef idx="0"/>
          <a:effectRef idx="0"/>
          <a:fontRef idx="minor"/>
        </p:style>
      </p:sp>
      <p:sp>
        <p:nvSpPr>
          <p:cNvPr id="239" name="CustomShape 8"/>
          <p:cNvSpPr/>
          <p:nvPr/>
        </p:nvSpPr>
        <p:spPr>
          <a:xfrm>
            <a:off x="8961120" y="1581840"/>
            <a:ext cx="247752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Spend concentration</a:t>
            </a:r>
            <a:endParaRPr b="0" lang="en-US" sz="1400" spc="-1" strike="noStrike">
              <a:latin typeface="Arial"/>
            </a:endParaRPr>
          </a:p>
        </p:txBody>
      </p:sp>
      <p:sp>
        <p:nvSpPr>
          <p:cNvPr id="240" name="CustomShape 9"/>
          <p:cNvSpPr/>
          <p:nvPr/>
        </p:nvSpPr>
        <p:spPr>
          <a:xfrm>
            <a:off x="8449200" y="2121480"/>
            <a:ext cx="2953080" cy="127800"/>
          </a:xfrm>
          <a:prstGeom prst="rect">
            <a:avLst/>
          </a:prstGeom>
          <a:noFill/>
          <a:ln>
            <a:noFill/>
          </a:ln>
        </p:spPr>
        <p:style>
          <a:lnRef idx="0"/>
          <a:fillRef idx="0"/>
          <a:effectRef idx="0"/>
          <a:fontRef idx="minor"/>
        </p:style>
        <p:txBody>
          <a:bodyPr lIns="0" rIns="0" tIns="0" bIns="0">
            <a:normAutofit fontScale="27000"/>
          </a:bodyPr>
          <a:p>
            <a:pPr>
              <a:lnSpc>
                <a:spcPct val="100000"/>
              </a:lnSpc>
              <a:tabLst>
                <a:tab algn="l" pos="0"/>
              </a:tabLst>
            </a:pPr>
            <a:r>
              <a:rPr b="0" lang="en-US" sz="1050" spc="-1" strike="noStrike">
                <a:solidFill>
                  <a:srgbClr val="64748b"/>
                </a:solidFill>
                <a:latin typeface="Arial"/>
              </a:rPr>
              <a:t>Facebook and Instagram absorbed 89% of historical spend.</a:t>
            </a:r>
            <a:endParaRPr b="0" lang="en-US" sz="1050" spc="-1" strike="noStrike">
              <a:latin typeface="Arial"/>
            </a:endParaRPr>
          </a:p>
        </p:txBody>
      </p:sp>
      <p:sp>
        <p:nvSpPr>
          <p:cNvPr id="241" name="CustomShape 10"/>
          <p:cNvSpPr/>
          <p:nvPr/>
        </p:nvSpPr>
        <p:spPr>
          <a:xfrm>
            <a:off x="8247960" y="2578680"/>
            <a:ext cx="3355560" cy="987120"/>
          </a:xfrm>
          <a:prstGeom prst="roundRect">
            <a:avLst>
              <a:gd name="adj" fmla="val 7407"/>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242" name="CustomShape 11"/>
          <p:cNvSpPr/>
          <p:nvPr/>
        </p:nvSpPr>
        <p:spPr>
          <a:xfrm>
            <a:off x="8412480" y="2743200"/>
            <a:ext cx="438480" cy="438480"/>
          </a:xfrm>
          <a:prstGeom prst="roundRect">
            <a:avLst>
              <a:gd name="adj" fmla="val 16667"/>
            </a:avLst>
          </a:prstGeom>
          <a:solidFill>
            <a:srgbClr val="f59e0b"/>
          </a:solidFill>
          <a:ln w="12600">
            <a:solidFill>
              <a:srgbClr val="f59e0b"/>
            </a:solidFill>
            <a:round/>
          </a:ln>
        </p:spPr>
        <p:style>
          <a:lnRef idx="0"/>
          <a:fillRef idx="0"/>
          <a:effectRef idx="0"/>
          <a:fontRef idx="minor"/>
        </p:style>
      </p:sp>
      <p:sp>
        <p:nvSpPr>
          <p:cNvPr id="243" name="CustomShape 12"/>
          <p:cNvSpPr/>
          <p:nvPr/>
        </p:nvSpPr>
        <p:spPr>
          <a:xfrm>
            <a:off x="8961120" y="2743200"/>
            <a:ext cx="247752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Seasonality</a:t>
            </a:r>
            <a:endParaRPr b="0" lang="en-US" sz="1400" spc="-1" strike="noStrike">
              <a:latin typeface="Arial"/>
            </a:endParaRPr>
          </a:p>
        </p:txBody>
      </p:sp>
      <p:sp>
        <p:nvSpPr>
          <p:cNvPr id="244" name="CustomShape 13"/>
          <p:cNvSpPr/>
          <p:nvPr/>
        </p:nvSpPr>
        <p:spPr>
          <a:xfrm>
            <a:off x="8449200" y="3282840"/>
            <a:ext cx="2953080" cy="127800"/>
          </a:xfrm>
          <a:prstGeom prst="rect">
            <a:avLst/>
          </a:prstGeom>
          <a:noFill/>
          <a:ln>
            <a:noFill/>
          </a:ln>
        </p:spPr>
        <p:style>
          <a:lnRef idx="0"/>
          <a:fillRef idx="0"/>
          <a:effectRef idx="0"/>
          <a:fontRef idx="minor"/>
        </p:style>
        <p:txBody>
          <a:bodyPr lIns="0" rIns="0" tIns="0" bIns="0">
            <a:normAutofit fontScale="27000"/>
          </a:bodyPr>
          <a:p>
            <a:pPr>
              <a:lnSpc>
                <a:spcPct val="100000"/>
              </a:lnSpc>
              <a:tabLst>
                <a:tab algn="l" pos="0"/>
              </a:tabLst>
            </a:pPr>
            <a:r>
              <a:rPr b="0" lang="en-US" sz="1050" spc="-1" strike="noStrike">
                <a:solidFill>
                  <a:srgbClr val="64748b"/>
                </a:solidFill>
                <a:latin typeface="Arial"/>
              </a:rPr>
              <a:t>Sunday was the strongest weekday; November and Black Friday produced the largest spikes.</a:t>
            </a:r>
            <a:endParaRPr b="0" lang="en-US" sz="1050" spc="-1" strike="noStrike">
              <a:latin typeface="Arial"/>
            </a:endParaRPr>
          </a:p>
        </p:txBody>
      </p:sp>
      <p:sp>
        <p:nvSpPr>
          <p:cNvPr id="245" name="CustomShape 14"/>
          <p:cNvSpPr/>
          <p:nvPr/>
        </p:nvSpPr>
        <p:spPr>
          <a:xfrm>
            <a:off x="8247960" y="3740040"/>
            <a:ext cx="3355560" cy="987120"/>
          </a:xfrm>
          <a:prstGeom prst="roundRect">
            <a:avLst>
              <a:gd name="adj" fmla="val 7407"/>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246" name="CustomShape 15"/>
          <p:cNvSpPr/>
          <p:nvPr/>
        </p:nvSpPr>
        <p:spPr>
          <a:xfrm>
            <a:off x="8412480" y="3904560"/>
            <a:ext cx="438480" cy="438480"/>
          </a:xfrm>
          <a:prstGeom prst="roundRect">
            <a:avLst>
              <a:gd name="adj" fmla="val 16667"/>
            </a:avLst>
          </a:prstGeom>
          <a:solidFill>
            <a:srgbClr val="2563eb"/>
          </a:solidFill>
          <a:ln w="12600">
            <a:solidFill>
              <a:srgbClr val="2563eb"/>
            </a:solidFill>
            <a:round/>
          </a:ln>
        </p:spPr>
        <p:style>
          <a:lnRef idx="0"/>
          <a:fillRef idx="0"/>
          <a:effectRef idx="0"/>
          <a:fontRef idx="minor"/>
        </p:style>
      </p:sp>
      <p:sp>
        <p:nvSpPr>
          <p:cNvPr id="247" name="CustomShape 16"/>
          <p:cNvSpPr/>
          <p:nvPr/>
        </p:nvSpPr>
        <p:spPr>
          <a:xfrm>
            <a:off x="8961120" y="3904560"/>
            <a:ext cx="247752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Outliers</a:t>
            </a:r>
            <a:endParaRPr b="0" lang="en-US" sz="1400" spc="-1" strike="noStrike">
              <a:latin typeface="Arial"/>
            </a:endParaRPr>
          </a:p>
        </p:txBody>
      </p:sp>
      <p:sp>
        <p:nvSpPr>
          <p:cNvPr id="248" name="CustomShape 17"/>
          <p:cNvSpPr/>
          <p:nvPr/>
        </p:nvSpPr>
        <p:spPr>
          <a:xfrm>
            <a:off x="8449200" y="4443840"/>
            <a:ext cx="2953080" cy="127800"/>
          </a:xfrm>
          <a:prstGeom prst="rect">
            <a:avLst/>
          </a:prstGeom>
          <a:noFill/>
          <a:ln>
            <a:noFill/>
          </a:ln>
        </p:spPr>
        <p:style>
          <a:lnRef idx="0"/>
          <a:fillRef idx="0"/>
          <a:effectRef idx="0"/>
          <a:fontRef idx="minor"/>
        </p:style>
        <p:txBody>
          <a:bodyPr lIns="0" rIns="0" tIns="0" bIns="0">
            <a:normAutofit fontScale="27000"/>
          </a:bodyPr>
          <a:p>
            <a:pPr>
              <a:lnSpc>
                <a:spcPct val="100000"/>
              </a:lnSpc>
              <a:tabLst>
                <a:tab algn="l" pos="0"/>
              </a:tabLst>
            </a:pPr>
            <a:r>
              <a:rPr b="0" lang="en-US" sz="1050" spc="-1" strike="noStrike">
                <a:solidFill>
                  <a:srgbClr val="64748b"/>
                </a:solidFill>
                <a:latin typeface="Arial"/>
              </a:rPr>
              <a:t>15 purchase outliers were retained because they reflect real promotional demand.</a:t>
            </a:r>
            <a:endParaRPr b="0" lang="en-US" sz="1050" spc="-1" strike="noStrike">
              <a:latin typeface="Arial"/>
            </a:endParaRPr>
          </a:p>
        </p:txBody>
      </p:sp>
      <p:sp>
        <p:nvSpPr>
          <p:cNvPr id="249" name="CustomShape 18"/>
          <p:cNvSpPr/>
          <p:nvPr/>
        </p:nvSpPr>
        <p:spPr>
          <a:xfrm>
            <a:off x="8247960" y="4901040"/>
            <a:ext cx="3355560" cy="987120"/>
          </a:xfrm>
          <a:prstGeom prst="roundRect">
            <a:avLst>
              <a:gd name="adj" fmla="val 7407"/>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250" name="CustomShape 19"/>
          <p:cNvSpPr/>
          <p:nvPr/>
        </p:nvSpPr>
        <p:spPr>
          <a:xfrm>
            <a:off x="8412480" y="5065920"/>
            <a:ext cx="438480" cy="438480"/>
          </a:xfrm>
          <a:prstGeom prst="roundRect">
            <a:avLst>
              <a:gd name="adj" fmla="val 16667"/>
            </a:avLst>
          </a:prstGeom>
          <a:solidFill>
            <a:srgbClr val="0ea5a4"/>
          </a:solidFill>
          <a:ln w="12600">
            <a:solidFill>
              <a:srgbClr val="0ea5a4"/>
            </a:solidFill>
            <a:round/>
          </a:ln>
        </p:spPr>
        <p:style>
          <a:lnRef idx="0"/>
          <a:fillRef idx="0"/>
          <a:effectRef idx="0"/>
          <a:fontRef idx="minor"/>
        </p:style>
      </p:sp>
      <p:sp>
        <p:nvSpPr>
          <p:cNvPr id="251" name="CustomShape 20"/>
          <p:cNvSpPr/>
          <p:nvPr/>
        </p:nvSpPr>
        <p:spPr>
          <a:xfrm>
            <a:off x="8961120" y="5065920"/>
            <a:ext cx="247752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Trend</a:t>
            </a:r>
            <a:endParaRPr b="0" lang="en-US" sz="1400" spc="-1" strike="noStrike">
              <a:latin typeface="Arial"/>
            </a:endParaRPr>
          </a:p>
        </p:txBody>
      </p:sp>
      <p:sp>
        <p:nvSpPr>
          <p:cNvPr id="252" name="CustomShape 21"/>
          <p:cNvSpPr/>
          <p:nvPr/>
        </p:nvSpPr>
        <p:spPr>
          <a:xfrm>
            <a:off x="8449200" y="5605200"/>
            <a:ext cx="2953080" cy="127800"/>
          </a:xfrm>
          <a:prstGeom prst="rect">
            <a:avLst/>
          </a:prstGeom>
          <a:noFill/>
          <a:ln>
            <a:noFill/>
          </a:ln>
        </p:spPr>
        <p:style>
          <a:lnRef idx="0"/>
          <a:fillRef idx="0"/>
          <a:effectRef idx="0"/>
          <a:fontRef idx="minor"/>
        </p:style>
        <p:txBody>
          <a:bodyPr lIns="0" rIns="0" tIns="0" bIns="0">
            <a:normAutofit fontScale="27000"/>
          </a:bodyPr>
          <a:p>
            <a:pPr>
              <a:lnSpc>
                <a:spcPct val="100000"/>
              </a:lnSpc>
              <a:tabLst>
                <a:tab algn="l" pos="0"/>
              </a:tabLst>
            </a:pPr>
            <a:r>
              <a:rPr b="0" lang="en-US" sz="1050" spc="-1" strike="noStrike">
                <a:solidFill>
                  <a:srgbClr val="64748b"/>
                </a:solidFill>
                <a:latin typeface="Arial"/>
              </a:rPr>
              <a:t>Purchases and media intensity increased meaningfully through 2023-24.</a:t>
            </a:r>
            <a:endParaRPr b="0" lang="en-US" sz="1050" spc="-1" strike="noStrike">
              <a:latin typeface="Arial"/>
            </a:endParaRPr>
          </a:p>
        </p:txBody>
      </p:sp>
      <p:sp>
        <p:nvSpPr>
          <p:cNvPr id="253" name="CustomShape 22"/>
          <p:cNvSpPr/>
          <p:nvPr/>
        </p:nvSpPr>
        <p:spPr>
          <a:xfrm>
            <a:off x="6080760" y="6528960"/>
            <a:ext cx="4754520" cy="164160"/>
          </a:xfrm>
          <a:prstGeom prst="rect">
            <a:avLst/>
          </a:prstGeom>
          <a:noFill/>
          <a:ln>
            <a:noFill/>
          </a:ln>
        </p:spPr>
        <p:style>
          <a:lnRef idx="0"/>
          <a:fillRef idx="0"/>
          <a:effectRef idx="0"/>
          <a:fontRef idx="minor"/>
        </p:style>
        <p:txBody>
          <a:bodyPr lIns="0" rIns="0" tIns="0" bIns="0" anchor="ctr">
            <a:normAutofit/>
          </a:bodyPr>
          <a:p>
            <a:pPr algn="r">
              <a:lnSpc>
                <a:spcPct val="100000"/>
              </a:lnSpc>
              <a:tabLst>
                <a:tab algn="l" pos="0"/>
              </a:tabLst>
            </a:pPr>
            <a:r>
              <a:rPr b="0" lang="en-US" sz="750" spc="-1" strike="noStrike">
                <a:solidFill>
                  <a:srgbClr val="94a3b8"/>
                </a:solidFill>
                <a:latin typeface="Arial"/>
              </a:rPr>
              <a:t>EDA deliverables: daily demand, spend trends, correlations, seasonality and outlier discussion.</a:t>
            </a:r>
            <a:endParaRPr b="0" lang="en-US" sz="750" spc="-1" strike="noStrike">
              <a:latin typeface="Arial"/>
            </a:endParaRPr>
          </a:p>
        </p:txBody>
      </p:sp>
      <p:sp>
        <p:nvSpPr>
          <p:cNvPr id="254" name="TextShape 23"/>
          <p:cNvSpPr txBox="1"/>
          <p:nvPr/>
        </p:nvSpPr>
        <p:spPr>
          <a:xfrm>
            <a:off x="11228760" y="6519600"/>
            <a:ext cx="411120" cy="200880"/>
          </a:xfrm>
          <a:prstGeom prst="rect">
            <a:avLst/>
          </a:prstGeom>
          <a:noFill/>
          <a:ln>
            <a:noFill/>
          </a:ln>
        </p:spPr>
        <p:txBody>
          <a:bodyPr lIns="0" rIns="0" tIns="0" bIns="0">
            <a:noAutofit/>
          </a:bodyPr>
          <a:p>
            <a:pPr algn="r">
              <a:lnSpc>
                <a:spcPct val="100000"/>
              </a:lnSpc>
            </a:pPr>
            <a:fld id="{AA77E9CC-23C9-42B7-8CDB-D7D83C15567A}"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255"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Data preparation and feature engineering</a:t>
            </a:r>
            <a:endParaRPr b="0" lang="en-US" sz="2600" spc="-1" strike="noStrike">
              <a:latin typeface="Arial"/>
            </a:endParaRPr>
          </a:p>
        </p:txBody>
      </p:sp>
      <p:sp>
        <p:nvSpPr>
          <p:cNvPr id="256"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The final table links purchase demand to paid-media exposure, spend and demand controls.</a:t>
            </a:r>
            <a:endParaRPr b="0" lang="en-US" sz="1050" spc="-1" strike="noStrike">
              <a:latin typeface="Arial"/>
            </a:endParaRPr>
          </a:p>
        </p:txBody>
      </p:sp>
      <p:sp>
        <p:nvSpPr>
          <p:cNvPr id="257"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258"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TASK 2 · 15 POINTS</a:t>
            </a:r>
            <a:endParaRPr b="0" lang="en-US" sz="900" spc="-1" strike="noStrike">
              <a:latin typeface="Arial"/>
            </a:endParaRPr>
          </a:p>
        </p:txBody>
      </p:sp>
      <p:sp>
        <p:nvSpPr>
          <p:cNvPr id="259" name="CustomShape 5"/>
          <p:cNvSpPr/>
          <p:nvPr/>
        </p:nvSpPr>
        <p:spPr>
          <a:xfrm>
            <a:off x="658440" y="1691640"/>
            <a:ext cx="1938240" cy="3062880"/>
          </a:xfrm>
          <a:prstGeom prst="roundRect">
            <a:avLst>
              <a:gd name="adj" fmla="val 3774"/>
            </a:avLst>
          </a:prstGeom>
          <a:solidFill>
            <a:srgbClr val="ffffff"/>
          </a:solidFill>
          <a:ln w="12600">
            <a:solidFill>
              <a:srgbClr val="d9e2ec"/>
            </a:solidFill>
            <a:round/>
          </a:ln>
          <a:effectLst>
            <a:outerShdw algn="bl" blurRad="3" dir="0" dist="0" kx="0" ky="0" rotWithShape="0" sx="100000" sy="100000">
              <a:srgbClr val="000000">
                <a:alpha val="0"/>
              </a:srgbClr>
            </a:outerShdw>
          </a:effectLst>
        </p:spPr>
        <p:style>
          <a:lnRef idx="0"/>
          <a:fillRef idx="0"/>
          <a:effectRef idx="0"/>
          <a:fontRef idx="minor"/>
        </p:style>
      </p:sp>
      <p:sp>
        <p:nvSpPr>
          <p:cNvPr id="260" name="CustomShape 6"/>
          <p:cNvSpPr/>
          <p:nvPr/>
        </p:nvSpPr>
        <p:spPr>
          <a:xfrm>
            <a:off x="1307520" y="1901880"/>
            <a:ext cx="639720" cy="639720"/>
          </a:xfrm>
          <a:prstGeom prst="ellipse">
            <a:avLst/>
          </a:prstGeom>
          <a:solidFill>
            <a:srgbClr val="2563eb"/>
          </a:solidFill>
          <a:ln w="12600">
            <a:solidFill>
              <a:srgbClr val="2563eb"/>
            </a:solidFill>
            <a:round/>
          </a:ln>
        </p:spPr>
        <p:style>
          <a:lnRef idx="0"/>
          <a:fillRef idx="0"/>
          <a:effectRef idx="0"/>
          <a:fontRef idx="minor"/>
        </p:style>
      </p:sp>
      <p:sp>
        <p:nvSpPr>
          <p:cNvPr id="261" name="CustomShape 7"/>
          <p:cNvSpPr/>
          <p:nvPr/>
        </p:nvSpPr>
        <p:spPr>
          <a:xfrm>
            <a:off x="1307520" y="2039040"/>
            <a:ext cx="63972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ffffff"/>
                </a:solidFill>
                <a:latin typeface="Arial"/>
              </a:rPr>
              <a:t>1</a:t>
            </a:r>
            <a:endParaRPr b="0" lang="en-US" sz="1600" spc="-1" strike="noStrike">
              <a:latin typeface="Arial"/>
            </a:endParaRPr>
          </a:p>
        </p:txBody>
      </p:sp>
      <p:sp>
        <p:nvSpPr>
          <p:cNvPr id="262" name="CustomShape 8"/>
          <p:cNvSpPr/>
          <p:nvPr/>
        </p:nvSpPr>
        <p:spPr>
          <a:xfrm>
            <a:off x="841320" y="2743200"/>
            <a:ext cx="1572480" cy="6397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300" spc="-1" strike="noStrike">
                <a:solidFill>
                  <a:srgbClr val="0b1f33"/>
                </a:solidFill>
                <a:latin typeface="Arial"/>
              </a:rPr>
              <a:t>Select one complete daily series</a:t>
            </a:r>
            <a:endParaRPr b="0" lang="en-US" sz="1300" spc="-1" strike="noStrike">
              <a:latin typeface="Arial"/>
            </a:endParaRPr>
          </a:p>
        </p:txBody>
      </p:sp>
      <p:sp>
        <p:nvSpPr>
          <p:cNvPr id="263" name="CustomShape 9"/>
          <p:cNvSpPr/>
          <p:nvPr/>
        </p:nvSpPr>
        <p:spPr>
          <a:xfrm>
            <a:off x="841320" y="3520440"/>
            <a:ext cx="1572480" cy="71280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939" spc="-1" strike="noStrike">
                <a:solidFill>
                  <a:srgbClr val="64748b"/>
                </a:solidFill>
                <a:latin typeface="Arial"/>
              </a:rPr>
              <a:t>1,276 consecutive days</a:t>
            </a:r>
            <a:endParaRPr b="0" lang="en-US" sz="939" spc="-1" strike="noStrike">
              <a:latin typeface="Arial"/>
            </a:endParaRPr>
          </a:p>
        </p:txBody>
      </p:sp>
      <p:sp>
        <p:nvSpPr>
          <p:cNvPr id="264" name="CustomShape 10"/>
          <p:cNvSpPr/>
          <p:nvPr/>
        </p:nvSpPr>
        <p:spPr>
          <a:xfrm>
            <a:off x="2633400" y="2816280"/>
            <a:ext cx="255600" cy="566640"/>
          </a:xfrm>
          <a:prstGeom prst="chevron">
            <a:avLst>
              <a:gd name="adj" fmla="val 50000"/>
            </a:avLst>
          </a:prstGeom>
          <a:solidFill>
            <a:srgbClr val="cbd5e1"/>
          </a:solidFill>
          <a:ln w="12600">
            <a:solidFill>
              <a:srgbClr val="cbd5e1"/>
            </a:solidFill>
            <a:round/>
          </a:ln>
        </p:spPr>
        <p:style>
          <a:lnRef idx="0"/>
          <a:fillRef idx="0"/>
          <a:effectRef idx="0"/>
          <a:fontRef idx="minor"/>
        </p:style>
      </p:sp>
      <p:sp>
        <p:nvSpPr>
          <p:cNvPr id="265" name="CustomShape 11"/>
          <p:cNvSpPr/>
          <p:nvPr/>
        </p:nvSpPr>
        <p:spPr>
          <a:xfrm>
            <a:off x="2907720" y="1691640"/>
            <a:ext cx="1938240" cy="3062880"/>
          </a:xfrm>
          <a:prstGeom prst="roundRect">
            <a:avLst>
              <a:gd name="adj" fmla="val 3774"/>
            </a:avLst>
          </a:prstGeom>
          <a:solidFill>
            <a:srgbClr val="ffffff"/>
          </a:solidFill>
          <a:ln w="12600">
            <a:solidFill>
              <a:srgbClr val="d9e2ec"/>
            </a:solidFill>
            <a:round/>
          </a:ln>
          <a:effectLst>
            <a:outerShdw algn="bl" blurRad="3" dir="0" dist="0" kx="0" ky="0" rotWithShape="0" sx="100000" sy="100000">
              <a:srgbClr val="000000">
                <a:alpha val="0"/>
              </a:srgbClr>
            </a:outerShdw>
          </a:effectLst>
        </p:spPr>
        <p:style>
          <a:lnRef idx="0"/>
          <a:fillRef idx="0"/>
          <a:effectRef idx="0"/>
          <a:fontRef idx="minor"/>
        </p:style>
      </p:sp>
      <p:sp>
        <p:nvSpPr>
          <p:cNvPr id="266" name="CustomShape 12"/>
          <p:cNvSpPr/>
          <p:nvPr/>
        </p:nvSpPr>
        <p:spPr>
          <a:xfrm>
            <a:off x="3557160" y="1901880"/>
            <a:ext cx="639720" cy="639720"/>
          </a:xfrm>
          <a:prstGeom prst="ellipse">
            <a:avLst/>
          </a:prstGeom>
          <a:solidFill>
            <a:srgbClr val="2563eb"/>
          </a:solidFill>
          <a:ln w="12600">
            <a:solidFill>
              <a:srgbClr val="2563eb"/>
            </a:solidFill>
            <a:round/>
          </a:ln>
        </p:spPr>
        <p:style>
          <a:lnRef idx="0"/>
          <a:fillRef idx="0"/>
          <a:effectRef idx="0"/>
          <a:fontRef idx="minor"/>
        </p:style>
      </p:sp>
      <p:sp>
        <p:nvSpPr>
          <p:cNvPr id="267" name="CustomShape 13"/>
          <p:cNvSpPr/>
          <p:nvPr/>
        </p:nvSpPr>
        <p:spPr>
          <a:xfrm>
            <a:off x="3557160" y="2039040"/>
            <a:ext cx="63972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ffffff"/>
                </a:solidFill>
                <a:latin typeface="Arial"/>
              </a:rPr>
              <a:t>2</a:t>
            </a:r>
            <a:endParaRPr b="0" lang="en-US" sz="1600" spc="-1" strike="noStrike">
              <a:latin typeface="Arial"/>
            </a:endParaRPr>
          </a:p>
        </p:txBody>
      </p:sp>
      <p:sp>
        <p:nvSpPr>
          <p:cNvPr id="268" name="CustomShape 14"/>
          <p:cNvSpPr/>
          <p:nvPr/>
        </p:nvSpPr>
        <p:spPr>
          <a:xfrm>
            <a:off x="3090600" y="2743200"/>
            <a:ext cx="1572480" cy="6397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300" spc="-1" strike="noStrike">
                <a:solidFill>
                  <a:srgbClr val="0b1f33"/>
                </a:solidFill>
                <a:latin typeface="Arial"/>
              </a:rPr>
              <a:t>Standardize media variables</a:t>
            </a:r>
            <a:endParaRPr b="0" lang="en-US" sz="1300" spc="-1" strike="noStrike">
              <a:latin typeface="Arial"/>
            </a:endParaRPr>
          </a:p>
        </p:txBody>
      </p:sp>
      <p:sp>
        <p:nvSpPr>
          <p:cNvPr id="269" name="CustomShape 15"/>
          <p:cNvSpPr/>
          <p:nvPr/>
        </p:nvSpPr>
        <p:spPr>
          <a:xfrm>
            <a:off x="3090600" y="3520440"/>
            <a:ext cx="1572480" cy="71280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939" spc="-1" strike="noStrike">
                <a:solidFill>
                  <a:srgbClr val="64748b"/>
                </a:solidFill>
                <a:latin typeface="Arial"/>
              </a:rPr>
              <a:t>Spend + impressions for 6 channels</a:t>
            </a:r>
            <a:endParaRPr b="0" lang="en-US" sz="939" spc="-1" strike="noStrike">
              <a:latin typeface="Arial"/>
            </a:endParaRPr>
          </a:p>
        </p:txBody>
      </p:sp>
      <p:sp>
        <p:nvSpPr>
          <p:cNvPr id="270" name="CustomShape 16"/>
          <p:cNvSpPr/>
          <p:nvPr/>
        </p:nvSpPr>
        <p:spPr>
          <a:xfrm>
            <a:off x="4883040" y="2816280"/>
            <a:ext cx="255600" cy="566640"/>
          </a:xfrm>
          <a:prstGeom prst="chevron">
            <a:avLst>
              <a:gd name="adj" fmla="val 50000"/>
            </a:avLst>
          </a:prstGeom>
          <a:solidFill>
            <a:srgbClr val="cbd5e1"/>
          </a:solidFill>
          <a:ln w="12600">
            <a:solidFill>
              <a:srgbClr val="cbd5e1"/>
            </a:solidFill>
            <a:round/>
          </a:ln>
        </p:spPr>
        <p:style>
          <a:lnRef idx="0"/>
          <a:fillRef idx="0"/>
          <a:effectRef idx="0"/>
          <a:fontRef idx="minor"/>
        </p:style>
      </p:sp>
      <p:sp>
        <p:nvSpPr>
          <p:cNvPr id="271" name="CustomShape 17"/>
          <p:cNvSpPr/>
          <p:nvPr/>
        </p:nvSpPr>
        <p:spPr>
          <a:xfrm>
            <a:off x="5157360" y="1691640"/>
            <a:ext cx="1938240" cy="3062880"/>
          </a:xfrm>
          <a:prstGeom prst="roundRect">
            <a:avLst>
              <a:gd name="adj" fmla="val 3774"/>
            </a:avLst>
          </a:prstGeom>
          <a:solidFill>
            <a:srgbClr val="ffffff"/>
          </a:solidFill>
          <a:ln w="12600">
            <a:solidFill>
              <a:srgbClr val="d9e2ec"/>
            </a:solidFill>
            <a:round/>
          </a:ln>
          <a:effectLst>
            <a:outerShdw algn="bl" blurRad="4" dir="0" dist="0" kx="0" ky="0" rotWithShape="0" sx="100000" sy="100000">
              <a:srgbClr val="000000">
                <a:alpha val="0"/>
              </a:srgbClr>
            </a:outerShdw>
          </a:effectLst>
        </p:spPr>
        <p:style>
          <a:lnRef idx="0"/>
          <a:fillRef idx="0"/>
          <a:effectRef idx="0"/>
          <a:fontRef idx="minor"/>
        </p:style>
      </p:sp>
      <p:sp>
        <p:nvSpPr>
          <p:cNvPr id="272" name="CustomShape 18"/>
          <p:cNvSpPr/>
          <p:nvPr/>
        </p:nvSpPr>
        <p:spPr>
          <a:xfrm>
            <a:off x="5806440" y="1901880"/>
            <a:ext cx="639720" cy="639720"/>
          </a:xfrm>
          <a:prstGeom prst="ellipse">
            <a:avLst/>
          </a:prstGeom>
          <a:solidFill>
            <a:srgbClr val="2563eb"/>
          </a:solidFill>
          <a:ln w="12600">
            <a:solidFill>
              <a:srgbClr val="2563eb"/>
            </a:solidFill>
            <a:round/>
          </a:ln>
        </p:spPr>
        <p:style>
          <a:lnRef idx="0"/>
          <a:fillRef idx="0"/>
          <a:effectRef idx="0"/>
          <a:fontRef idx="minor"/>
        </p:style>
      </p:sp>
      <p:sp>
        <p:nvSpPr>
          <p:cNvPr id="273" name="CustomShape 19"/>
          <p:cNvSpPr/>
          <p:nvPr/>
        </p:nvSpPr>
        <p:spPr>
          <a:xfrm>
            <a:off x="5806440" y="2039040"/>
            <a:ext cx="63972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ffffff"/>
                </a:solidFill>
                <a:latin typeface="Arial"/>
              </a:rPr>
              <a:t>3</a:t>
            </a:r>
            <a:endParaRPr b="0" lang="en-US" sz="1600" spc="-1" strike="noStrike">
              <a:latin typeface="Arial"/>
            </a:endParaRPr>
          </a:p>
        </p:txBody>
      </p:sp>
      <p:sp>
        <p:nvSpPr>
          <p:cNvPr id="274" name="CustomShape 20"/>
          <p:cNvSpPr/>
          <p:nvPr/>
        </p:nvSpPr>
        <p:spPr>
          <a:xfrm>
            <a:off x="5340240" y="2743200"/>
            <a:ext cx="1572480" cy="6397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300" spc="-1" strike="noStrike">
                <a:solidFill>
                  <a:srgbClr val="0b1f33"/>
                </a:solidFill>
                <a:latin typeface="Arial"/>
              </a:rPr>
              <a:t>Create controls</a:t>
            </a:r>
            <a:endParaRPr b="0" lang="en-US" sz="1300" spc="-1" strike="noStrike">
              <a:latin typeface="Arial"/>
            </a:endParaRPr>
          </a:p>
        </p:txBody>
      </p:sp>
      <p:sp>
        <p:nvSpPr>
          <p:cNvPr id="275" name="CustomShape 21"/>
          <p:cNvSpPr/>
          <p:nvPr/>
        </p:nvSpPr>
        <p:spPr>
          <a:xfrm>
            <a:off x="5340240" y="3520440"/>
            <a:ext cx="1572480" cy="71280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939" spc="-1" strike="noStrike">
                <a:solidFill>
                  <a:srgbClr val="64748b"/>
                </a:solidFill>
                <a:latin typeface="Arial"/>
              </a:rPr>
              <a:t>Trend, weekday, yearly harmonics, Black Friday, owned/organic traffic</a:t>
            </a:r>
            <a:endParaRPr b="0" lang="en-US" sz="939" spc="-1" strike="noStrike">
              <a:latin typeface="Arial"/>
            </a:endParaRPr>
          </a:p>
        </p:txBody>
      </p:sp>
      <p:sp>
        <p:nvSpPr>
          <p:cNvPr id="276" name="CustomShape 22"/>
          <p:cNvSpPr/>
          <p:nvPr/>
        </p:nvSpPr>
        <p:spPr>
          <a:xfrm>
            <a:off x="7132320" y="2816280"/>
            <a:ext cx="255600" cy="566640"/>
          </a:xfrm>
          <a:prstGeom prst="chevron">
            <a:avLst>
              <a:gd name="adj" fmla="val 50000"/>
            </a:avLst>
          </a:prstGeom>
          <a:solidFill>
            <a:srgbClr val="cbd5e1"/>
          </a:solidFill>
          <a:ln w="12600">
            <a:solidFill>
              <a:srgbClr val="cbd5e1"/>
            </a:solidFill>
            <a:round/>
          </a:ln>
        </p:spPr>
        <p:style>
          <a:lnRef idx="0"/>
          <a:fillRef idx="0"/>
          <a:effectRef idx="0"/>
          <a:fontRef idx="minor"/>
        </p:style>
      </p:sp>
      <p:sp>
        <p:nvSpPr>
          <p:cNvPr id="277" name="CustomShape 23"/>
          <p:cNvSpPr/>
          <p:nvPr/>
        </p:nvSpPr>
        <p:spPr>
          <a:xfrm>
            <a:off x="7406640" y="1691640"/>
            <a:ext cx="1938240" cy="3062880"/>
          </a:xfrm>
          <a:prstGeom prst="roundRect">
            <a:avLst>
              <a:gd name="adj" fmla="val 3774"/>
            </a:avLst>
          </a:prstGeom>
          <a:solidFill>
            <a:srgbClr val="ffffff"/>
          </a:solidFill>
          <a:ln w="12600">
            <a:solidFill>
              <a:srgbClr val="d9e2ec"/>
            </a:solidFill>
            <a:round/>
          </a:ln>
          <a:effectLst>
            <a:outerShdw algn="bl" blurRad="6" dir="0" dist="0" kx="0" ky="0" rotWithShape="0" sx="100000" sy="100000">
              <a:srgbClr val="000000">
                <a:alpha val="0"/>
              </a:srgbClr>
            </a:outerShdw>
          </a:effectLst>
        </p:spPr>
        <p:style>
          <a:lnRef idx="0"/>
          <a:fillRef idx="0"/>
          <a:effectRef idx="0"/>
          <a:fontRef idx="minor"/>
        </p:style>
      </p:sp>
      <p:sp>
        <p:nvSpPr>
          <p:cNvPr id="278" name="CustomShape 24"/>
          <p:cNvSpPr/>
          <p:nvPr/>
        </p:nvSpPr>
        <p:spPr>
          <a:xfrm>
            <a:off x="8055720" y="1901880"/>
            <a:ext cx="639720" cy="639720"/>
          </a:xfrm>
          <a:prstGeom prst="ellipse">
            <a:avLst/>
          </a:prstGeom>
          <a:solidFill>
            <a:srgbClr val="2563eb"/>
          </a:solidFill>
          <a:ln w="12600">
            <a:solidFill>
              <a:srgbClr val="2563eb"/>
            </a:solidFill>
            <a:round/>
          </a:ln>
        </p:spPr>
        <p:style>
          <a:lnRef idx="0"/>
          <a:fillRef idx="0"/>
          <a:effectRef idx="0"/>
          <a:fontRef idx="minor"/>
        </p:style>
      </p:sp>
      <p:sp>
        <p:nvSpPr>
          <p:cNvPr id="279" name="CustomShape 25"/>
          <p:cNvSpPr/>
          <p:nvPr/>
        </p:nvSpPr>
        <p:spPr>
          <a:xfrm>
            <a:off x="8055720" y="2039040"/>
            <a:ext cx="63972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ffffff"/>
                </a:solidFill>
                <a:latin typeface="Arial"/>
              </a:rPr>
              <a:t>4</a:t>
            </a:r>
            <a:endParaRPr b="0" lang="en-US" sz="1600" spc="-1" strike="noStrike">
              <a:latin typeface="Arial"/>
            </a:endParaRPr>
          </a:p>
        </p:txBody>
      </p:sp>
      <p:sp>
        <p:nvSpPr>
          <p:cNvPr id="280" name="CustomShape 26"/>
          <p:cNvSpPr/>
          <p:nvPr/>
        </p:nvSpPr>
        <p:spPr>
          <a:xfrm>
            <a:off x="7589520" y="2743200"/>
            <a:ext cx="1572480" cy="6397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300" spc="-1" strike="noStrike">
                <a:solidFill>
                  <a:srgbClr val="0b1f33"/>
                </a:solidFill>
                <a:latin typeface="Arial"/>
              </a:rPr>
              <a:t>Handle structural missingness</a:t>
            </a:r>
            <a:endParaRPr b="0" lang="en-US" sz="1300" spc="-1" strike="noStrike">
              <a:latin typeface="Arial"/>
            </a:endParaRPr>
          </a:p>
        </p:txBody>
      </p:sp>
      <p:sp>
        <p:nvSpPr>
          <p:cNvPr id="281" name="CustomShape 27"/>
          <p:cNvSpPr/>
          <p:nvPr/>
        </p:nvSpPr>
        <p:spPr>
          <a:xfrm>
            <a:off x="7589520" y="3520440"/>
            <a:ext cx="1572480" cy="71280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939" spc="-1" strike="noStrike">
                <a:solidFill>
                  <a:srgbClr val="64748b"/>
                </a:solidFill>
                <a:latin typeface="Arial"/>
              </a:rPr>
              <a:t>Zero-fill inactive media days; validate no missing target</a:t>
            </a:r>
            <a:endParaRPr b="0" lang="en-US" sz="939" spc="-1" strike="noStrike">
              <a:latin typeface="Arial"/>
            </a:endParaRPr>
          </a:p>
        </p:txBody>
      </p:sp>
      <p:sp>
        <p:nvSpPr>
          <p:cNvPr id="282" name="CustomShape 28"/>
          <p:cNvSpPr/>
          <p:nvPr/>
        </p:nvSpPr>
        <p:spPr>
          <a:xfrm>
            <a:off x="9381600" y="2816280"/>
            <a:ext cx="255600" cy="566640"/>
          </a:xfrm>
          <a:prstGeom prst="chevron">
            <a:avLst>
              <a:gd name="adj" fmla="val 50000"/>
            </a:avLst>
          </a:prstGeom>
          <a:solidFill>
            <a:srgbClr val="cbd5e1"/>
          </a:solidFill>
          <a:ln w="12600">
            <a:solidFill>
              <a:srgbClr val="cbd5e1"/>
            </a:solidFill>
            <a:round/>
          </a:ln>
        </p:spPr>
        <p:style>
          <a:lnRef idx="0"/>
          <a:fillRef idx="0"/>
          <a:effectRef idx="0"/>
          <a:fontRef idx="minor"/>
        </p:style>
      </p:sp>
      <p:sp>
        <p:nvSpPr>
          <p:cNvPr id="283" name="CustomShape 29"/>
          <p:cNvSpPr/>
          <p:nvPr/>
        </p:nvSpPr>
        <p:spPr>
          <a:xfrm>
            <a:off x="9655920" y="1691640"/>
            <a:ext cx="1938240" cy="3062880"/>
          </a:xfrm>
          <a:prstGeom prst="roundRect">
            <a:avLst>
              <a:gd name="adj" fmla="val 3774"/>
            </a:avLst>
          </a:prstGeom>
          <a:solidFill>
            <a:srgbClr val="ffffff"/>
          </a:solidFill>
          <a:ln w="12600">
            <a:solidFill>
              <a:srgbClr val="d9e2ec"/>
            </a:solidFill>
            <a:round/>
          </a:ln>
          <a:effectLst>
            <a:outerShdw algn="bl" blurRad="7" dir="0" dist="0" kx="0" ky="0" rotWithShape="0" sx="100000" sy="100000">
              <a:srgbClr val="000000">
                <a:alpha val="0"/>
              </a:srgbClr>
            </a:outerShdw>
          </a:effectLst>
        </p:spPr>
        <p:style>
          <a:lnRef idx="0"/>
          <a:fillRef idx="0"/>
          <a:effectRef idx="0"/>
          <a:fontRef idx="minor"/>
        </p:style>
      </p:sp>
      <p:sp>
        <p:nvSpPr>
          <p:cNvPr id="284" name="CustomShape 30"/>
          <p:cNvSpPr/>
          <p:nvPr/>
        </p:nvSpPr>
        <p:spPr>
          <a:xfrm>
            <a:off x="10305360" y="1901880"/>
            <a:ext cx="639720" cy="639720"/>
          </a:xfrm>
          <a:prstGeom prst="ellipse">
            <a:avLst/>
          </a:prstGeom>
          <a:solidFill>
            <a:srgbClr val="0ea5a4"/>
          </a:solidFill>
          <a:ln w="12600">
            <a:solidFill>
              <a:srgbClr val="0ea5a4"/>
            </a:solidFill>
            <a:round/>
          </a:ln>
        </p:spPr>
        <p:style>
          <a:lnRef idx="0"/>
          <a:fillRef idx="0"/>
          <a:effectRef idx="0"/>
          <a:fontRef idx="minor"/>
        </p:style>
      </p:sp>
      <p:sp>
        <p:nvSpPr>
          <p:cNvPr id="285" name="CustomShape 31"/>
          <p:cNvSpPr/>
          <p:nvPr/>
        </p:nvSpPr>
        <p:spPr>
          <a:xfrm>
            <a:off x="10305360" y="2039040"/>
            <a:ext cx="639720" cy="2556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600" spc="-1" strike="noStrike">
                <a:solidFill>
                  <a:srgbClr val="ffffff"/>
                </a:solidFill>
                <a:latin typeface="Arial"/>
              </a:rPr>
              <a:t>5</a:t>
            </a:r>
            <a:endParaRPr b="0" lang="en-US" sz="1600" spc="-1" strike="noStrike">
              <a:latin typeface="Arial"/>
            </a:endParaRPr>
          </a:p>
        </p:txBody>
      </p:sp>
      <p:sp>
        <p:nvSpPr>
          <p:cNvPr id="286" name="CustomShape 32"/>
          <p:cNvSpPr/>
          <p:nvPr/>
        </p:nvSpPr>
        <p:spPr>
          <a:xfrm>
            <a:off x="9838800" y="2743200"/>
            <a:ext cx="1572480" cy="6397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300" spc="-1" strike="noStrike">
                <a:solidFill>
                  <a:srgbClr val="0b1f33"/>
                </a:solidFill>
                <a:latin typeface="Arial"/>
              </a:rPr>
              <a:t>Split and validate</a:t>
            </a:r>
            <a:endParaRPr b="0" lang="en-US" sz="1300" spc="-1" strike="noStrike">
              <a:latin typeface="Arial"/>
            </a:endParaRPr>
          </a:p>
        </p:txBody>
      </p:sp>
      <p:sp>
        <p:nvSpPr>
          <p:cNvPr id="287" name="CustomShape 33"/>
          <p:cNvSpPr/>
          <p:nvPr/>
        </p:nvSpPr>
        <p:spPr>
          <a:xfrm>
            <a:off x="9838800" y="3520440"/>
            <a:ext cx="1572480" cy="71280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939" spc="-1" strike="noStrike">
                <a:solidFill>
                  <a:srgbClr val="64748b"/>
                </a:solidFill>
                <a:latin typeface="Arial"/>
              </a:rPr>
              <a:t>80/20 chronological deliverable + balanced Meridian holdout</a:t>
            </a:r>
            <a:endParaRPr b="0" lang="en-US" sz="939" spc="-1" strike="noStrike">
              <a:latin typeface="Arial"/>
            </a:endParaRPr>
          </a:p>
        </p:txBody>
      </p:sp>
      <p:sp>
        <p:nvSpPr>
          <p:cNvPr id="288" name="CustomShape 34"/>
          <p:cNvSpPr/>
          <p:nvPr/>
        </p:nvSpPr>
        <p:spPr>
          <a:xfrm>
            <a:off x="658440" y="5074920"/>
            <a:ext cx="2697120" cy="959760"/>
          </a:xfrm>
          <a:prstGeom prst="roundRect">
            <a:avLst>
              <a:gd name="adj" fmla="val 7619"/>
            </a:avLst>
          </a:prstGeom>
          <a:solidFill>
            <a:srgbClr val="ffffff"/>
          </a:solidFill>
          <a:ln w="12600">
            <a:solidFill>
              <a:srgbClr val="d9e2ec"/>
            </a:solidFill>
            <a:round/>
          </a:ln>
          <a:effectLst>
            <a:outerShdw algn="bl" blurRad="9" dir="0" dist="0" kx="0" ky="0" rotWithShape="0" sx="100000" sy="100000">
              <a:srgbClr val="000000">
                <a:alpha val="0"/>
              </a:srgbClr>
            </a:outerShdw>
          </a:effectLst>
        </p:spPr>
        <p:style>
          <a:lnRef idx="0"/>
          <a:fillRef idx="0"/>
          <a:effectRef idx="0"/>
          <a:fontRef idx="minor"/>
        </p:style>
      </p:sp>
      <p:sp>
        <p:nvSpPr>
          <p:cNvPr id="289" name="CustomShape 35"/>
          <p:cNvSpPr/>
          <p:nvPr/>
        </p:nvSpPr>
        <p:spPr>
          <a:xfrm>
            <a:off x="658440" y="5074920"/>
            <a:ext cx="72720" cy="959760"/>
          </a:xfrm>
          <a:prstGeom prst="rect">
            <a:avLst/>
          </a:prstGeom>
          <a:solidFill>
            <a:srgbClr val="2563eb"/>
          </a:solidFill>
          <a:ln w="12600">
            <a:solidFill>
              <a:srgbClr val="2563eb"/>
            </a:solidFill>
            <a:round/>
          </a:ln>
        </p:spPr>
        <p:style>
          <a:lnRef idx="0"/>
          <a:fillRef idx="0"/>
          <a:effectRef idx="0"/>
          <a:fontRef idx="minor"/>
        </p:style>
      </p:sp>
      <p:sp>
        <p:nvSpPr>
          <p:cNvPr id="290" name="CustomShape 36"/>
          <p:cNvSpPr/>
          <p:nvPr/>
        </p:nvSpPr>
        <p:spPr>
          <a:xfrm>
            <a:off x="859680" y="5257800"/>
            <a:ext cx="2377080" cy="438480"/>
          </a:xfrm>
          <a:prstGeom prst="rect">
            <a:avLst/>
          </a:prstGeom>
          <a:noFill/>
          <a:ln>
            <a:noFill/>
          </a:ln>
        </p:spPr>
        <p:style>
          <a:lnRef idx="0"/>
          <a:fillRef idx="0"/>
          <a:effectRef idx="0"/>
          <a:fontRef idx="minor"/>
        </p:style>
        <p:txBody>
          <a:bodyPr lIns="0" rIns="0" tIns="0" bIns="0" anchor="ctr">
            <a:normAutofit fontScale="48000"/>
          </a:bodyPr>
          <a:p>
            <a:pPr>
              <a:lnSpc>
                <a:spcPct val="100000"/>
              </a:lnSpc>
              <a:tabLst>
                <a:tab algn="l" pos="0"/>
              </a:tabLst>
            </a:pPr>
            <a:r>
              <a:rPr b="1" lang="en-US" sz="2500" spc="-1" strike="noStrike">
                <a:solidFill>
                  <a:srgbClr val="0b1f33"/>
                </a:solidFill>
                <a:latin typeface="Arial"/>
              </a:rPr>
              <a:t>ALL_PURCHASES</a:t>
            </a:r>
            <a:endParaRPr b="0" lang="en-US" sz="2500" spc="-1" strike="noStrike">
              <a:latin typeface="Arial"/>
            </a:endParaRPr>
          </a:p>
        </p:txBody>
      </p:sp>
      <p:sp>
        <p:nvSpPr>
          <p:cNvPr id="291" name="CustomShape 37"/>
          <p:cNvSpPr/>
          <p:nvPr/>
        </p:nvSpPr>
        <p:spPr>
          <a:xfrm>
            <a:off x="859680" y="5760720"/>
            <a:ext cx="237708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Target KPI</a:t>
            </a:r>
            <a:endParaRPr b="0" lang="en-US" sz="1050" spc="-1" strike="noStrike">
              <a:latin typeface="Arial"/>
            </a:endParaRPr>
          </a:p>
        </p:txBody>
      </p:sp>
      <p:sp>
        <p:nvSpPr>
          <p:cNvPr id="292" name="CustomShape 38"/>
          <p:cNvSpPr/>
          <p:nvPr/>
        </p:nvSpPr>
        <p:spPr>
          <a:xfrm>
            <a:off x="859680" y="5715000"/>
            <a:ext cx="237708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Daily purchases</a:t>
            </a:r>
            <a:endParaRPr b="0" lang="en-US" sz="820" spc="-1" strike="noStrike">
              <a:latin typeface="Arial"/>
            </a:endParaRPr>
          </a:p>
        </p:txBody>
      </p:sp>
      <p:sp>
        <p:nvSpPr>
          <p:cNvPr id="293" name="CustomShape 39"/>
          <p:cNvSpPr/>
          <p:nvPr/>
        </p:nvSpPr>
        <p:spPr>
          <a:xfrm>
            <a:off x="3566160" y="5074920"/>
            <a:ext cx="2697120" cy="959760"/>
          </a:xfrm>
          <a:prstGeom prst="roundRect">
            <a:avLst>
              <a:gd name="adj" fmla="val 7619"/>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294" name="CustomShape 40"/>
          <p:cNvSpPr/>
          <p:nvPr/>
        </p:nvSpPr>
        <p:spPr>
          <a:xfrm>
            <a:off x="3566160" y="5074920"/>
            <a:ext cx="72720" cy="959760"/>
          </a:xfrm>
          <a:prstGeom prst="rect">
            <a:avLst/>
          </a:prstGeom>
          <a:solidFill>
            <a:srgbClr val="ec4899"/>
          </a:solidFill>
          <a:ln w="12600">
            <a:solidFill>
              <a:srgbClr val="ec4899"/>
            </a:solidFill>
            <a:round/>
          </a:ln>
        </p:spPr>
        <p:style>
          <a:lnRef idx="0"/>
          <a:fillRef idx="0"/>
          <a:effectRef idx="0"/>
          <a:fontRef idx="minor"/>
        </p:style>
      </p:sp>
      <p:sp>
        <p:nvSpPr>
          <p:cNvPr id="295" name="CustomShape 41"/>
          <p:cNvSpPr/>
          <p:nvPr/>
        </p:nvSpPr>
        <p:spPr>
          <a:xfrm>
            <a:off x="3767400" y="5257800"/>
            <a:ext cx="237708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6</a:t>
            </a:r>
            <a:endParaRPr b="0" lang="en-US" sz="2500" spc="-1" strike="noStrike">
              <a:latin typeface="Arial"/>
            </a:endParaRPr>
          </a:p>
        </p:txBody>
      </p:sp>
      <p:sp>
        <p:nvSpPr>
          <p:cNvPr id="296" name="CustomShape 42"/>
          <p:cNvSpPr/>
          <p:nvPr/>
        </p:nvSpPr>
        <p:spPr>
          <a:xfrm>
            <a:off x="3767400" y="5760720"/>
            <a:ext cx="237708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Paid-media channels</a:t>
            </a:r>
            <a:endParaRPr b="0" lang="en-US" sz="1050" spc="-1" strike="noStrike">
              <a:latin typeface="Arial"/>
            </a:endParaRPr>
          </a:p>
        </p:txBody>
      </p:sp>
      <p:sp>
        <p:nvSpPr>
          <p:cNvPr id="297" name="CustomShape 43"/>
          <p:cNvSpPr/>
          <p:nvPr/>
        </p:nvSpPr>
        <p:spPr>
          <a:xfrm>
            <a:off x="3767400" y="5715000"/>
            <a:ext cx="237708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Impressions + spend</a:t>
            </a:r>
            <a:endParaRPr b="0" lang="en-US" sz="820" spc="-1" strike="noStrike">
              <a:latin typeface="Arial"/>
            </a:endParaRPr>
          </a:p>
        </p:txBody>
      </p:sp>
      <p:sp>
        <p:nvSpPr>
          <p:cNvPr id="298" name="CustomShape 44"/>
          <p:cNvSpPr/>
          <p:nvPr/>
        </p:nvSpPr>
        <p:spPr>
          <a:xfrm>
            <a:off x="6473880" y="5074920"/>
            <a:ext cx="2697120" cy="959760"/>
          </a:xfrm>
          <a:prstGeom prst="roundRect">
            <a:avLst>
              <a:gd name="adj" fmla="val 7619"/>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299" name="CustomShape 45"/>
          <p:cNvSpPr/>
          <p:nvPr/>
        </p:nvSpPr>
        <p:spPr>
          <a:xfrm>
            <a:off x="6473880" y="5074920"/>
            <a:ext cx="72720" cy="959760"/>
          </a:xfrm>
          <a:prstGeom prst="rect">
            <a:avLst/>
          </a:prstGeom>
          <a:solidFill>
            <a:srgbClr val="f59e0b"/>
          </a:solidFill>
          <a:ln w="12600">
            <a:solidFill>
              <a:srgbClr val="f59e0b"/>
            </a:solidFill>
            <a:round/>
          </a:ln>
        </p:spPr>
        <p:style>
          <a:lnRef idx="0"/>
          <a:fillRef idx="0"/>
          <a:effectRef idx="0"/>
          <a:fontRef idx="minor"/>
        </p:style>
      </p:sp>
      <p:sp>
        <p:nvSpPr>
          <p:cNvPr id="300" name="CustomShape 46"/>
          <p:cNvSpPr/>
          <p:nvPr/>
        </p:nvSpPr>
        <p:spPr>
          <a:xfrm>
            <a:off x="6675120" y="5257800"/>
            <a:ext cx="237708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16</a:t>
            </a:r>
            <a:endParaRPr b="0" lang="en-US" sz="2500" spc="-1" strike="noStrike">
              <a:latin typeface="Arial"/>
            </a:endParaRPr>
          </a:p>
        </p:txBody>
      </p:sp>
      <p:sp>
        <p:nvSpPr>
          <p:cNvPr id="301" name="CustomShape 47"/>
          <p:cNvSpPr/>
          <p:nvPr/>
        </p:nvSpPr>
        <p:spPr>
          <a:xfrm>
            <a:off x="6675120" y="5760720"/>
            <a:ext cx="237708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Control variables</a:t>
            </a:r>
            <a:endParaRPr b="0" lang="en-US" sz="1050" spc="-1" strike="noStrike">
              <a:latin typeface="Arial"/>
            </a:endParaRPr>
          </a:p>
        </p:txBody>
      </p:sp>
      <p:sp>
        <p:nvSpPr>
          <p:cNvPr id="302" name="CustomShape 48"/>
          <p:cNvSpPr/>
          <p:nvPr/>
        </p:nvSpPr>
        <p:spPr>
          <a:xfrm>
            <a:off x="6675120" y="5715000"/>
            <a:ext cx="237708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Demand &amp; seasonality</a:t>
            </a:r>
            <a:endParaRPr b="0" lang="en-US" sz="820" spc="-1" strike="noStrike">
              <a:latin typeface="Arial"/>
            </a:endParaRPr>
          </a:p>
        </p:txBody>
      </p:sp>
      <p:sp>
        <p:nvSpPr>
          <p:cNvPr id="303" name="CustomShape 49"/>
          <p:cNvSpPr/>
          <p:nvPr/>
        </p:nvSpPr>
        <p:spPr>
          <a:xfrm>
            <a:off x="9381600" y="5074920"/>
            <a:ext cx="2148480" cy="959760"/>
          </a:xfrm>
          <a:prstGeom prst="roundRect">
            <a:avLst>
              <a:gd name="adj" fmla="val 7619"/>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304" name="CustomShape 50"/>
          <p:cNvSpPr/>
          <p:nvPr/>
        </p:nvSpPr>
        <p:spPr>
          <a:xfrm>
            <a:off x="9381600" y="5074920"/>
            <a:ext cx="72720" cy="959760"/>
          </a:xfrm>
          <a:prstGeom prst="rect">
            <a:avLst/>
          </a:prstGeom>
          <a:solidFill>
            <a:srgbClr val="0ea5a4"/>
          </a:solidFill>
          <a:ln w="12600">
            <a:solidFill>
              <a:srgbClr val="0ea5a4"/>
            </a:solidFill>
            <a:round/>
          </a:ln>
        </p:spPr>
        <p:style>
          <a:lnRef idx="0"/>
          <a:fillRef idx="0"/>
          <a:effectRef idx="0"/>
          <a:fontRef idx="minor"/>
        </p:style>
      </p:sp>
      <p:sp>
        <p:nvSpPr>
          <p:cNvPr id="305" name="CustomShape 51"/>
          <p:cNvSpPr/>
          <p:nvPr/>
        </p:nvSpPr>
        <p:spPr>
          <a:xfrm>
            <a:off x="9582840" y="5257800"/>
            <a:ext cx="182844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0</a:t>
            </a:r>
            <a:endParaRPr b="0" lang="en-US" sz="2500" spc="-1" strike="noStrike">
              <a:latin typeface="Arial"/>
            </a:endParaRPr>
          </a:p>
        </p:txBody>
      </p:sp>
      <p:sp>
        <p:nvSpPr>
          <p:cNvPr id="306" name="CustomShape 52"/>
          <p:cNvSpPr/>
          <p:nvPr/>
        </p:nvSpPr>
        <p:spPr>
          <a:xfrm>
            <a:off x="9582840" y="5760720"/>
            <a:ext cx="182844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Missing values</a:t>
            </a:r>
            <a:endParaRPr b="0" lang="en-US" sz="1050" spc="-1" strike="noStrike">
              <a:latin typeface="Arial"/>
            </a:endParaRPr>
          </a:p>
        </p:txBody>
      </p:sp>
      <p:sp>
        <p:nvSpPr>
          <p:cNvPr id="307" name="CustomShape 53"/>
          <p:cNvSpPr/>
          <p:nvPr/>
        </p:nvSpPr>
        <p:spPr>
          <a:xfrm>
            <a:off x="9582840" y="5715000"/>
            <a:ext cx="182844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Final modeling data</a:t>
            </a:r>
            <a:endParaRPr b="0" lang="en-US" sz="820" spc="-1" strike="noStrike">
              <a:latin typeface="Arial"/>
            </a:endParaRPr>
          </a:p>
        </p:txBody>
      </p:sp>
      <p:sp>
        <p:nvSpPr>
          <p:cNvPr id="308" name="TextShape 54"/>
          <p:cNvSpPr txBox="1"/>
          <p:nvPr/>
        </p:nvSpPr>
        <p:spPr>
          <a:xfrm>
            <a:off x="11228760" y="6519600"/>
            <a:ext cx="411120" cy="200880"/>
          </a:xfrm>
          <a:prstGeom prst="rect">
            <a:avLst/>
          </a:prstGeom>
          <a:noFill/>
          <a:ln>
            <a:noFill/>
          </a:ln>
        </p:spPr>
        <p:txBody>
          <a:bodyPr lIns="0" rIns="0" tIns="0" bIns="0">
            <a:noAutofit/>
          </a:bodyPr>
          <a:p>
            <a:pPr algn="r">
              <a:lnSpc>
                <a:spcPct val="100000"/>
              </a:lnSpc>
            </a:pPr>
            <a:fld id="{5F96BC6B-D7DB-4938-AC81-8C730F61BA72}"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09"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Meridian model design and training</a:t>
            </a:r>
            <a:endParaRPr b="0" lang="en-US" sz="2600" spc="-1" strike="noStrike">
              <a:latin typeface="Arial"/>
            </a:endParaRPr>
          </a:p>
        </p:txBody>
      </p:sp>
      <p:sp>
        <p:nvSpPr>
          <p:cNvPr id="310"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The primary model is a Bayesian Marketing Mix Model trained with MCMC posterior sampling.</a:t>
            </a:r>
            <a:endParaRPr b="0" lang="en-US" sz="1050" spc="-1" strike="noStrike">
              <a:latin typeface="Arial"/>
            </a:endParaRPr>
          </a:p>
        </p:txBody>
      </p:sp>
      <p:sp>
        <p:nvSpPr>
          <p:cNvPr id="311"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312"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TASK 3 · 25 POINTS</a:t>
            </a:r>
            <a:endParaRPr b="0" lang="en-US" sz="900" spc="-1" strike="noStrike">
              <a:latin typeface="Arial"/>
            </a:endParaRPr>
          </a:p>
        </p:txBody>
      </p:sp>
      <p:sp>
        <p:nvSpPr>
          <p:cNvPr id="313" name="CustomShape 5"/>
          <p:cNvSpPr/>
          <p:nvPr/>
        </p:nvSpPr>
        <p:spPr>
          <a:xfrm>
            <a:off x="621720" y="1444680"/>
            <a:ext cx="5230080" cy="4443480"/>
          </a:xfrm>
          <a:prstGeom prst="roundRect">
            <a:avLst>
              <a:gd name="adj" fmla="val 1646"/>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314" name="CustomShape 6"/>
          <p:cNvSpPr/>
          <p:nvPr/>
        </p:nvSpPr>
        <p:spPr>
          <a:xfrm>
            <a:off x="932760" y="1700640"/>
            <a:ext cx="4525920" cy="319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800" spc="-1" strike="noStrike">
                <a:solidFill>
                  <a:srgbClr val="0b1f33"/>
                </a:solidFill>
                <a:latin typeface="Arial"/>
              </a:rPr>
              <a:t>Bayesian model workflow</a:t>
            </a:r>
            <a:endParaRPr b="0" lang="en-US" sz="1800" spc="-1" strike="noStrike">
              <a:latin typeface="Arial"/>
            </a:endParaRPr>
          </a:p>
        </p:txBody>
      </p:sp>
      <p:sp>
        <p:nvSpPr>
          <p:cNvPr id="315" name="CustomShape 7"/>
          <p:cNvSpPr/>
          <p:nvPr/>
        </p:nvSpPr>
        <p:spPr>
          <a:xfrm>
            <a:off x="932760" y="2212920"/>
            <a:ext cx="1919880" cy="438480"/>
          </a:xfrm>
          <a:prstGeom prst="roundRect">
            <a:avLst>
              <a:gd name="adj" fmla="val 12500"/>
            </a:avLst>
          </a:prstGeom>
          <a:solidFill>
            <a:srgbClr val="e8f0ff"/>
          </a:solidFill>
          <a:ln w="12600">
            <a:solidFill>
              <a:srgbClr val="d8e1ec"/>
            </a:solidFill>
            <a:round/>
          </a:ln>
        </p:spPr>
        <p:style>
          <a:lnRef idx="0"/>
          <a:fillRef idx="0"/>
          <a:effectRef idx="0"/>
          <a:fontRef idx="minor"/>
        </p:style>
      </p:sp>
      <p:sp>
        <p:nvSpPr>
          <p:cNvPr id="316" name="CustomShape 8"/>
          <p:cNvSpPr/>
          <p:nvPr/>
        </p:nvSpPr>
        <p:spPr>
          <a:xfrm>
            <a:off x="1060560" y="2304360"/>
            <a:ext cx="1645560" cy="1825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030" spc="-1" strike="noStrike">
                <a:solidFill>
                  <a:srgbClr val="0b1f33"/>
                </a:solidFill>
                <a:latin typeface="Arial"/>
              </a:rPr>
              <a:t>Media exposure</a:t>
            </a:r>
            <a:endParaRPr b="0" lang="en-US" sz="1030" spc="-1" strike="noStrike">
              <a:latin typeface="Arial"/>
            </a:endParaRPr>
          </a:p>
        </p:txBody>
      </p:sp>
      <p:sp>
        <p:nvSpPr>
          <p:cNvPr id="317" name="CustomShape 9"/>
          <p:cNvSpPr/>
          <p:nvPr/>
        </p:nvSpPr>
        <p:spPr>
          <a:xfrm>
            <a:off x="3063240" y="2277000"/>
            <a:ext cx="365400" cy="310680"/>
          </a:xfrm>
          <a:prstGeom prst="chevron">
            <a:avLst>
              <a:gd name="adj" fmla="val 50000"/>
            </a:avLst>
          </a:prstGeom>
          <a:solidFill>
            <a:srgbClr val="2563eb"/>
          </a:solidFill>
          <a:ln w="12600">
            <a:solidFill>
              <a:srgbClr val="2563eb"/>
            </a:solidFill>
            <a:round/>
          </a:ln>
        </p:spPr>
        <p:style>
          <a:lnRef idx="0"/>
          <a:fillRef idx="0"/>
          <a:effectRef idx="0"/>
          <a:fontRef idx="minor"/>
        </p:style>
      </p:sp>
      <p:sp>
        <p:nvSpPr>
          <p:cNvPr id="318" name="CustomShape 10"/>
          <p:cNvSpPr/>
          <p:nvPr/>
        </p:nvSpPr>
        <p:spPr>
          <a:xfrm>
            <a:off x="3611880" y="2249280"/>
            <a:ext cx="1755360" cy="328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0" spc="-1" strike="noStrike">
                <a:solidFill>
                  <a:srgbClr val="64748b"/>
                </a:solidFill>
                <a:latin typeface="Arial"/>
              </a:rPr>
              <a:t>6 channels</a:t>
            </a:r>
            <a:endParaRPr b="0" lang="en-US" sz="930" spc="-1" strike="noStrike">
              <a:latin typeface="Arial"/>
            </a:endParaRPr>
          </a:p>
        </p:txBody>
      </p:sp>
      <p:sp>
        <p:nvSpPr>
          <p:cNvPr id="319" name="CustomShape 11"/>
          <p:cNvSpPr/>
          <p:nvPr/>
        </p:nvSpPr>
        <p:spPr>
          <a:xfrm>
            <a:off x="932760" y="2871360"/>
            <a:ext cx="1919880" cy="438480"/>
          </a:xfrm>
          <a:prstGeom prst="roundRect">
            <a:avLst>
              <a:gd name="adj" fmla="val 12500"/>
            </a:avLst>
          </a:prstGeom>
          <a:solidFill>
            <a:srgbClr val="e8f0ff"/>
          </a:solidFill>
          <a:ln w="12600">
            <a:solidFill>
              <a:srgbClr val="d8e1ec"/>
            </a:solidFill>
            <a:round/>
          </a:ln>
        </p:spPr>
        <p:style>
          <a:lnRef idx="0"/>
          <a:fillRef idx="0"/>
          <a:effectRef idx="0"/>
          <a:fontRef idx="minor"/>
        </p:style>
      </p:sp>
      <p:sp>
        <p:nvSpPr>
          <p:cNvPr id="320" name="CustomShape 12"/>
          <p:cNvSpPr/>
          <p:nvPr/>
        </p:nvSpPr>
        <p:spPr>
          <a:xfrm>
            <a:off x="1060560" y="2962800"/>
            <a:ext cx="1645560" cy="1825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030" spc="-1" strike="noStrike">
                <a:solidFill>
                  <a:srgbClr val="0b1f33"/>
                </a:solidFill>
                <a:latin typeface="Arial"/>
              </a:rPr>
              <a:t>Adstock</a:t>
            </a:r>
            <a:endParaRPr b="0" lang="en-US" sz="1030" spc="-1" strike="noStrike">
              <a:latin typeface="Arial"/>
            </a:endParaRPr>
          </a:p>
        </p:txBody>
      </p:sp>
      <p:sp>
        <p:nvSpPr>
          <p:cNvPr id="321" name="CustomShape 13"/>
          <p:cNvSpPr/>
          <p:nvPr/>
        </p:nvSpPr>
        <p:spPr>
          <a:xfrm>
            <a:off x="3063240" y="2935080"/>
            <a:ext cx="365400" cy="310680"/>
          </a:xfrm>
          <a:prstGeom prst="chevron">
            <a:avLst>
              <a:gd name="adj" fmla="val 50000"/>
            </a:avLst>
          </a:prstGeom>
          <a:solidFill>
            <a:srgbClr val="2563eb"/>
          </a:solidFill>
          <a:ln w="12600">
            <a:solidFill>
              <a:srgbClr val="2563eb"/>
            </a:solidFill>
            <a:round/>
          </a:ln>
        </p:spPr>
        <p:style>
          <a:lnRef idx="0"/>
          <a:fillRef idx="0"/>
          <a:effectRef idx="0"/>
          <a:fontRef idx="minor"/>
        </p:style>
      </p:sp>
      <p:sp>
        <p:nvSpPr>
          <p:cNvPr id="322" name="CustomShape 14"/>
          <p:cNvSpPr/>
          <p:nvPr/>
        </p:nvSpPr>
        <p:spPr>
          <a:xfrm>
            <a:off x="3611880" y="2907720"/>
            <a:ext cx="1755360" cy="328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0" spc="-1" strike="noStrike">
                <a:solidFill>
                  <a:srgbClr val="64748b"/>
                </a:solidFill>
                <a:latin typeface="Arial"/>
              </a:rPr>
              <a:t>Geometric, max lag 8 days</a:t>
            </a:r>
            <a:endParaRPr b="0" lang="en-US" sz="930" spc="-1" strike="noStrike">
              <a:latin typeface="Arial"/>
            </a:endParaRPr>
          </a:p>
        </p:txBody>
      </p:sp>
      <p:sp>
        <p:nvSpPr>
          <p:cNvPr id="323" name="CustomShape 15"/>
          <p:cNvSpPr/>
          <p:nvPr/>
        </p:nvSpPr>
        <p:spPr>
          <a:xfrm>
            <a:off x="932760" y="3529440"/>
            <a:ext cx="1919880" cy="438480"/>
          </a:xfrm>
          <a:prstGeom prst="roundRect">
            <a:avLst>
              <a:gd name="adj" fmla="val 12500"/>
            </a:avLst>
          </a:prstGeom>
          <a:solidFill>
            <a:srgbClr val="fff5db"/>
          </a:solidFill>
          <a:ln w="12600">
            <a:solidFill>
              <a:srgbClr val="d8e1ec"/>
            </a:solidFill>
            <a:round/>
          </a:ln>
        </p:spPr>
        <p:style>
          <a:lnRef idx="0"/>
          <a:fillRef idx="0"/>
          <a:effectRef idx="0"/>
          <a:fontRef idx="minor"/>
        </p:style>
      </p:sp>
      <p:sp>
        <p:nvSpPr>
          <p:cNvPr id="324" name="CustomShape 16"/>
          <p:cNvSpPr/>
          <p:nvPr/>
        </p:nvSpPr>
        <p:spPr>
          <a:xfrm>
            <a:off x="1060560" y="3620880"/>
            <a:ext cx="1645560" cy="1825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030" spc="-1" strike="noStrike">
                <a:solidFill>
                  <a:srgbClr val="0b1f33"/>
                </a:solidFill>
                <a:latin typeface="Arial"/>
              </a:rPr>
              <a:t>Hill saturation</a:t>
            </a:r>
            <a:endParaRPr b="0" lang="en-US" sz="1030" spc="-1" strike="noStrike">
              <a:latin typeface="Arial"/>
            </a:endParaRPr>
          </a:p>
        </p:txBody>
      </p:sp>
      <p:sp>
        <p:nvSpPr>
          <p:cNvPr id="325" name="CustomShape 17"/>
          <p:cNvSpPr/>
          <p:nvPr/>
        </p:nvSpPr>
        <p:spPr>
          <a:xfrm>
            <a:off x="3063240" y="3593520"/>
            <a:ext cx="365400" cy="310680"/>
          </a:xfrm>
          <a:prstGeom prst="chevron">
            <a:avLst>
              <a:gd name="adj" fmla="val 50000"/>
            </a:avLst>
          </a:prstGeom>
          <a:solidFill>
            <a:srgbClr val="2563eb"/>
          </a:solidFill>
          <a:ln w="12600">
            <a:solidFill>
              <a:srgbClr val="2563eb"/>
            </a:solidFill>
            <a:round/>
          </a:ln>
        </p:spPr>
        <p:style>
          <a:lnRef idx="0"/>
          <a:fillRef idx="0"/>
          <a:effectRef idx="0"/>
          <a:fontRef idx="minor"/>
        </p:style>
      </p:sp>
      <p:sp>
        <p:nvSpPr>
          <p:cNvPr id="326" name="CustomShape 18"/>
          <p:cNvSpPr/>
          <p:nvPr/>
        </p:nvSpPr>
        <p:spPr>
          <a:xfrm>
            <a:off x="3611880" y="3566160"/>
            <a:ext cx="1755360" cy="328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0" spc="-1" strike="noStrike">
                <a:solidFill>
                  <a:srgbClr val="64748b"/>
                </a:solidFill>
                <a:latin typeface="Arial"/>
              </a:rPr>
              <a:t>Diminishing returns</a:t>
            </a:r>
            <a:endParaRPr b="0" lang="en-US" sz="930" spc="-1" strike="noStrike">
              <a:latin typeface="Arial"/>
            </a:endParaRPr>
          </a:p>
        </p:txBody>
      </p:sp>
      <p:sp>
        <p:nvSpPr>
          <p:cNvPr id="327" name="CustomShape 19"/>
          <p:cNvSpPr/>
          <p:nvPr/>
        </p:nvSpPr>
        <p:spPr>
          <a:xfrm>
            <a:off x="932760" y="4187880"/>
            <a:ext cx="1919880" cy="438480"/>
          </a:xfrm>
          <a:prstGeom prst="roundRect">
            <a:avLst>
              <a:gd name="adj" fmla="val 12500"/>
            </a:avLst>
          </a:prstGeom>
          <a:solidFill>
            <a:srgbClr val="eef7f6"/>
          </a:solidFill>
          <a:ln w="12600">
            <a:solidFill>
              <a:srgbClr val="d8e1ec"/>
            </a:solidFill>
            <a:round/>
          </a:ln>
        </p:spPr>
        <p:style>
          <a:lnRef idx="0"/>
          <a:fillRef idx="0"/>
          <a:effectRef idx="0"/>
          <a:fontRef idx="minor"/>
        </p:style>
      </p:sp>
      <p:sp>
        <p:nvSpPr>
          <p:cNvPr id="328" name="CustomShape 20"/>
          <p:cNvSpPr/>
          <p:nvPr/>
        </p:nvSpPr>
        <p:spPr>
          <a:xfrm>
            <a:off x="1060560" y="4279320"/>
            <a:ext cx="1645560" cy="1825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030" spc="-1" strike="noStrike">
                <a:solidFill>
                  <a:srgbClr val="0b1f33"/>
                </a:solidFill>
                <a:latin typeface="Arial"/>
              </a:rPr>
              <a:t>Controls</a:t>
            </a:r>
            <a:endParaRPr b="0" lang="en-US" sz="1030" spc="-1" strike="noStrike">
              <a:latin typeface="Arial"/>
            </a:endParaRPr>
          </a:p>
        </p:txBody>
      </p:sp>
      <p:sp>
        <p:nvSpPr>
          <p:cNvPr id="329" name="CustomShape 21"/>
          <p:cNvSpPr/>
          <p:nvPr/>
        </p:nvSpPr>
        <p:spPr>
          <a:xfrm>
            <a:off x="3063240" y="4251960"/>
            <a:ext cx="365400" cy="310680"/>
          </a:xfrm>
          <a:prstGeom prst="chevron">
            <a:avLst>
              <a:gd name="adj" fmla="val 50000"/>
            </a:avLst>
          </a:prstGeom>
          <a:solidFill>
            <a:srgbClr val="2563eb"/>
          </a:solidFill>
          <a:ln w="12600">
            <a:solidFill>
              <a:srgbClr val="2563eb"/>
            </a:solidFill>
            <a:round/>
          </a:ln>
        </p:spPr>
        <p:style>
          <a:lnRef idx="0"/>
          <a:fillRef idx="0"/>
          <a:effectRef idx="0"/>
          <a:fontRef idx="minor"/>
        </p:style>
      </p:sp>
      <p:sp>
        <p:nvSpPr>
          <p:cNvPr id="330" name="CustomShape 22"/>
          <p:cNvSpPr/>
          <p:nvPr/>
        </p:nvSpPr>
        <p:spPr>
          <a:xfrm>
            <a:off x="3611880" y="4224600"/>
            <a:ext cx="1755360" cy="328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0" spc="-1" strike="noStrike">
                <a:solidFill>
                  <a:srgbClr val="64748b"/>
                </a:solidFill>
                <a:latin typeface="Arial"/>
              </a:rPr>
              <a:t>16 demand variables</a:t>
            </a:r>
            <a:endParaRPr b="0" lang="en-US" sz="930" spc="-1" strike="noStrike">
              <a:latin typeface="Arial"/>
            </a:endParaRPr>
          </a:p>
        </p:txBody>
      </p:sp>
      <p:sp>
        <p:nvSpPr>
          <p:cNvPr id="331" name="CustomShape 23"/>
          <p:cNvSpPr/>
          <p:nvPr/>
        </p:nvSpPr>
        <p:spPr>
          <a:xfrm>
            <a:off x="932760" y="4846320"/>
            <a:ext cx="1919880" cy="438480"/>
          </a:xfrm>
          <a:prstGeom prst="roundRect">
            <a:avLst>
              <a:gd name="adj" fmla="val 12500"/>
            </a:avLst>
          </a:prstGeom>
          <a:solidFill>
            <a:srgbClr val="eef7f6"/>
          </a:solidFill>
          <a:ln w="12600">
            <a:solidFill>
              <a:srgbClr val="d8e1ec"/>
            </a:solidFill>
            <a:round/>
          </a:ln>
        </p:spPr>
        <p:style>
          <a:lnRef idx="0"/>
          <a:fillRef idx="0"/>
          <a:effectRef idx="0"/>
          <a:fontRef idx="minor"/>
        </p:style>
      </p:sp>
      <p:sp>
        <p:nvSpPr>
          <p:cNvPr id="332" name="CustomShape 24"/>
          <p:cNvSpPr/>
          <p:nvPr/>
        </p:nvSpPr>
        <p:spPr>
          <a:xfrm>
            <a:off x="1060560" y="4937760"/>
            <a:ext cx="1645560" cy="18252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030" spc="-1" strike="noStrike">
                <a:solidFill>
                  <a:srgbClr val="0b1f33"/>
                </a:solidFill>
                <a:latin typeface="Arial"/>
              </a:rPr>
              <a:t>Posterior outcome</a:t>
            </a:r>
            <a:endParaRPr b="0" lang="en-US" sz="1030" spc="-1" strike="noStrike">
              <a:latin typeface="Arial"/>
            </a:endParaRPr>
          </a:p>
        </p:txBody>
      </p:sp>
      <p:sp>
        <p:nvSpPr>
          <p:cNvPr id="333" name="CustomShape 25"/>
          <p:cNvSpPr/>
          <p:nvPr/>
        </p:nvSpPr>
        <p:spPr>
          <a:xfrm>
            <a:off x="3063240" y="4910400"/>
            <a:ext cx="365400" cy="310680"/>
          </a:xfrm>
          <a:prstGeom prst="chevron">
            <a:avLst>
              <a:gd name="adj" fmla="val 50000"/>
            </a:avLst>
          </a:prstGeom>
          <a:solidFill>
            <a:srgbClr val="2563eb"/>
          </a:solidFill>
          <a:ln w="12600">
            <a:solidFill>
              <a:srgbClr val="2563eb"/>
            </a:solidFill>
            <a:round/>
          </a:ln>
        </p:spPr>
        <p:style>
          <a:lnRef idx="0"/>
          <a:fillRef idx="0"/>
          <a:effectRef idx="0"/>
          <a:fontRef idx="minor"/>
        </p:style>
      </p:sp>
      <p:sp>
        <p:nvSpPr>
          <p:cNvPr id="334" name="CustomShape 26"/>
          <p:cNvSpPr/>
          <p:nvPr/>
        </p:nvSpPr>
        <p:spPr>
          <a:xfrm>
            <a:off x="3611880" y="4883040"/>
            <a:ext cx="1755360" cy="328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0" spc="-1" strike="noStrike">
                <a:solidFill>
                  <a:srgbClr val="64748b"/>
                </a:solidFill>
                <a:latin typeface="Arial"/>
              </a:rPr>
              <a:t>Expected purchases + revenue</a:t>
            </a:r>
            <a:endParaRPr b="0" lang="en-US" sz="930" spc="-1" strike="noStrike">
              <a:latin typeface="Arial"/>
            </a:endParaRPr>
          </a:p>
        </p:txBody>
      </p:sp>
      <p:sp>
        <p:nvSpPr>
          <p:cNvPr id="335" name="CustomShape 27"/>
          <p:cNvSpPr/>
          <p:nvPr/>
        </p:nvSpPr>
        <p:spPr>
          <a:xfrm>
            <a:off x="6126480" y="1444680"/>
            <a:ext cx="2514240" cy="1874160"/>
          </a:xfrm>
          <a:prstGeom prst="roundRect">
            <a:avLst>
              <a:gd name="adj" fmla="val 3902"/>
            </a:avLst>
          </a:prstGeom>
          <a:solidFill>
            <a:srgbClr val="ffffff"/>
          </a:solidFill>
          <a:ln w="12600">
            <a:solidFill>
              <a:srgbClr val="d9e2ec"/>
            </a:solidFill>
            <a:round/>
          </a:ln>
          <a:effectLst>
            <a:outerShdw algn="bl" blurRad="3" dir="0" dist="0" kx="0" ky="0" rotWithShape="0" sx="100000" sy="100000">
              <a:srgbClr val="000000">
                <a:alpha val="0"/>
              </a:srgbClr>
            </a:outerShdw>
          </a:effectLst>
        </p:spPr>
        <p:style>
          <a:lnRef idx="0"/>
          <a:fillRef idx="0"/>
          <a:effectRef idx="0"/>
          <a:fontRef idx="minor"/>
        </p:style>
      </p:sp>
      <p:sp>
        <p:nvSpPr>
          <p:cNvPr id="336" name="CustomShape 28"/>
          <p:cNvSpPr/>
          <p:nvPr/>
        </p:nvSpPr>
        <p:spPr>
          <a:xfrm>
            <a:off x="6291000" y="1609200"/>
            <a:ext cx="438480" cy="438480"/>
          </a:xfrm>
          <a:prstGeom prst="roundRect">
            <a:avLst>
              <a:gd name="adj" fmla="val 16667"/>
            </a:avLst>
          </a:prstGeom>
          <a:solidFill>
            <a:srgbClr val="2563eb"/>
          </a:solidFill>
          <a:ln w="12600">
            <a:solidFill>
              <a:srgbClr val="2563eb"/>
            </a:solidFill>
            <a:round/>
          </a:ln>
        </p:spPr>
        <p:style>
          <a:lnRef idx="0"/>
          <a:fillRef idx="0"/>
          <a:effectRef idx="0"/>
          <a:fontRef idx="minor"/>
        </p:style>
      </p:sp>
      <p:sp>
        <p:nvSpPr>
          <p:cNvPr id="337" name="CustomShape 29"/>
          <p:cNvSpPr/>
          <p:nvPr/>
        </p:nvSpPr>
        <p:spPr>
          <a:xfrm>
            <a:off x="6839640" y="1609200"/>
            <a:ext cx="163656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Training step</a:t>
            </a:r>
            <a:endParaRPr b="0" lang="en-US" sz="1400" spc="-1" strike="noStrike">
              <a:latin typeface="Arial"/>
            </a:endParaRPr>
          </a:p>
        </p:txBody>
      </p:sp>
      <p:sp>
        <p:nvSpPr>
          <p:cNvPr id="338" name="CustomShape 30"/>
          <p:cNvSpPr/>
          <p:nvPr/>
        </p:nvSpPr>
        <p:spPr>
          <a:xfrm>
            <a:off x="6327720" y="2148840"/>
            <a:ext cx="2111760" cy="10144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050" spc="-1" strike="noStrike">
                <a:solidFill>
                  <a:srgbClr val="64748b"/>
                </a:solidFill>
                <a:latin typeface="Arial"/>
              </a:rPr>
              <a:t>`sample_posterior(...)` performed the actual model fitting. Meridian does not use a scikit-learn `.fit()` call.</a:t>
            </a:r>
            <a:endParaRPr b="0" lang="en-US" sz="1050" spc="-1" strike="noStrike">
              <a:latin typeface="Arial"/>
            </a:endParaRPr>
          </a:p>
        </p:txBody>
      </p:sp>
      <p:sp>
        <p:nvSpPr>
          <p:cNvPr id="339" name="CustomShape 31"/>
          <p:cNvSpPr/>
          <p:nvPr/>
        </p:nvSpPr>
        <p:spPr>
          <a:xfrm>
            <a:off x="8869680" y="1444680"/>
            <a:ext cx="2651400" cy="1096920"/>
          </a:xfrm>
          <a:prstGeom prst="roundRect">
            <a:avLst>
              <a:gd name="adj" fmla="val 6667"/>
            </a:avLst>
          </a:prstGeom>
          <a:solidFill>
            <a:srgbClr val="ffffff"/>
          </a:solidFill>
          <a:ln w="12600">
            <a:solidFill>
              <a:srgbClr val="d9e2ec"/>
            </a:solidFill>
            <a:round/>
          </a:ln>
          <a:effectLst>
            <a:outerShdw algn="bl" blurRad="4" dir="0" dist="0" kx="0" ky="0" rotWithShape="0" sx="100000" sy="100000">
              <a:srgbClr val="000000">
                <a:alpha val="0"/>
              </a:srgbClr>
            </a:outerShdw>
          </a:effectLst>
        </p:spPr>
        <p:style>
          <a:lnRef idx="0"/>
          <a:fillRef idx="0"/>
          <a:effectRef idx="0"/>
          <a:fontRef idx="minor"/>
        </p:style>
      </p:sp>
      <p:sp>
        <p:nvSpPr>
          <p:cNvPr id="340" name="CustomShape 32"/>
          <p:cNvSpPr/>
          <p:nvPr/>
        </p:nvSpPr>
        <p:spPr>
          <a:xfrm>
            <a:off x="8869680" y="1444680"/>
            <a:ext cx="72720" cy="1096920"/>
          </a:xfrm>
          <a:prstGeom prst="rect">
            <a:avLst/>
          </a:prstGeom>
          <a:solidFill>
            <a:srgbClr val="2563eb"/>
          </a:solidFill>
          <a:ln w="12600">
            <a:solidFill>
              <a:srgbClr val="2563eb"/>
            </a:solidFill>
            <a:round/>
          </a:ln>
        </p:spPr>
        <p:style>
          <a:lnRef idx="0"/>
          <a:fillRef idx="0"/>
          <a:effectRef idx="0"/>
          <a:fontRef idx="minor"/>
        </p:style>
      </p:sp>
      <p:sp>
        <p:nvSpPr>
          <p:cNvPr id="341" name="CustomShape 33"/>
          <p:cNvSpPr/>
          <p:nvPr/>
        </p:nvSpPr>
        <p:spPr>
          <a:xfrm>
            <a:off x="9070920" y="1627560"/>
            <a:ext cx="23313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4</a:t>
            </a:r>
            <a:endParaRPr b="0" lang="en-US" sz="2500" spc="-1" strike="noStrike">
              <a:latin typeface="Arial"/>
            </a:endParaRPr>
          </a:p>
        </p:txBody>
      </p:sp>
      <p:sp>
        <p:nvSpPr>
          <p:cNvPr id="342" name="CustomShape 34"/>
          <p:cNvSpPr/>
          <p:nvPr/>
        </p:nvSpPr>
        <p:spPr>
          <a:xfrm>
            <a:off x="9070920" y="2130480"/>
            <a:ext cx="23313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MCMC chains</a:t>
            </a:r>
            <a:endParaRPr b="0" lang="en-US" sz="1050" spc="-1" strike="noStrike">
              <a:latin typeface="Arial"/>
            </a:endParaRPr>
          </a:p>
        </p:txBody>
      </p:sp>
      <p:sp>
        <p:nvSpPr>
          <p:cNvPr id="343" name="CustomShape 35"/>
          <p:cNvSpPr/>
          <p:nvPr/>
        </p:nvSpPr>
        <p:spPr>
          <a:xfrm>
            <a:off x="9070920" y="2221920"/>
            <a:ext cx="233136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2 chains per device group</a:t>
            </a:r>
            <a:endParaRPr b="0" lang="en-US" sz="820" spc="-1" strike="noStrike">
              <a:latin typeface="Arial"/>
            </a:endParaRPr>
          </a:p>
        </p:txBody>
      </p:sp>
      <p:sp>
        <p:nvSpPr>
          <p:cNvPr id="344" name="CustomShape 36"/>
          <p:cNvSpPr/>
          <p:nvPr/>
        </p:nvSpPr>
        <p:spPr>
          <a:xfrm>
            <a:off x="8869680" y="2761560"/>
            <a:ext cx="2651400" cy="1096920"/>
          </a:xfrm>
          <a:prstGeom prst="roundRect">
            <a:avLst>
              <a:gd name="adj" fmla="val 6667"/>
            </a:avLst>
          </a:prstGeom>
          <a:solidFill>
            <a:srgbClr val="ffffff"/>
          </a:solidFill>
          <a:ln w="12600">
            <a:solidFill>
              <a:srgbClr val="d9e2ec"/>
            </a:solidFill>
            <a:round/>
          </a:ln>
          <a:effectLst>
            <a:outerShdw algn="bl" blurRad="5" dir="0" dist="0" kx="0" ky="0" rotWithShape="0" sx="100000" sy="100000">
              <a:srgbClr val="000000">
                <a:alpha val="0"/>
              </a:srgbClr>
            </a:outerShdw>
          </a:effectLst>
        </p:spPr>
        <p:style>
          <a:lnRef idx="0"/>
          <a:fillRef idx="0"/>
          <a:effectRef idx="0"/>
          <a:fontRef idx="minor"/>
        </p:style>
      </p:sp>
      <p:sp>
        <p:nvSpPr>
          <p:cNvPr id="345" name="CustomShape 37"/>
          <p:cNvSpPr/>
          <p:nvPr/>
        </p:nvSpPr>
        <p:spPr>
          <a:xfrm>
            <a:off x="8869680" y="2761560"/>
            <a:ext cx="72720" cy="1096920"/>
          </a:xfrm>
          <a:prstGeom prst="rect">
            <a:avLst/>
          </a:prstGeom>
          <a:solidFill>
            <a:srgbClr val="0ea5a4"/>
          </a:solidFill>
          <a:ln w="12600">
            <a:solidFill>
              <a:srgbClr val="0ea5a4"/>
            </a:solidFill>
            <a:round/>
          </a:ln>
        </p:spPr>
        <p:style>
          <a:lnRef idx="0"/>
          <a:fillRef idx="0"/>
          <a:effectRef idx="0"/>
          <a:fontRef idx="minor"/>
        </p:style>
      </p:sp>
      <p:sp>
        <p:nvSpPr>
          <p:cNvPr id="346" name="CustomShape 38"/>
          <p:cNvSpPr/>
          <p:nvPr/>
        </p:nvSpPr>
        <p:spPr>
          <a:xfrm>
            <a:off x="9070920" y="2944440"/>
            <a:ext cx="23313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2,000</a:t>
            </a:r>
            <a:endParaRPr b="0" lang="en-US" sz="2500" spc="-1" strike="noStrike">
              <a:latin typeface="Arial"/>
            </a:endParaRPr>
          </a:p>
        </p:txBody>
      </p:sp>
      <p:sp>
        <p:nvSpPr>
          <p:cNvPr id="347" name="CustomShape 39"/>
          <p:cNvSpPr/>
          <p:nvPr/>
        </p:nvSpPr>
        <p:spPr>
          <a:xfrm>
            <a:off x="9070920" y="3447360"/>
            <a:ext cx="23313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Posterior samples</a:t>
            </a:r>
            <a:endParaRPr b="0" lang="en-US" sz="1050" spc="-1" strike="noStrike">
              <a:latin typeface="Arial"/>
            </a:endParaRPr>
          </a:p>
        </p:txBody>
      </p:sp>
      <p:sp>
        <p:nvSpPr>
          <p:cNvPr id="348" name="CustomShape 40"/>
          <p:cNvSpPr/>
          <p:nvPr/>
        </p:nvSpPr>
        <p:spPr>
          <a:xfrm>
            <a:off x="9070920" y="3538800"/>
            <a:ext cx="233136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500 retained × 4 chains</a:t>
            </a:r>
            <a:endParaRPr b="0" lang="en-US" sz="820" spc="-1" strike="noStrike">
              <a:latin typeface="Arial"/>
            </a:endParaRPr>
          </a:p>
        </p:txBody>
      </p:sp>
      <p:sp>
        <p:nvSpPr>
          <p:cNvPr id="349" name="CustomShape 41"/>
          <p:cNvSpPr/>
          <p:nvPr/>
        </p:nvSpPr>
        <p:spPr>
          <a:xfrm>
            <a:off x="6126480" y="3538800"/>
            <a:ext cx="2514240" cy="1096920"/>
          </a:xfrm>
          <a:prstGeom prst="roundRect">
            <a:avLst>
              <a:gd name="adj" fmla="val 6667"/>
            </a:avLst>
          </a:prstGeom>
          <a:solidFill>
            <a:srgbClr val="ffffff"/>
          </a:solidFill>
          <a:ln w="12600">
            <a:solidFill>
              <a:srgbClr val="d9e2ec"/>
            </a:solidFill>
            <a:round/>
          </a:ln>
          <a:effectLst>
            <a:outerShdw algn="bl" blurRad="6" dir="0" dist="0" kx="0" ky="0" rotWithShape="0" sx="100000" sy="100000">
              <a:srgbClr val="000000">
                <a:alpha val="0"/>
              </a:srgbClr>
            </a:outerShdw>
          </a:effectLst>
        </p:spPr>
        <p:style>
          <a:lnRef idx="0"/>
          <a:fillRef idx="0"/>
          <a:effectRef idx="0"/>
          <a:fontRef idx="minor"/>
        </p:style>
      </p:sp>
      <p:sp>
        <p:nvSpPr>
          <p:cNvPr id="350" name="CustomShape 42"/>
          <p:cNvSpPr/>
          <p:nvPr/>
        </p:nvSpPr>
        <p:spPr>
          <a:xfrm>
            <a:off x="6126480" y="3538800"/>
            <a:ext cx="72720" cy="1096920"/>
          </a:xfrm>
          <a:prstGeom prst="rect">
            <a:avLst/>
          </a:prstGeom>
          <a:solidFill>
            <a:srgbClr val="f59e0b"/>
          </a:solidFill>
          <a:ln w="12600">
            <a:solidFill>
              <a:srgbClr val="f59e0b"/>
            </a:solidFill>
            <a:round/>
          </a:ln>
        </p:spPr>
        <p:style>
          <a:lnRef idx="0"/>
          <a:fillRef idx="0"/>
          <a:effectRef idx="0"/>
          <a:fontRef idx="minor"/>
        </p:style>
      </p:sp>
      <p:sp>
        <p:nvSpPr>
          <p:cNvPr id="351" name="CustomShape 43"/>
          <p:cNvSpPr/>
          <p:nvPr/>
        </p:nvSpPr>
        <p:spPr>
          <a:xfrm>
            <a:off x="6327720" y="3721680"/>
            <a:ext cx="219420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20%</a:t>
            </a:r>
            <a:endParaRPr b="0" lang="en-US" sz="2500" spc="-1" strike="noStrike">
              <a:latin typeface="Arial"/>
            </a:endParaRPr>
          </a:p>
        </p:txBody>
      </p:sp>
      <p:sp>
        <p:nvSpPr>
          <p:cNvPr id="352" name="CustomShape 44"/>
          <p:cNvSpPr/>
          <p:nvPr/>
        </p:nvSpPr>
        <p:spPr>
          <a:xfrm>
            <a:off x="6327720" y="4224600"/>
            <a:ext cx="219420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Balanced holdout</a:t>
            </a:r>
            <a:endParaRPr b="0" lang="en-US" sz="1050" spc="-1" strike="noStrike">
              <a:latin typeface="Arial"/>
            </a:endParaRPr>
          </a:p>
        </p:txBody>
      </p:sp>
      <p:sp>
        <p:nvSpPr>
          <p:cNvPr id="353" name="CustomShape 45"/>
          <p:cNvSpPr/>
          <p:nvPr/>
        </p:nvSpPr>
        <p:spPr>
          <a:xfrm>
            <a:off x="6327720" y="4316040"/>
            <a:ext cx="219420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255 observations</a:t>
            </a:r>
            <a:endParaRPr b="0" lang="en-US" sz="820" spc="-1" strike="noStrike">
              <a:latin typeface="Arial"/>
            </a:endParaRPr>
          </a:p>
        </p:txBody>
      </p:sp>
      <p:sp>
        <p:nvSpPr>
          <p:cNvPr id="354" name="CustomShape 46"/>
          <p:cNvSpPr/>
          <p:nvPr/>
        </p:nvSpPr>
        <p:spPr>
          <a:xfrm>
            <a:off x="8869680" y="4078080"/>
            <a:ext cx="2651400" cy="1096920"/>
          </a:xfrm>
          <a:prstGeom prst="roundRect">
            <a:avLst>
              <a:gd name="adj" fmla="val 6667"/>
            </a:avLst>
          </a:prstGeom>
          <a:solidFill>
            <a:srgbClr val="ffffff"/>
          </a:solidFill>
          <a:ln w="12600">
            <a:solidFill>
              <a:srgbClr val="d9e2ec"/>
            </a:solidFill>
            <a:round/>
          </a:ln>
          <a:effectLst>
            <a:outerShdw algn="bl" blurRad="8" dir="0" dist="0" kx="0" ky="0" rotWithShape="0" sx="100000" sy="100000">
              <a:srgbClr val="000000">
                <a:alpha val="0"/>
              </a:srgbClr>
            </a:outerShdw>
          </a:effectLst>
        </p:spPr>
        <p:style>
          <a:lnRef idx="0"/>
          <a:fillRef idx="0"/>
          <a:effectRef idx="0"/>
          <a:fontRef idx="minor"/>
        </p:style>
      </p:sp>
      <p:sp>
        <p:nvSpPr>
          <p:cNvPr id="355" name="CustomShape 47"/>
          <p:cNvSpPr/>
          <p:nvPr/>
        </p:nvSpPr>
        <p:spPr>
          <a:xfrm>
            <a:off x="8869680" y="4078080"/>
            <a:ext cx="72720" cy="1096920"/>
          </a:xfrm>
          <a:prstGeom prst="rect">
            <a:avLst/>
          </a:prstGeom>
          <a:solidFill>
            <a:srgbClr val="ec4899"/>
          </a:solidFill>
          <a:ln w="12600">
            <a:solidFill>
              <a:srgbClr val="ec4899"/>
            </a:solidFill>
            <a:round/>
          </a:ln>
        </p:spPr>
        <p:style>
          <a:lnRef idx="0"/>
          <a:fillRef idx="0"/>
          <a:effectRef idx="0"/>
          <a:fontRef idx="minor"/>
        </p:style>
      </p:sp>
      <p:sp>
        <p:nvSpPr>
          <p:cNvPr id="356" name="CustomShape 48"/>
          <p:cNvSpPr/>
          <p:nvPr/>
        </p:nvSpPr>
        <p:spPr>
          <a:xfrm>
            <a:off x="9070920" y="4260960"/>
            <a:ext cx="23313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8 days</a:t>
            </a:r>
            <a:endParaRPr b="0" lang="en-US" sz="2500" spc="-1" strike="noStrike">
              <a:latin typeface="Arial"/>
            </a:endParaRPr>
          </a:p>
        </p:txBody>
      </p:sp>
      <p:sp>
        <p:nvSpPr>
          <p:cNvPr id="357" name="CustomShape 49"/>
          <p:cNvSpPr/>
          <p:nvPr/>
        </p:nvSpPr>
        <p:spPr>
          <a:xfrm>
            <a:off x="9070920" y="4763880"/>
            <a:ext cx="23313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Maximum media lag</a:t>
            </a:r>
            <a:endParaRPr b="0" lang="en-US" sz="1050" spc="-1" strike="noStrike">
              <a:latin typeface="Arial"/>
            </a:endParaRPr>
          </a:p>
        </p:txBody>
      </p:sp>
      <p:sp>
        <p:nvSpPr>
          <p:cNvPr id="358" name="CustomShape 50"/>
          <p:cNvSpPr/>
          <p:nvPr/>
        </p:nvSpPr>
        <p:spPr>
          <a:xfrm>
            <a:off x="9070920" y="4855320"/>
            <a:ext cx="233136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Carryover window</a:t>
            </a:r>
            <a:endParaRPr b="0" lang="en-US" sz="820" spc="-1" strike="noStrike">
              <a:latin typeface="Arial"/>
            </a:endParaRPr>
          </a:p>
        </p:txBody>
      </p:sp>
      <p:sp>
        <p:nvSpPr>
          <p:cNvPr id="359" name="CustomShape 51"/>
          <p:cNvSpPr/>
          <p:nvPr/>
        </p:nvSpPr>
        <p:spPr>
          <a:xfrm>
            <a:off x="6126480" y="4910400"/>
            <a:ext cx="2514240" cy="978120"/>
          </a:xfrm>
          <a:prstGeom prst="roundRect">
            <a:avLst>
              <a:gd name="adj" fmla="val 7477"/>
            </a:avLst>
          </a:prstGeom>
          <a:solidFill>
            <a:srgbClr val="eaf8f2"/>
          </a:solidFill>
          <a:ln w="12600">
            <a:solidFill>
              <a:srgbClr val="c7ebdd"/>
            </a:solidFill>
            <a:round/>
          </a:ln>
        </p:spPr>
        <p:style>
          <a:lnRef idx="0"/>
          <a:fillRef idx="0"/>
          <a:effectRef idx="0"/>
          <a:fontRef idx="minor"/>
        </p:style>
      </p:sp>
      <p:sp>
        <p:nvSpPr>
          <p:cNvPr id="360" name="CustomShape 52"/>
          <p:cNvSpPr/>
          <p:nvPr/>
        </p:nvSpPr>
        <p:spPr>
          <a:xfrm>
            <a:off x="6355080" y="5120640"/>
            <a:ext cx="2057040" cy="21924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1100" spc="-1" strike="noStrike">
                <a:solidFill>
                  <a:srgbClr val="0ea5a4"/>
                </a:solidFill>
                <a:latin typeface="Arial"/>
              </a:rPr>
              <a:t>Primary output</a:t>
            </a:r>
            <a:endParaRPr b="0" lang="en-US" sz="1100" spc="-1" strike="noStrike">
              <a:latin typeface="Arial"/>
            </a:endParaRPr>
          </a:p>
        </p:txBody>
      </p:sp>
      <p:sp>
        <p:nvSpPr>
          <p:cNvPr id="361" name="CustomShape 53"/>
          <p:cNvSpPr/>
          <p:nvPr/>
        </p:nvSpPr>
        <p:spPr>
          <a:xfrm>
            <a:off x="6364080" y="5403960"/>
            <a:ext cx="2029680" cy="2739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0" lang="en-US" sz="839" spc="-1" strike="noStrike">
                <a:solidFill>
                  <a:srgbClr val="64748b"/>
                </a:solidFill>
                <a:latin typeface="Arial"/>
              </a:rPr>
              <a:t>Contribution, adstock, saturation, ROI and response curves</a:t>
            </a:r>
            <a:endParaRPr b="0" lang="en-US" sz="839" spc="-1" strike="noStrike">
              <a:latin typeface="Arial"/>
            </a:endParaRPr>
          </a:p>
        </p:txBody>
      </p:sp>
      <p:sp>
        <p:nvSpPr>
          <p:cNvPr id="362" name="TextShape 54"/>
          <p:cNvSpPr txBox="1"/>
          <p:nvPr/>
        </p:nvSpPr>
        <p:spPr>
          <a:xfrm>
            <a:off x="11228760" y="6519600"/>
            <a:ext cx="411120" cy="200880"/>
          </a:xfrm>
          <a:prstGeom prst="rect">
            <a:avLst/>
          </a:prstGeom>
          <a:noFill/>
          <a:ln>
            <a:noFill/>
          </a:ln>
        </p:spPr>
        <p:txBody>
          <a:bodyPr lIns="0" rIns="0" tIns="0" bIns="0">
            <a:noAutofit/>
          </a:bodyPr>
          <a:p>
            <a:pPr algn="r">
              <a:lnSpc>
                <a:spcPct val="100000"/>
              </a:lnSpc>
            </a:pPr>
            <a:fld id="{559E893A-617B-498E-8A87-1AEBCD96F22E}"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3"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Model quality and holdout performance</a:t>
            </a:r>
            <a:endParaRPr b="0" lang="en-US" sz="2600" spc="-1" strike="noStrike">
              <a:latin typeface="Arial"/>
            </a:endParaRPr>
          </a:p>
        </p:txBody>
      </p:sp>
      <p:sp>
        <p:nvSpPr>
          <p:cNvPr id="364"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The holdout metrics remain close to training results, indicating reasonable generalization.</a:t>
            </a:r>
            <a:endParaRPr b="0" lang="en-US" sz="1050" spc="-1" strike="noStrike">
              <a:latin typeface="Arial"/>
            </a:endParaRPr>
          </a:p>
        </p:txBody>
      </p:sp>
      <p:sp>
        <p:nvSpPr>
          <p:cNvPr id="365"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366"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MODEL VALIDATION</a:t>
            </a:r>
            <a:endParaRPr b="0" lang="en-US" sz="900" spc="-1" strike="noStrike">
              <a:latin typeface="Arial"/>
            </a:endParaRPr>
          </a:p>
        </p:txBody>
      </p:sp>
      <p:sp>
        <p:nvSpPr>
          <p:cNvPr id="367" name="CustomShape 5"/>
          <p:cNvSpPr/>
          <p:nvPr/>
        </p:nvSpPr>
        <p:spPr>
          <a:xfrm>
            <a:off x="567000" y="1417320"/>
            <a:ext cx="7772040" cy="4553280"/>
          </a:xfrm>
          <a:prstGeom prst="roundRect">
            <a:avLst>
              <a:gd name="adj" fmla="val 1205"/>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pic>
        <p:nvPicPr>
          <p:cNvPr id="368" name="Image 0" descr="/mnt/data/meridian_actual_vs_expected(1).png"/>
          <p:cNvPicPr/>
          <p:nvPr/>
        </p:nvPicPr>
        <p:blipFill>
          <a:blip r:embed="rId1"/>
          <a:stretch/>
        </p:blipFill>
        <p:spPr>
          <a:xfrm>
            <a:off x="658440" y="2298960"/>
            <a:ext cx="7589160" cy="2790000"/>
          </a:xfrm>
          <a:prstGeom prst="rect">
            <a:avLst/>
          </a:prstGeom>
          <a:ln>
            <a:noFill/>
          </a:ln>
        </p:spPr>
      </p:pic>
      <p:sp>
        <p:nvSpPr>
          <p:cNvPr id="369" name="CustomShape 6"/>
          <p:cNvSpPr/>
          <p:nvPr/>
        </p:nvSpPr>
        <p:spPr>
          <a:xfrm>
            <a:off x="8577000" y="1417320"/>
            <a:ext cx="2907360" cy="932400"/>
          </a:xfrm>
          <a:prstGeom prst="roundRect">
            <a:avLst>
              <a:gd name="adj" fmla="val 7843"/>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370" name="CustomShape 7"/>
          <p:cNvSpPr/>
          <p:nvPr/>
        </p:nvSpPr>
        <p:spPr>
          <a:xfrm>
            <a:off x="8577000" y="1417320"/>
            <a:ext cx="72720" cy="932400"/>
          </a:xfrm>
          <a:prstGeom prst="rect">
            <a:avLst/>
          </a:prstGeom>
          <a:solidFill>
            <a:srgbClr val="2563eb"/>
          </a:solidFill>
          <a:ln w="12600">
            <a:solidFill>
              <a:srgbClr val="2563eb"/>
            </a:solidFill>
            <a:round/>
          </a:ln>
        </p:spPr>
        <p:style>
          <a:lnRef idx="0"/>
          <a:fillRef idx="0"/>
          <a:effectRef idx="0"/>
          <a:fontRef idx="minor"/>
        </p:style>
      </p:sp>
      <p:sp>
        <p:nvSpPr>
          <p:cNvPr id="371" name="CustomShape 8"/>
          <p:cNvSpPr/>
          <p:nvPr/>
        </p:nvSpPr>
        <p:spPr>
          <a:xfrm>
            <a:off x="8778240" y="1600200"/>
            <a:ext cx="258732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0.746</a:t>
            </a:r>
            <a:endParaRPr b="0" lang="en-US" sz="2500" spc="-1" strike="noStrike">
              <a:latin typeface="Arial"/>
            </a:endParaRPr>
          </a:p>
        </p:txBody>
      </p:sp>
      <p:sp>
        <p:nvSpPr>
          <p:cNvPr id="372" name="CustomShape 9"/>
          <p:cNvSpPr/>
          <p:nvPr/>
        </p:nvSpPr>
        <p:spPr>
          <a:xfrm>
            <a:off x="8778240" y="2103120"/>
            <a:ext cx="258732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Training R²</a:t>
            </a:r>
            <a:endParaRPr b="0" lang="en-US" sz="1050" spc="-1" strike="noStrike">
              <a:latin typeface="Arial"/>
            </a:endParaRPr>
          </a:p>
        </p:txBody>
      </p:sp>
      <p:sp>
        <p:nvSpPr>
          <p:cNvPr id="373" name="CustomShape 10"/>
          <p:cNvSpPr/>
          <p:nvPr/>
        </p:nvSpPr>
        <p:spPr>
          <a:xfrm>
            <a:off x="8577000" y="2523600"/>
            <a:ext cx="2907360" cy="932400"/>
          </a:xfrm>
          <a:prstGeom prst="roundRect">
            <a:avLst>
              <a:gd name="adj" fmla="val 7843"/>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374" name="CustomShape 11"/>
          <p:cNvSpPr/>
          <p:nvPr/>
        </p:nvSpPr>
        <p:spPr>
          <a:xfrm>
            <a:off x="8577000" y="2523600"/>
            <a:ext cx="72720" cy="932400"/>
          </a:xfrm>
          <a:prstGeom prst="rect">
            <a:avLst/>
          </a:prstGeom>
          <a:solidFill>
            <a:srgbClr val="0ea5a4"/>
          </a:solidFill>
          <a:ln w="12600">
            <a:solidFill>
              <a:srgbClr val="0ea5a4"/>
            </a:solidFill>
            <a:round/>
          </a:ln>
        </p:spPr>
        <p:style>
          <a:lnRef idx="0"/>
          <a:fillRef idx="0"/>
          <a:effectRef idx="0"/>
          <a:fontRef idx="minor"/>
        </p:style>
      </p:sp>
      <p:sp>
        <p:nvSpPr>
          <p:cNvPr id="375" name="CustomShape 12"/>
          <p:cNvSpPr/>
          <p:nvPr/>
        </p:nvSpPr>
        <p:spPr>
          <a:xfrm>
            <a:off x="8778240" y="2706480"/>
            <a:ext cx="258732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0.710</a:t>
            </a:r>
            <a:endParaRPr b="0" lang="en-US" sz="2500" spc="-1" strike="noStrike">
              <a:latin typeface="Arial"/>
            </a:endParaRPr>
          </a:p>
        </p:txBody>
      </p:sp>
      <p:sp>
        <p:nvSpPr>
          <p:cNvPr id="376" name="CustomShape 13"/>
          <p:cNvSpPr/>
          <p:nvPr/>
        </p:nvSpPr>
        <p:spPr>
          <a:xfrm>
            <a:off x="8778240" y="3209400"/>
            <a:ext cx="258732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Holdout R²</a:t>
            </a:r>
            <a:endParaRPr b="0" lang="en-US" sz="1050" spc="-1" strike="noStrike">
              <a:latin typeface="Arial"/>
            </a:endParaRPr>
          </a:p>
        </p:txBody>
      </p:sp>
      <p:sp>
        <p:nvSpPr>
          <p:cNvPr id="377" name="CustomShape 14"/>
          <p:cNvSpPr/>
          <p:nvPr/>
        </p:nvSpPr>
        <p:spPr>
          <a:xfrm>
            <a:off x="8577000" y="3630240"/>
            <a:ext cx="2907360" cy="932400"/>
          </a:xfrm>
          <a:prstGeom prst="roundRect">
            <a:avLst>
              <a:gd name="adj" fmla="val 7843"/>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378" name="CustomShape 15"/>
          <p:cNvSpPr/>
          <p:nvPr/>
        </p:nvSpPr>
        <p:spPr>
          <a:xfrm>
            <a:off x="8577000" y="3630240"/>
            <a:ext cx="72720" cy="932400"/>
          </a:xfrm>
          <a:prstGeom prst="rect">
            <a:avLst/>
          </a:prstGeom>
          <a:solidFill>
            <a:srgbClr val="f59e0b"/>
          </a:solidFill>
          <a:ln w="12600">
            <a:solidFill>
              <a:srgbClr val="f59e0b"/>
            </a:solidFill>
            <a:round/>
          </a:ln>
        </p:spPr>
        <p:style>
          <a:lnRef idx="0"/>
          <a:fillRef idx="0"/>
          <a:effectRef idx="0"/>
          <a:fontRef idx="minor"/>
        </p:style>
      </p:sp>
      <p:sp>
        <p:nvSpPr>
          <p:cNvPr id="379" name="CustomShape 16"/>
          <p:cNvSpPr/>
          <p:nvPr/>
        </p:nvSpPr>
        <p:spPr>
          <a:xfrm>
            <a:off x="8778240" y="3813120"/>
            <a:ext cx="258732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81.16</a:t>
            </a:r>
            <a:endParaRPr b="0" lang="en-US" sz="2500" spc="-1" strike="noStrike">
              <a:latin typeface="Arial"/>
            </a:endParaRPr>
          </a:p>
        </p:txBody>
      </p:sp>
      <p:sp>
        <p:nvSpPr>
          <p:cNvPr id="380" name="CustomShape 17"/>
          <p:cNvSpPr/>
          <p:nvPr/>
        </p:nvSpPr>
        <p:spPr>
          <a:xfrm>
            <a:off x="8778240" y="4316040"/>
            <a:ext cx="258732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Holdout RMSE</a:t>
            </a:r>
            <a:endParaRPr b="0" lang="en-US" sz="1050" spc="-1" strike="noStrike">
              <a:latin typeface="Arial"/>
            </a:endParaRPr>
          </a:p>
        </p:txBody>
      </p:sp>
      <p:sp>
        <p:nvSpPr>
          <p:cNvPr id="381" name="CustomShape 18"/>
          <p:cNvSpPr/>
          <p:nvPr/>
        </p:nvSpPr>
        <p:spPr>
          <a:xfrm>
            <a:off x="8778240" y="4242960"/>
            <a:ext cx="258732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Purchases/day</a:t>
            </a:r>
            <a:endParaRPr b="0" lang="en-US" sz="820" spc="-1" strike="noStrike">
              <a:latin typeface="Arial"/>
            </a:endParaRPr>
          </a:p>
        </p:txBody>
      </p:sp>
      <p:sp>
        <p:nvSpPr>
          <p:cNvPr id="382" name="CustomShape 19"/>
          <p:cNvSpPr/>
          <p:nvPr/>
        </p:nvSpPr>
        <p:spPr>
          <a:xfrm>
            <a:off x="8577000" y="4736520"/>
            <a:ext cx="2907360" cy="932400"/>
          </a:xfrm>
          <a:prstGeom prst="roundRect">
            <a:avLst>
              <a:gd name="adj" fmla="val 7843"/>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383" name="CustomShape 20"/>
          <p:cNvSpPr/>
          <p:nvPr/>
        </p:nvSpPr>
        <p:spPr>
          <a:xfrm>
            <a:off x="8577000" y="4736520"/>
            <a:ext cx="72720" cy="932400"/>
          </a:xfrm>
          <a:prstGeom prst="rect">
            <a:avLst/>
          </a:prstGeom>
          <a:solidFill>
            <a:srgbClr val="ec4899"/>
          </a:solidFill>
          <a:ln w="12600">
            <a:solidFill>
              <a:srgbClr val="ec4899"/>
            </a:solidFill>
            <a:round/>
          </a:ln>
        </p:spPr>
        <p:style>
          <a:lnRef idx="0"/>
          <a:fillRef idx="0"/>
          <a:effectRef idx="0"/>
          <a:fontRef idx="minor"/>
        </p:style>
      </p:sp>
      <p:sp>
        <p:nvSpPr>
          <p:cNvPr id="384" name="CustomShape 21"/>
          <p:cNvSpPr/>
          <p:nvPr/>
        </p:nvSpPr>
        <p:spPr>
          <a:xfrm>
            <a:off x="8778240" y="4919400"/>
            <a:ext cx="258732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15.92%</a:t>
            </a:r>
            <a:endParaRPr b="0" lang="en-US" sz="2500" spc="-1" strike="noStrike">
              <a:latin typeface="Arial"/>
            </a:endParaRPr>
          </a:p>
        </p:txBody>
      </p:sp>
      <p:sp>
        <p:nvSpPr>
          <p:cNvPr id="385" name="CustomShape 22"/>
          <p:cNvSpPr/>
          <p:nvPr/>
        </p:nvSpPr>
        <p:spPr>
          <a:xfrm>
            <a:off x="8778240" y="5422320"/>
            <a:ext cx="258732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Holdout wMAPE</a:t>
            </a:r>
            <a:endParaRPr b="0" lang="en-US" sz="1050" spc="-1" strike="noStrike">
              <a:latin typeface="Arial"/>
            </a:endParaRPr>
          </a:p>
        </p:txBody>
      </p:sp>
      <p:sp>
        <p:nvSpPr>
          <p:cNvPr id="386" name="CustomShape 23"/>
          <p:cNvSpPr/>
          <p:nvPr/>
        </p:nvSpPr>
        <p:spPr>
          <a:xfrm>
            <a:off x="713160" y="6080760"/>
            <a:ext cx="7406280" cy="328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0" spc="-1" strike="noStrike">
                <a:solidFill>
                  <a:srgbClr val="64748b"/>
                </a:solidFill>
                <a:latin typeface="Arial"/>
              </a:rPr>
              <a:t>Interpretation: the small R² gap and slightly lower holdout error suggest limited overfitting. Extreme Black Friday peaks remain difficult to capture fully.</a:t>
            </a:r>
            <a:endParaRPr b="0" lang="en-US" sz="930" spc="-1" strike="noStrike">
              <a:latin typeface="Arial"/>
            </a:endParaRPr>
          </a:p>
        </p:txBody>
      </p:sp>
      <p:sp>
        <p:nvSpPr>
          <p:cNvPr id="387" name="TextShape 24"/>
          <p:cNvSpPr txBox="1"/>
          <p:nvPr/>
        </p:nvSpPr>
        <p:spPr>
          <a:xfrm>
            <a:off x="11228760" y="6519600"/>
            <a:ext cx="411120" cy="200880"/>
          </a:xfrm>
          <a:prstGeom prst="rect">
            <a:avLst/>
          </a:prstGeom>
          <a:noFill/>
          <a:ln>
            <a:noFill/>
          </a:ln>
        </p:spPr>
        <p:txBody>
          <a:bodyPr lIns="0" rIns="0" tIns="0" bIns="0">
            <a:noAutofit/>
          </a:bodyPr>
          <a:p>
            <a:pPr algn="r">
              <a:lnSpc>
                <a:spcPct val="100000"/>
              </a:lnSpc>
            </a:pPr>
            <a:fld id="{6A21B39A-2AEB-4DB7-A6AD-4361EA076060}"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8"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Channel contribution</a:t>
            </a:r>
            <a:endParaRPr b="0" lang="en-US" sz="2600" spc="-1" strike="noStrike">
              <a:latin typeface="Arial"/>
            </a:endParaRPr>
          </a:p>
        </p:txBody>
      </p:sp>
      <p:sp>
        <p:nvSpPr>
          <p:cNvPr id="389"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Meta drives the most volume; Paid Search contributes far more than its budget share.</a:t>
            </a:r>
            <a:endParaRPr b="0" lang="en-US" sz="1050" spc="-1" strike="noStrike">
              <a:latin typeface="Arial"/>
            </a:endParaRPr>
          </a:p>
        </p:txBody>
      </p:sp>
      <p:sp>
        <p:nvSpPr>
          <p:cNvPr id="390"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391"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INCREMENTALITY</a:t>
            </a:r>
            <a:endParaRPr b="0" lang="en-US" sz="900" spc="-1" strike="noStrike">
              <a:latin typeface="Arial"/>
            </a:endParaRPr>
          </a:p>
        </p:txBody>
      </p:sp>
      <p:sp>
        <p:nvSpPr>
          <p:cNvPr id="392" name="CustomShape 5"/>
          <p:cNvSpPr/>
          <p:nvPr/>
        </p:nvSpPr>
        <p:spPr>
          <a:xfrm>
            <a:off x="567000" y="1417320"/>
            <a:ext cx="6784560" cy="4525920"/>
          </a:xfrm>
          <a:prstGeom prst="roundRect">
            <a:avLst>
              <a:gd name="adj" fmla="val 1212"/>
            </a:avLst>
          </a:prstGeom>
          <a:solidFill>
            <a:srgbClr val="ffffff"/>
          </a:solidFill>
          <a:ln w="12600">
            <a:solidFill>
              <a:srgbClr val="d9e2ec"/>
            </a:solidFill>
            <a:round/>
          </a:ln>
          <a:effectLst>
            <a:outerShdw algn="bl" blurRad="3" dir="0" dist="0" kx="0" ky="0" rotWithShape="0" sx="100000" sy="100000">
              <a:srgbClr val="000000">
                <a:alpha val="0"/>
              </a:srgbClr>
            </a:outerShdw>
          </a:effectLst>
        </p:spPr>
        <p:style>
          <a:lnRef idx="0"/>
          <a:fillRef idx="0"/>
          <a:effectRef idx="0"/>
          <a:fontRef idx="minor"/>
        </p:style>
      </p:sp>
      <p:pic>
        <p:nvPicPr>
          <p:cNvPr id="393" name="Image 0" descr="/mnt/data/mmm_deck_assets/contribution_clean.png"/>
          <p:cNvPicPr/>
          <p:nvPr/>
        </p:nvPicPr>
        <p:blipFill>
          <a:blip r:embed="rId1"/>
          <a:stretch/>
        </p:blipFill>
        <p:spPr>
          <a:xfrm>
            <a:off x="658440" y="1845720"/>
            <a:ext cx="6601680" cy="3669120"/>
          </a:xfrm>
          <a:prstGeom prst="rect">
            <a:avLst/>
          </a:prstGeom>
          <a:ln>
            <a:noFill/>
          </a:ln>
        </p:spPr>
      </p:pic>
      <p:sp>
        <p:nvSpPr>
          <p:cNvPr id="394" name="CustomShape 6"/>
          <p:cNvSpPr/>
          <p:nvPr/>
        </p:nvSpPr>
        <p:spPr>
          <a:xfrm>
            <a:off x="7616880" y="1417320"/>
            <a:ext cx="1846800" cy="1078560"/>
          </a:xfrm>
          <a:prstGeom prst="roundRect">
            <a:avLst>
              <a:gd name="adj" fmla="val 6780"/>
            </a:avLst>
          </a:prstGeom>
          <a:solidFill>
            <a:srgbClr val="ffffff"/>
          </a:solidFill>
          <a:ln w="12600">
            <a:solidFill>
              <a:srgbClr val="d9e2ec"/>
            </a:solidFill>
            <a:round/>
          </a:ln>
          <a:effectLst>
            <a:outerShdw algn="bl" blurRad="4" dir="0" dist="0" kx="0" ky="0" rotWithShape="0" sx="100000" sy="100000">
              <a:srgbClr val="000000">
                <a:alpha val="0"/>
              </a:srgbClr>
            </a:outerShdw>
          </a:effectLst>
        </p:spPr>
        <p:style>
          <a:lnRef idx="0"/>
          <a:fillRef idx="0"/>
          <a:effectRef idx="0"/>
          <a:fontRef idx="minor"/>
        </p:style>
      </p:sp>
      <p:sp>
        <p:nvSpPr>
          <p:cNvPr id="395" name="CustomShape 7"/>
          <p:cNvSpPr/>
          <p:nvPr/>
        </p:nvSpPr>
        <p:spPr>
          <a:xfrm>
            <a:off x="7616880" y="1417320"/>
            <a:ext cx="72720" cy="1078560"/>
          </a:xfrm>
          <a:prstGeom prst="rect">
            <a:avLst/>
          </a:prstGeom>
          <a:solidFill>
            <a:srgbClr val="ec4899"/>
          </a:solidFill>
          <a:ln w="12600">
            <a:solidFill>
              <a:srgbClr val="ec4899"/>
            </a:solidFill>
            <a:round/>
          </a:ln>
        </p:spPr>
        <p:style>
          <a:lnRef idx="0"/>
          <a:fillRef idx="0"/>
          <a:effectRef idx="0"/>
          <a:fontRef idx="minor"/>
        </p:style>
      </p:sp>
      <p:sp>
        <p:nvSpPr>
          <p:cNvPr id="396" name="CustomShape 8"/>
          <p:cNvSpPr/>
          <p:nvPr/>
        </p:nvSpPr>
        <p:spPr>
          <a:xfrm>
            <a:off x="7818120" y="1600200"/>
            <a:ext cx="15267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35.9%</a:t>
            </a:r>
            <a:endParaRPr b="0" lang="en-US" sz="2500" spc="-1" strike="noStrike">
              <a:latin typeface="Arial"/>
            </a:endParaRPr>
          </a:p>
        </p:txBody>
      </p:sp>
      <p:sp>
        <p:nvSpPr>
          <p:cNvPr id="397" name="CustomShape 9"/>
          <p:cNvSpPr/>
          <p:nvPr/>
        </p:nvSpPr>
        <p:spPr>
          <a:xfrm>
            <a:off x="7818120" y="2103120"/>
            <a:ext cx="15267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Instagram</a:t>
            </a:r>
            <a:endParaRPr b="0" lang="en-US" sz="1050" spc="-1" strike="noStrike">
              <a:latin typeface="Arial"/>
            </a:endParaRPr>
          </a:p>
        </p:txBody>
      </p:sp>
      <p:sp>
        <p:nvSpPr>
          <p:cNvPr id="398" name="CustomShape 10"/>
          <p:cNvSpPr/>
          <p:nvPr/>
        </p:nvSpPr>
        <p:spPr>
          <a:xfrm>
            <a:off x="9674280" y="1417320"/>
            <a:ext cx="1846800" cy="1078560"/>
          </a:xfrm>
          <a:prstGeom prst="roundRect">
            <a:avLst>
              <a:gd name="adj" fmla="val 6780"/>
            </a:avLst>
          </a:prstGeom>
          <a:solidFill>
            <a:srgbClr val="ffffff"/>
          </a:solidFill>
          <a:ln w="12600">
            <a:solidFill>
              <a:srgbClr val="d9e2ec"/>
            </a:solidFill>
            <a:round/>
          </a:ln>
          <a:effectLst>
            <a:outerShdw algn="bl" blurRad="5" dir="0" dist="0" kx="0" ky="0" rotWithShape="0" sx="100000" sy="100000">
              <a:srgbClr val="000000">
                <a:alpha val="0"/>
              </a:srgbClr>
            </a:outerShdw>
          </a:effectLst>
        </p:spPr>
        <p:style>
          <a:lnRef idx="0"/>
          <a:fillRef idx="0"/>
          <a:effectRef idx="0"/>
          <a:fontRef idx="minor"/>
        </p:style>
      </p:sp>
      <p:sp>
        <p:nvSpPr>
          <p:cNvPr id="399" name="CustomShape 11"/>
          <p:cNvSpPr/>
          <p:nvPr/>
        </p:nvSpPr>
        <p:spPr>
          <a:xfrm>
            <a:off x="9674280" y="1417320"/>
            <a:ext cx="72720" cy="1078560"/>
          </a:xfrm>
          <a:prstGeom prst="rect">
            <a:avLst/>
          </a:prstGeom>
          <a:solidFill>
            <a:srgbClr val="2563eb"/>
          </a:solidFill>
          <a:ln w="12600">
            <a:solidFill>
              <a:srgbClr val="2563eb"/>
            </a:solidFill>
            <a:round/>
          </a:ln>
        </p:spPr>
        <p:style>
          <a:lnRef idx="0"/>
          <a:fillRef idx="0"/>
          <a:effectRef idx="0"/>
          <a:fontRef idx="minor"/>
        </p:style>
      </p:sp>
      <p:sp>
        <p:nvSpPr>
          <p:cNvPr id="400" name="CustomShape 12"/>
          <p:cNvSpPr/>
          <p:nvPr/>
        </p:nvSpPr>
        <p:spPr>
          <a:xfrm>
            <a:off x="9875520" y="1600200"/>
            <a:ext cx="15267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27.6%</a:t>
            </a:r>
            <a:endParaRPr b="0" lang="en-US" sz="2500" spc="-1" strike="noStrike">
              <a:latin typeface="Arial"/>
            </a:endParaRPr>
          </a:p>
        </p:txBody>
      </p:sp>
      <p:sp>
        <p:nvSpPr>
          <p:cNvPr id="401" name="CustomShape 13"/>
          <p:cNvSpPr/>
          <p:nvPr/>
        </p:nvSpPr>
        <p:spPr>
          <a:xfrm>
            <a:off x="9875520" y="2103120"/>
            <a:ext cx="15267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Facebook</a:t>
            </a:r>
            <a:endParaRPr b="0" lang="en-US" sz="1050" spc="-1" strike="noStrike">
              <a:latin typeface="Arial"/>
            </a:endParaRPr>
          </a:p>
        </p:txBody>
      </p:sp>
      <p:sp>
        <p:nvSpPr>
          <p:cNvPr id="402" name="CustomShape 14"/>
          <p:cNvSpPr/>
          <p:nvPr/>
        </p:nvSpPr>
        <p:spPr>
          <a:xfrm>
            <a:off x="7616880" y="2706480"/>
            <a:ext cx="1846800" cy="1078560"/>
          </a:xfrm>
          <a:prstGeom prst="roundRect">
            <a:avLst>
              <a:gd name="adj" fmla="val 6780"/>
            </a:avLst>
          </a:prstGeom>
          <a:solidFill>
            <a:srgbClr val="ffffff"/>
          </a:solidFill>
          <a:ln w="12600">
            <a:solidFill>
              <a:srgbClr val="d9e2ec"/>
            </a:solidFill>
            <a:round/>
          </a:ln>
          <a:effectLst>
            <a:outerShdw algn="bl" blurRad="7" dir="0" dist="0" kx="0" ky="0" rotWithShape="0" sx="100000" sy="100000">
              <a:srgbClr val="000000">
                <a:alpha val="0"/>
              </a:srgbClr>
            </a:outerShdw>
          </a:effectLst>
        </p:spPr>
        <p:style>
          <a:lnRef idx="0"/>
          <a:fillRef idx="0"/>
          <a:effectRef idx="0"/>
          <a:fontRef idx="minor"/>
        </p:style>
      </p:sp>
      <p:sp>
        <p:nvSpPr>
          <p:cNvPr id="403" name="CustomShape 15"/>
          <p:cNvSpPr/>
          <p:nvPr/>
        </p:nvSpPr>
        <p:spPr>
          <a:xfrm>
            <a:off x="7616880" y="2706480"/>
            <a:ext cx="72720" cy="1078560"/>
          </a:xfrm>
          <a:prstGeom prst="rect">
            <a:avLst/>
          </a:prstGeom>
          <a:solidFill>
            <a:srgbClr val="0ea5a4"/>
          </a:solidFill>
          <a:ln w="12600">
            <a:solidFill>
              <a:srgbClr val="0ea5a4"/>
            </a:solidFill>
            <a:round/>
          </a:ln>
        </p:spPr>
        <p:style>
          <a:lnRef idx="0"/>
          <a:fillRef idx="0"/>
          <a:effectRef idx="0"/>
          <a:fontRef idx="minor"/>
        </p:style>
      </p:sp>
      <p:sp>
        <p:nvSpPr>
          <p:cNvPr id="404" name="CustomShape 16"/>
          <p:cNvSpPr/>
          <p:nvPr/>
        </p:nvSpPr>
        <p:spPr>
          <a:xfrm>
            <a:off x="7818120" y="2889360"/>
            <a:ext cx="15267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16.8%</a:t>
            </a:r>
            <a:endParaRPr b="0" lang="en-US" sz="2500" spc="-1" strike="noStrike">
              <a:latin typeface="Arial"/>
            </a:endParaRPr>
          </a:p>
        </p:txBody>
      </p:sp>
      <p:sp>
        <p:nvSpPr>
          <p:cNvPr id="405" name="CustomShape 17"/>
          <p:cNvSpPr/>
          <p:nvPr/>
        </p:nvSpPr>
        <p:spPr>
          <a:xfrm>
            <a:off x="7818120" y="3392280"/>
            <a:ext cx="15267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Paid Search</a:t>
            </a:r>
            <a:endParaRPr b="0" lang="en-US" sz="1050" spc="-1" strike="noStrike">
              <a:latin typeface="Arial"/>
            </a:endParaRPr>
          </a:p>
        </p:txBody>
      </p:sp>
      <p:sp>
        <p:nvSpPr>
          <p:cNvPr id="406" name="CustomShape 18"/>
          <p:cNvSpPr/>
          <p:nvPr/>
        </p:nvSpPr>
        <p:spPr>
          <a:xfrm>
            <a:off x="9674280" y="2706480"/>
            <a:ext cx="1846800" cy="1078560"/>
          </a:xfrm>
          <a:prstGeom prst="roundRect">
            <a:avLst>
              <a:gd name="adj" fmla="val 6780"/>
            </a:avLst>
          </a:prstGeom>
          <a:solidFill>
            <a:srgbClr val="ffffff"/>
          </a:solidFill>
          <a:ln w="12600">
            <a:solidFill>
              <a:srgbClr val="d9e2ec"/>
            </a:solidFill>
            <a:round/>
          </a:ln>
          <a:effectLst>
            <a:outerShdw algn="bl" blurRad="9" dir="0" dist="0" kx="0" ky="0" rotWithShape="0" sx="100000" sy="100000">
              <a:srgbClr val="000000">
                <a:alpha val="0"/>
              </a:srgbClr>
            </a:outerShdw>
          </a:effectLst>
        </p:spPr>
        <p:style>
          <a:lnRef idx="0"/>
          <a:fillRef idx="0"/>
          <a:effectRef idx="0"/>
          <a:fontRef idx="minor"/>
        </p:style>
      </p:sp>
      <p:sp>
        <p:nvSpPr>
          <p:cNvPr id="407" name="CustomShape 19"/>
          <p:cNvSpPr/>
          <p:nvPr/>
        </p:nvSpPr>
        <p:spPr>
          <a:xfrm>
            <a:off x="9674280" y="2706480"/>
            <a:ext cx="72720" cy="1078560"/>
          </a:xfrm>
          <a:prstGeom prst="rect">
            <a:avLst/>
          </a:prstGeom>
          <a:solidFill>
            <a:srgbClr val="64748b"/>
          </a:solidFill>
          <a:ln w="12600">
            <a:solidFill>
              <a:srgbClr val="64748b"/>
            </a:solidFill>
            <a:round/>
          </a:ln>
        </p:spPr>
        <p:style>
          <a:lnRef idx="0"/>
          <a:fillRef idx="0"/>
          <a:effectRef idx="0"/>
          <a:fontRef idx="minor"/>
        </p:style>
      </p:sp>
      <p:sp>
        <p:nvSpPr>
          <p:cNvPr id="408" name="CustomShape 20"/>
          <p:cNvSpPr/>
          <p:nvPr/>
        </p:nvSpPr>
        <p:spPr>
          <a:xfrm>
            <a:off x="9875520" y="2889360"/>
            <a:ext cx="15267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17.7%</a:t>
            </a:r>
            <a:endParaRPr b="0" lang="en-US" sz="2500" spc="-1" strike="noStrike">
              <a:latin typeface="Arial"/>
            </a:endParaRPr>
          </a:p>
        </p:txBody>
      </p:sp>
      <p:sp>
        <p:nvSpPr>
          <p:cNvPr id="409" name="CustomShape 21"/>
          <p:cNvSpPr/>
          <p:nvPr/>
        </p:nvSpPr>
        <p:spPr>
          <a:xfrm>
            <a:off x="9875520" y="3392280"/>
            <a:ext cx="15267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Baseline</a:t>
            </a:r>
            <a:endParaRPr b="0" lang="en-US" sz="1050" spc="-1" strike="noStrike">
              <a:latin typeface="Arial"/>
            </a:endParaRPr>
          </a:p>
        </p:txBody>
      </p:sp>
      <p:sp>
        <p:nvSpPr>
          <p:cNvPr id="410" name="CustomShape 22"/>
          <p:cNvSpPr/>
          <p:nvPr/>
        </p:nvSpPr>
        <p:spPr>
          <a:xfrm>
            <a:off x="7616880" y="4041720"/>
            <a:ext cx="3904200" cy="1901520"/>
          </a:xfrm>
          <a:prstGeom prst="roundRect">
            <a:avLst>
              <a:gd name="adj" fmla="val 3846"/>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411" name="CustomShape 23"/>
          <p:cNvSpPr/>
          <p:nvPr/>
        </p:nvSpPr>
        <p:spPr>
          <a:xfrm>
            <a:off x="7781400" y="4206240"/>
            <a:ext cx="438480" cy="438480"/>
          </a:xfrm>
          <a:prstGeom prst="roundRect">
            <a:avLst>
              <a:gd name="adj" fmla="val 16667"/>
            </a:avLst>
          </a:prstGeom>
          <a:solidFill>
            <a:srgbClr val="f59e0b"/>
          </a:solidFill>
          <a:ln w="12600">
            <a:solidFill>
              <a:srgbClr val="f59e0b"/>
            </a:solidFill>
            <a:round/>
          </a:ln>
        </p:spPr>
        <p:style>
          <a:lnRef idx="0"/>
          <a:fillRef idx="0"/>
          <a:effectRef idx="0"/>
          <a:fontRef idx="minor"/>
        </p:style>
      </p:sp>
      <p:sp>
        <p:nvSpPr>
          <p:cNvPr id="412" name="CustomShape 24"/>
          <p:cNvSpPr/>
          <p:nvPr/>
        </p:nvSpPr>
        <p:spPr>
          <a:xfrm>
            <a:off x="8330040" y="4206240"/>
            <a:ext cx="302616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Core insight</a:t>
            </a:r>
            <a:endParaRPr b="0" lang="en-US" sz="1400" spc="-1" strike="noStrike">
              <a:latin typeface="Arial"/>
            </a:endParaRPr>
          </a:p>
        </p:txBody>
      </p:sp>
      <p:sp>
        <p:nvSpPr>
          <p:cNvPr id="413" name="CustomShape 25"/>
          <p:cNvSpPr/>
          <p:nvPr/>
        </p:nvSpPr>
        <p:spPr>
          <a:xfrm>
            <a:off x="7818120" y="4745880"/>
            <a:ext cx="3501720" cy="1042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050" spc="-1" strike="noStrike">
                <a:solidFill>
                  <a:srgbClr val="64748b"/>
                </a:solidFill>
                <a:latin typeface="Arial"/>
              </a:rPr>
              <a:t>Facebook and Instagram account for 63.5% of modeled purchases, broadly matching their dominant spend. Paid Search contributes 16.8% from only 4.9% of spend, a major efficiency signal.</a:t>
            </a:r>
            <a:endParaRPr b="0" lang="en-US" sz="1050" spc="-1" strike="noStrike">
              <a:latin typeface="Arial"/>
            </a:endParaRPr>
          </a:p>
        </p:txBody>
      </p:sp>
      <p:sp>
        <p:nvSpPr>
          <p:cNvPr id="414" name="TextShape 26"/>
          <p:cNvSpPr txBox="1"/>
          <p:nvPr/>
        </p:nvSpPr>
        <p:spPr>
          <a:xfrm>
            <a:off x="11228760" y="6519600"/>
            <a:ext cx="411120" cy="200880"/>
          </a:xfrm>
          <a:prstGeom prst="rect">
            <a:avLst/>
          </a:prstGeom>
          <a:noFill/>
          <a:ln>
            <a:noFill/>
          </a:ln>
        </p:spPr>
        <p:txBody>
          <a:bodyPr lIns="0" rIns="0" tIns="0" bIns="0">
            <a:noAutofit/>
          </a:bodyPr>
          <a:p>
            <a:pPr algn="r">
              <a:lnSpc>
                <a:spcPct val="100000"/>
              </a:lnSpc>
            </a:pPr>
            <a:fld id="{9D993EBC-C972-4D55-92AC-A49938431273}"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15"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Adstock and lagged media effects</a:t>
            </a:r>
            <a:endParaRPr b="0" lang="en-US" sz="2600" spc="-1" strike="noStrike">
              <a:latin typeface="Arial"/>
            </a:endParaRPr>
          </a:p>
        </p:txBody>
      </p:sp>
      <p:sp>
        <p:nvSpPr>
          <p:cNvPr id="416"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Paid Search has a materially longer carryover window than the other channels.</a:t>
            </a:r>
            <a:endParaRPr b="0" lang="en-US" sz="1050" spc="-1" strike="noStrike">
              <a:latin typeface="Arial"/>
            </a:endParaRPr>
          </a:p>
        </p:txBody>
      </p:sp>
      <p:sp>
        <p:nvSpPr>
          <p:cNvPr id="417"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418"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CARRYOVER</a:t>
            </a:r>
            <a:endParaRPr b="0" lang="en-US" sz="900" spc="-1" strike="noStrike">
              <a:latin typeface="Arial"/>
            </a:endParaRPr>
          </a:p>
        </p:txBody>
      </p:sp>
      <p:sp>
        <p:nvSpPr>
          <p:cNvPr id="419" name="CustomShape 5"/>
          <p:cNvSpPr/>
          <p:nvPr/>
        </p:nvSpPr>
        <p:spPr>
          <a:xfrm>
            <a:off x="567000" y="1417320"/>
            <a:ext cx="6994800" cy="4498560"/>
          </a:xfrm>
          <a:prstGeom prst="roundRect">
            <a:avLst>
              <a:gd name="adj" fmla="val 1220"/>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pic>
        <p:nvPicPr>
          <p:cNvPr id="420" name="Image 0" descr="/mnt/data/mmm_deck_assets/adstock_half_life.png"/>
          <p:cNvPicPr/>
          <p:nvPr/>
        </p:nvPicPr>
        <p:blipFill>
          <a:blip r:embed="rId1"/>
          <a:stretch/>
        </p:blipFill>
        <p:spPr>
          <a:xfrm>
            <a:off x="658440" y="1840680"/>
            <a:ext cx="6811920" cy="3651480"/>
          </a:xfrm>
          <a:prstGeom prst="rect">
            <a:avLst/>
          </a:prstGeom>
          <a:ln>
            <a:noFill/>
          </a:ln>
        </p:spPr>
      </p:pic>
      <p:sp>
        <p:nvSpPr>
          <p:cNvPr id="421" name="CustomShape 6"/>
          <p:cNvSpPr/>
          <p:nvPr/>
        </p:nvSpPr>
        <p:spPr>
          <a:xfrm>
            <a:off x="7827120" y="1417320"/>
            <a:ext cx="3702960" cy="1170000"/>
          </a:xfrm>
          <a:prstGeom prst="roundRect">
            <a:avLst>
              <a:gd name="adj" fmla="val 6250"/>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422" name="CustomShape 7"/>
          <p:cNvSpPr/>
          <p:nvPr/>
        </p:nvSpPr>
        <p:spPr>
          <a:xfrm>
            <a:off x="7992000" y="1581840"/>
            <a:ext cx="438480" cy="438480"/>
          </a:xfrm>
          <a:prstGeom prst="roundRect">
            <a:avLst>
              <a:gd name="adj" fmla="val 16667"/>
            </a:avLst>
          </a:prstGeom>
          <a:solidFill>
            <a:srgbClr val="2563eb"/>
          </a:solidFill>
          <a:ln w="12600">
            <a:solidFill>
              <a:srgbClr val="2563eb"/>
            </a:solidFill>
            <a:round/>
          </a:ln>
        </p:spPr>
        <p:style>
          <a:lnRef idx="0"/>
          <a:fillRef idx="0"/>
          <a:effectRef idx="0"/>
          <a:fontRef idx="minor"/>
        </p:style>
      </p:sp>
      <p:sp>
        <p:nvSpPr>
          <p:cNvPr id="423" name="CustomShape 8"/>
          <p:cNvSpPr/>
          <p:nvPr/>
        </p:nvSpPr>
        <p:spPr>
          <a:xfrm>
            <a:off x="8540640" y="1581840"/>
            <a:ext cx="282528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Longest carryover</a:t>
            </a:r>
            <a:endParaRPr b="0" lang="en-US" sz="1400" spc="-1" strike="noStrike">
              <a:latin typeface="Arial"/>
            </a:endParaRPr>
          </a:p>
        </p:txBody>
      </p:sp>
      <p:sp>
        <p:nvSpPr>
          <p:cNvPr id="424" name="CustomShape 9"/>
          <p:cNvSpPr/>
          <p:nvPr/>
        </p:nvSpPr>
        <p:spPr>
          <a:xfrm>
            <a:off x="8028360" y="2121480"/>
            <a:ext cx="3300480" cy="3106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050" spc="-1" strike="noStrike">
                <a:solidFill>
                  <a:srgbClr val="64748b"/>
                </a:solidFill>
                <a:latin typeface="Arial"/>
              </a:rPr>
              <a:t>Google Paid Search half-life: 3.04 days; 35.2% of the initial effect remains after 7 days.</a:t>
            </a:r>
            <a:endParaRPr b="0" lang="en-US" sz="1050" spc="-1" strike="noStrike">
              <a:latin typeface="Arial"/>
            </a:endParaRPr>
          </a:p>
        </p:txBody>
      </p:sp>
      <p:sp>
        <p:nvSpPr>
          <p:cNvPr id="425" name="CustomShape 10"/>
          <p:cNvSpPr/>
          <p:nvPr/>
        </p:nvSpPr>
        <p:spPr>
          <a:xfrm>
            <a:off x="7827120" y="2761560"/>
            <a:ext cx="3702960" cy="1170000"/>
          </a:xfrm>
          <a:prstGeom prst="roundRect">
            <a:avLst>
              <a:gd name="adj" fmla="val 6250"/>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426" name="CustomShape 11"/>
          <p:cNvSpPr/>
          <p:nvPr/>
        </p:nvSpPr>
        <p:spPr>
          <a:xfrm>
            <a:off x="7992000" y="2926080"/>
            <a:ext cx="438480" cy="438480"/>
          </a:xfrm>
          <a:prstGeom prst="roundRect">
            <a:avLst>
              <a:gd name="adj" fmla="val 16667"/>
            </a:avLst>
          </a:prstGeom>
          <a:solidFill>
            <a:srgbClr val="ec4899"/>
          </a:solidFill>
          <a:ln w="12600">
            <a:solidFill>
              <a:srgbClr val="ec4899"/>
            </a:solidFill>
            <a:round/>
          </a:ln>
        </p:spPr>
        <p:style>
          <a:lnRef idx="0"/>
          <a:fillRef idx="0"/>
          <a:effectRef idx="0"/>
          <a:fontRef idx="minor"/>
        </p:style>
      </p:sp>
      <p:sp>
        <p:nvSpPr>
          <p:cNvPr id="427" name="CustomShape 12"/>
          <p:cNvSpPr/>
          <p:nvPr/>
        </p:nvSpPr>
        <p:spPr>
          <a:xfrm>
            <a:off x="8540640" y="2926080"/>
            <a:ext cx="282528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Fastest decay</a:t>
            </a:r>
            <a:endParaRPr b="0" lang="en-US" sz="1400" spc="-1" strike="noStrike">
              <a:latin typeface="Arial"/>
            </a:endParaRPr>
          </a:p>
        </p:txBody>
      </p:sp>
      <p:sp>
        <p:nvSpPr>
          <p:cNvPr id="428" name="CustomShape 13"/>
          <p:cNvSpPr/>
          <p:nvPr/>
        </p:nvSpPr>
        <p:spPr>
          <a:xfrm>
            <a:off x="8028360" y="3465720"/>
            <a:ext cx="3300480" cy="31068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050" spc="-1" strike="noStrike">
                <a:solidFill>
                  <a:srgbClr val="64748b"/>
                </a:solidFill>
                <a:latin typeface="Arial"/>
              </a:rPr>
              <a:t>Meta Facebook half-life: 0.68 days; less than 1% remains after 7 days.</a:t>
            </a:r>
            <a:endParaRPr b="0" lang="en-US" sz="1050" spc="-1" strike="noStrike">
              <a:latin typeface="Arial"/>
            </a:endParaRPr>
          </a:p>
        </p:txBody>
      </p:sp>
      <p:sp>
        <p:nvSpPr>
          <p:cNvPr id="429" name="CustomShape 14"/>
          <p:cNvSpPr/>
          <p:nvPr/>
        </p:nvSpPr>
        <p:spPr>
          <a:xfrm>
            <a:off x="7827120" y="4105800"/>
            <a:ext cx="3702960" cy="1170000"/>
          </a:xfrm>
          <a:prstGeom prst="roundRect">
            <a:avLst>
              <a:gd name="adj" fmla="val 6250"/>
            </a:avLst>
          </a:prstGeom>
          <a:solidFill>
            <a:srgbClr val="ffffff"/>
          </a:solidFill>
          <a:ln w="12600">
            <a:solidFill>
              <a:srgbClr val="d9e2ec"/>
            </a:solidFill>
            <a:round/>
          </a:ln>
          <a:effectLst>
            <a:outerShdw algn="bl" blurRad="3" dir="0" dist="0" kx="0" ky="0" rotWithShape="0" sx="100000" sy="100000">
              <a:srgbClr val="000000">
                <a:alpha val="0"/>
              </a:srgbClr>
            </a:outerShdw>
          </a:effectLst>
        </p:spPr>
        <p:style>
          <a:lnRef idx="0"/>
          <a:fillRef idx="0"/>
          <a:effectRef idx="0"/>
          <a:fontRef idx="minor"/>
        </p:style>
      </p:sp>
      <p:sp>
        <p:nvSpPr>
          <p:cNvPr id="430" name="CustomShape 15"/>
          <p:cNvSpPr/>
          <p:nvPr/>
        </p:nvSpPr>
        <p:spPr>
          <a:xfrm>
            <a:off x="7992000" y="4270320"/>
            <a:ext cx="438480" cy="438480"/>
          </a:xfrm>
          <a:prstGeom prst="roundRect">
            <a:avLst>
              <a:gd name="adj" fmla="val 16667"/>
            </a:avLst>
          </a:prstGeom>
          <a:solidFill>
            <a:srgbClr val="0ea5a4"/>
          </a:solidFill>
          <a:ln w="12600">
            <a:solidFill>
              <a:srgbClr val="0ea5a4"/>
            </a:solidFill>
            <a:round/>
          </a:ln>
        </p:spPr>
        <p:style>
          <a:lnRef idx="0"/>
          <a:fillRef idx="0"/>
          <a:effectRef idx="0"/>
          <a:fontRef idx="minor"/>
        </p:style>
      </p:sp>
      <p:sp>
        <p:nvSpPr>
          <p:cNvPr id="431" name="CustomShape 16"/>
          <p:cNvSpPr/>
          <p:nvPr/>
        </p:nvSpPr>
        <p:spPr>
          <a:xfrm>
            <a:off x="8540640" y="4270320"/>
            <a:ext cx="282528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Planning implication</a:t>
            </a:r>
            <a:endParaRPr b="0" lang="en-US" sz="1400" spc="-1" strike="noStrike">
              <a:latin typeface="Arial"/>
            </a:endParaRPr>
          </a:p>
        </p:txBody>
      </p:sp>
      <p:sp>
        <p:nvSpPr>
          <p:cNvPr id="432" name="CustomShape 17"/>
          <p:cNvSpPr/>
          <p:nvPr/>
        </p:nvSpPr>
        <p:spPr>
          <a:xfrm>
            <a:off x="8028360" y="4809600"/>
            <a:ext cx="3300480" cy="310680"/>
          </a:xfrm>
          <a:prstGeom prst="rect">
            <a:avLst/>
          </a:prstGeom>
          <a:noFill/>
          <a:ln>
            <a:noFill/>
          </a:ln>
        </p:spPr>
        <p:style>
          <a:lnRef idx="0"/>
          <a:fillRef idx="0"/>
          <a:effectRef idx="0"/>
          <a:fontRef idx="minor"/>
        </p:style>
        <p:txBody>
          <a:bodyPr lIns="0" rIns="0" tIns="0" bIns="0">
            <a:normAutofit fontScale="56000"/>
          </a:bodyPr>
          <a:p>
            <a:pPr>
              <a:lnSpc>
                <a:spcPct val="100000"/>
              </a:lnSpc>
              <a:tabLst>
                <a:tab algn="l" pos="0"/>
              </a:tabLst>
            </a:pPr>
            <a:r>
              <a:rPr b="0" lang="en-US" sz="1050" spc="-1" strike="noStrike">
                <a:solidFill>
                  <a:srgbClr val="64748b"/>
                </a:solidFill>
                <a:latin typeface="Arial"/>
              </a:rPr>
              <a:t>Search can influence purchases over several days. Meta requires more continuous exposure to sustain response.</a:t>
            </a:r>
            <a:endParaRPr b="0" lang="en-US" sz="1050" spc="-1" strike="noStrike">
              <a:latin typeface="Arial"/>
            </a:endParaRPr>
          </a:p>
        </p:txBody>
      </p:sp>
      <p:sp>
        <p:nvSpPr>
          <p:cNvPr id="433" name="CustomShape 18"/>
          <p:cNvSpPr/>
          <p:nvPr/>
        </p:nvSpPr>
        <p:spPr>
          <a:xfrm>
            <a:off x="7992000" y="5504760"/>
            <a:ext cx="3328200" cy="3470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60" spc="-1" strike="noStrike">
                <a:solidFill>
                  <a:srgbClr val="64748b"/>
                </a:solidFill>
                <a:latin typeface="Arial"/>
              </a:rPr>
              <a:t>Exact decay estimates have wide credible intervals for some channels and should be interpreted directionally.</a:t>
            </a:r>
            <a:endParaRPr b="0" lang="en-US" sz="860" spc="-1" strike="noStrike">
              <a:latin typeface="Arial"/>
            </a:endParaRPr>
          </a:p>
        </p:txBody>
      </p:sp>
      <p:sp>
        <p:nvSpPr>
          <p:cNvPr id="434" name="TextShape 19"/>
          <p:cNvSpPr txBox="1"/>
          <p:nvPr/>
        </p:nvSpPr>
        <p:spPr>
          <a:xfrm>
            <a:off x="11228760" y="6519600"/>
            <a:ext cx="411120" cy="200880"/>
          </a:xfrm>
          <a:prstGeom prst="rect">
            <a:avLst/>
          </a:prstGeom>
          <a:noFill/>
          <a:ln>
            <a:noFill/>
          </a:ln>
        </p:spPr>
        <p:txBody>
          <a:bodyPr lIns="0" rIns="0" tIns="0" bIns="0">
            <a:noAutofit/>
          </a:bodyPr>
          <a:p>
            <a:pPr algn="r">
              <a:lnSpc>
                <a:spcPct val="100000"/>
              </a:lnSpc>
            </a:pPr>
            <a:fld id="{C09D18BC-8BD7-48B4-932D-49353B425C04}"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35"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Saturation and diminishing returns</a:t>
            </a:r>
            <a:endParaRPr b="0" lang="en-US" sz="2600" spc="-1" strike="noStrike">
              <a:latin typeface="Arial"/>
            </a:endParaRPr>
          </a:p>
        </p:txBody>
      </p:sp>
      <p:sp>
        <p:nvSpPr>
          <p:cNvPr id="436"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PMAX and Shopping are operating closest to or beyond their half-saturation points.</a:t>
            </a:r>
            <a:endParaRPr b="0" lang="en-US" sz="1050" spc="-1" strike="noStrike">
              <a:latin typeface="Arial"/>
            </a:endParaRPr>
          </a:p>
        </p:txBody>
      </p:sp>
      <p:sp>
        <p:nvSpPr>
          <p:cNvPr id="437"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438"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HILL EFFECTS</a:t>
            </a:r>
            <a:endParaRPr b="0" lang="en-US" sz="900" spc="-1" strike="noStrike">
              <a:latin typeface="Arial"/>
            </a:endParaRPr>
          </a:p>
        </p:txBody>
      </p:sp>
      <p:sp>
        <p:nvSpPr>
          <p:cNvPr id="439" name="CustomShape 5"/>
          <p:cNvSpPr/>
          <p:nvPr/>
        </p:nvSpPr>
        <p:spPr>
          <a:xfrm>
            <a:off x="567000" y="1417320"/>
            <a:ext cx="6811920" cy="4525920"/>
          </a:xfrm>
          <a:prstGeom prst="roundRect">
            <a:avLst>
              <a:gd name="adj" fmla="val 1212"/>
            </a:avLst>
          </a:prstGeom>
          <a:solidFill>
            <a:srgbClr val="ffffff"/>
          </a:solidFill>
          <a:ln w="12600">
            <a:solidFill>
              <a:srgbClr val="d9e2ec"/>
            </a:solidFill>
            <a:round/>
          </a:ln>
          <a:effectLst>
            <a:outerShdw algn="bl" blurRad="3" dir="0" dist="0" kx="0" ky="0" rotWithShape="0" sx="100000" sy="100000">
              <a:srgbClr val="000000">
                <a:alpha val="0"/>
              </a:srgbClr>
            </a:outerShdw>
          </a:effectLst>
        </p:spPr>
        <p:style>
          <a:lnRef idx="0"/>
          <a:fillRef idx="0"/>
          <a:effectRef idx="0"/>
          <a:fontRef idx="minor"/>
        </p:style>
      </p:sp>
      <p:pic>
        <p:nvPicPr>
          <p:cNvPr id="440" name="Image 0" descr="/mnt/data/mmm_deck_assets/saturation_ratio.png"/>
          <p:cNvPicPr/>
          <p:nvPr/>
        </p:nvPicPr>
        <p:blipFill>
          <a:blip r:embed="rId1"/>
          <a:stretch/>
        </p:blipFill>
        <p:spPr>
          <a:xfrm>
            <a:off x="658440" y="1902600"/>
            <a:ext cx="6629040" cy="3555000"/>
          </a:xfrm>
          <a:prstGeom prst="rect">
            <a:avLst/>
          </a:prstGeom>
          <a:ln>
            <a:noFill/>
          </a:ln>
        </p:spPr>
      </p:pic>
      <p:sp>
        <p:nvSpPr>
          <p:cNvPr id="441" name="CustomShape 6"/>
          <p:cNvSpPr/>
          <p:nvPr/>
        </p:nvSpPr>
        <p:spPr>
          <a:xfrm>
            <a:off x="7635240" y="1417320"/>
            <a:ext cx="1828440" cy="1078560"/>
          </a:xfrm>
          <a:prstGeom prst="roundRect">
            <a:avLst>
              <a:gd name="adj" fmla="val 6780"/>
            </a:avLst>
          </a:prstGeom>
          <a:solidFill>
            <a:srgbClr val="ffffff"/>
          </a:solidFill>
          <a:ln w="12600">
            <a:solidFill>
              <a:srgbClr val="d9e2ec"/>
            </a:solidFill>
            <a:round/>
          </a:ln>
          <a:effectLst>
            <a:outerShdw algn="bl" blurRad="4" dir="0" dist="0" kx="0" ky="0" rotWithShape="0" sx="100000" sy="100000">
              <a:srgbClr val="000000">
                <a:alpha val="0"/>
              </a:srgbClr>
            </a:outerShdw>
          </a:effectLst>
        </p:spPr>
        <p:style>
          <a:lnRef idx="0"/>
          <a:fillRef idx="0"/>
          <a:effectRef idx="0"/>
          <a:fontRef idx="minor"/>
        </p:style>
      </p:sp>
      <p:sp>
        <p:nvSpPr>
          <p:cNvPr id="442" name="CustomShape 7"/>
          <p:cNvSpPr/>
          <p:nvPr/>
        </p:nvSpPr>
        <p:spPr>
          <a:xfrm>
            <a:off x="7635240" y="1417320"/>
            <a:ext cx="72720" cy="1078560"/>
          </a:xfrm>
          <a:prstGeom prst="rect">
            <a:avLst/>
          </a:prstGeom>
          <a:solidFill>
            <a:srgbClr val="f59e0b"/>
          </a:solidFill>
          <a:ln w="12600">
            <a:solidFill>
              <a:srgbClr val="f59e0b"/>
            </a:solidFill>
            <a:round/>
          </a:ln>
        </p:spPr>
        <p:style>
          <a:lnRef idx="0"/>
          <a:fillRef idx="0"/>
          <a:effectRef idx="0"/>
          <a:fontRef idx="minor"/>
        </p:style>
      </p:sp>
      <p:sp>
        <p:nvSpPr>
          <p:cNvPr id="443" name="CustomShape 8"/>
          <p:cNvSpPr/>
          <p:nvPr/>
        </p:nvSpPr>
        <p:spPr>
          <a:xfrm>
            <a:off x="7836480" y="1600200"/>
            <a:ext cx="150840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1.48×</a:t>
            </a:r>
            <a:endParaRPr b="0" lang="en-US" sz="2500" spc="-1" strike="noStrike">
              <a:latin typeface="Arial"/>
            </a:endParaRPr>
          </a:p>
        </p:txBody>
      </p:sp>
      <p:sp>
        <p:nvSpPr>
          <p:cNvPr id="444" name="CustomShape 9"/>
          <p:cNvSpPr/>
          <p:nvPr/>
        </p:nvSpPr>
        <p:spPr>
          <a:xfrm>
            <a:off x="7836480" y="2103120"/>
            <a:ext cx="150840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PMAX ratio</a:t>
            </a:r>
            <a:endParaRPr b="0" lang="en-US" sz="1050" spc="-1" strike="noStrike">
              <a:latin typeface="Arial"/>
            </a:endParaRPr>
          </a:p>
        </p:txBody>
      </p:sp>
      <p:sp>
        <p:nvSpPr>
          <p:cNvPr id="445" name="CustomShape 10"/>
          <p:cNvSpPr/>
          <p:nvPr/>
        </p:nvSpPr>
        <p:spPr>
          <a:xfrm>
            <a:off x="7836480" y="2176200"/>
            <a:ext cx="150840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Most saturated</a:t>
            </a:r>
            <a:endParaRPr b="0" lang="en-US" sz="820" spc="-1" strike="noStrike">
              <a:latin typeface="Arial"/>
            </a:endParaRPr>
          </a:p>
        </p:txBody>
      </p:sp>
      <p:sp>
        <p:nvSpPr>
          <p:cNvPr id="446" name="CustomShape 11"/>
          <p:cNvSpPr/>
          <p:nvPr/>
        </p:nvSpPr>
        <p:spPr>
          <a:xfrm>
            <a:off x="9683640" y="1417320"/>
            <a:ext cx="1828440" cy="1078560"/>
          </a:xfrm>
          <a:prstGeom prst="roundRect">
            <a:avLst>
              <a:gd name="adj" fmla="val 6780"/>
            </a:avLst>
          </a:prstGeom>
          <a:solidFill>
            <a:srgbClr val="ffffff"/>
          </a:solidFill>
          <a:ln w="12600">
            <a:solidFill>
              <a:srgbClr val="d9e2ec"/>
            </a:solidFill>
            <a:round/>
          </a:ln>
          <a:effectLst>
            <a:outerShdw algn="bl" blurRad="6" dir="0" dist="0" kx="0" ky="0" rotWithShape="0" sx="100000" sy="100000">
              <a:srgbClr val="000000">
                <a:alpha val="0"/>
              </a:srgbClr>
            </a:outerShdw>
          </a:effectLst>
        </p:spPr>
        <p:style>
          <a:lnRef idx="0"/>
          <a:fillRef idx="0"/>
          <a:effectRef idx="0"/>
          <a:fontRef idx="minor"/>
        </p:style>
      </p:sp>
      <p:sp>
        <p:nvSpPr>
          <p:cNvPr id="447" name="CustomShape 12"/>
          <p:cNvSpPr/>
          <p:nvPr/>
        </p:nvSpPr>
        <p:spPr>
          <a:xfrm>
            <a:off x="9683640" y="1417320"/>
            <a:ext cx="72720" cy="1078560"/>
          </a:xfrm>
          <a:prstGeom prst="rect">
            <a:avLst/>
          </a:prstGeom>
          <a:solidFill>
            <a:srgbClr val="7c3aed"/>
          </a:solidFill>
          <a:ln w="12600">
            <a:solidFill>
              <a:srgbClr val="7c3aed"/>
            </a:solidFill>
            <a:round/>
          </a:ln>
        </p:spPr>
        <p:style>
          <a:lnRef idx="0"/>
          <a:fillRef idx="0"/>
          <a:effectRef idx="0"/>
          <a:fontRef idx="minor"/>
        </p:style>
      </p:sp>
      <p:sp>
        <p:nvSpPr>
          <p:cNvPr id="448" name="CustomShape 13"/>
          <p:cNvSpPr/>
          <p:nvPr/>
        </p:nvSpPr>
        <p:spPr>
          <a:xfrm>
            <a:off x="9884520" y="1600200"/>
            <a:ext cx="150840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1.07×</a:t>
            </a:r>
            <a:endParaRPr b="0" lang="en-US" sz="2500" spc="-1" strike="noStrike">
              <a:latin typeface="Arial"/>
            </a:endParaRPr>
          </a:p>
        </p:txBody>
      </p:sp>
      <p:sp>
        <p:nvSpPr>
          <p:cNvPr id="449" name="CustomShape 14"/>
          <p:cNvSpPr/>
          <p:nvPr/>
        </p:nvSpPr>
        <p:spPr>
          <a:xfrm>
            <a:off x="9884520" y="2103120"/>
            <a:ext cx="150840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Shopping ratio</a:t>
            </a:r>
            <a:endParaRPr b="0" lang="en-US" sz="1050" spc="-1" strike="noStrike">
              <a:latin typeface="Arial"/>
            </a:endParaRPr>
          </a:p>
        </p:txBody>
      </p:sp>
      <p:sp>
        <p:nvSpPr>
          <p:cNvPr id="450" name="CustomShape 15"/>
          <p:cNvSpPr/>
          <p:nvPr/>
        </p:nvSpPr>
        <p:spPr>
          <a:xfrm>
            <a:off x="9884520" y="2176200"/>
            <a:ext cx="150840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Above threshold</a:t>
            </a:r>
            <a:endParaRPr b="0" lang="en-US" sz="820" spc="-1" strike="noStrike">
              <a:latin typeface="Arial"/>
            </a:endParaRPr>
          </a:p>
        </p:txBody>
      </p:sp>
      <p:sp>
        <p:nvSpPr>
          <p:cNvPr id="451" name="CustomShape 16"/>
          <p:cNvSpPr/>
          <p:nvPr/>
        </p:nvSpPr>
        <p:spPr>
          <a:xfrm>
            <a:off x="7635240" y="2706480"/>
            <a:ext cx="1828440" cy="1078560"/>
          </a:xfrm>
          <a:prstGeom prst="roundRect">
            <a:avLst>
              <a:gd name="adj" fmla="val 6780"/>
            </a:avLst>
          </a:prstGeom>
          <a:solidFill>
            <a:srgbClr val="ffffff"/>
          </a:solidFill>
          <a:ln w="12600">
            <a:solidFill>
              <a:srgbClr val="d9e2ec"/>
            </a:solidFill>
            <a:round/>
          </a:ln>
          <a:effectLst>
            <a:outerShdw algn="bl" blurRad="8" dir="0" dist="0" kx="0" ky="0" rotWithShape="0" sx="100000" sy="100000">
              <a:srgbClr val="000000">
                <a:alpha val="0"/>
              </a:srgbClr>
            </a:outerShdw>
          </a:effectLst>
        </p:spPr>
        <p:style>
          <a:lnRef idx="0"/>
          <a:fillRef idx="0"/>
          <a:effectRef idx="0"/>
          <a:fontRef idx="minor"/>
        </p:style>
      </p:sp>
      <p:sp>
        <p:nvSpPr>
          <p:cNvPr id="452" name="CustomShape 17"/>
          <p:cNvSpPr/>
          <p:nvPr/>
        </p:nvSpPr>
        <p:spPr>
          <a:xfrm>
            <a:off x="7635240" y="2706480"/>
            <a:ext cx="72720" cy="1078560"/>
          </a:xfrm>
          <a:prstGeom prst="rect">
            <a:avLst/>
          </a:prstGeom>
          <a:solidFill>
            <a:srgbClr val="2563eb"/>
          </a:solidFill>
          <a:ln w="12600">
            <a:solidFill>
              <a:srgbClr val="2563eb"/>
            </a:solidFill>
            <a:round/>
          </a:ln>
        </p:spPr>
        <p:style>
          <a:lnRef idx="0"/>
          <a:fillRef idx="0"/>
          <a:effectRef idx="0"/>
          <a:fontRef idx="minor"/>
        </p:style>
      </p:sp>
      <p:sp>
        <p:nvSpPr>
          <p:cNvPr id="453" name="CustomShape 18"/>
          <p:cNvSpPr/>
          <p:nvPr/>
        </p:nvSpPr>
        <p:spPr>
          <a:xfrm>
            <a:off x="7836480" y="2889360"/>
            <a:ext cx="150840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0.73×</a:t>
            </a:r>
            <a:endParaRPr b="0" lang="en-US" sz="2500" spc="-1" strike="noStrike">
              <a:latin typeface="Arial"/>
            </a:endParaRPr>
          </a:p>
        </p:txBody>
      </p:sp>
      <p:sp>
        <p:nvSpPr>
          <p:cNvPr id="454" name="CustomShape 19"/>
          <p:cNvSpPr/>
          <p:nvPr/>
        </p:nvSpPr>
        <p:spPr>
          <a:xfrm>
            <a:off x="7836480" y="3392280"/>
            <a:ext cx="150840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Paid Search</a:t>
            </a:r>
            <a:endParaRPr b="0" lang="en-US" sz="1050" spc="-1" strike="noStrike">
              <a:latin typeface="Arial"/>
            </a:endParaRPr>
          </a:p>
        </p:txBody>
      </p:sp>
      <p:sp>
        <p:nvSpPr>
          <p:cNvPr id="455" name="CustomShape 20"/>
          <p:cNvSpPr/>
          <p:nvPr/>
        </p:nvSpPr>
        <p:spPr>
          <a:xfrm>
            <a:off x="7836480" y="3465720"/>
            <a:ext cx="150840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Still below threshold</a:t>
            </a:r>
            <a:endParaRPr b="0" lang="en-US" sz="820" spc="-1" strike="noStrike">
              <a:latin typeface="Arial"/>
            </a:endParaRPr>
          </a:p>
        </p:txBody>
      </p:sp>
      <p:sp>
        <p:nvSpPr>
          <p:cNvPr id="456" name="CustomShape 21"/>
          <p:cNvSpPr/>
          <p:nvPr/>
        </p:nvSpPr>
        <p:spPr>
          <a:xfrm>
            <a:off x="9683640" y="2706480"/>
            <a:ext cx="1828440" cy="1078560"/>
          </a:xfrm>
          <a:prstGeom prst="roundRect">
            <a:avLst>
              <a:gd name="adj" fmla="val 6780"/>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457" name="CustomShape 22"/>
          <p:cNvSpPr/>
          <p:nvPr/>
        </p:nvSpPr>
        <p:spPr>
          <a:xfrm>
            <a:off x="9683640" y="2706480"/>
            <a:ext cx="72720" cy="1078560"/>
          </a:xfrm>
          <a:prstGeom prst="rect">
            <a:avLst/>
          </a:prstGeom>
          <a:solidFill>
            <a:srgbClr val="ec4899"/>
          </a:solidFill>
          <a:ln w="12600">
            <a:solidFill>
              <a:srgbClr val="ec4899"/>
            </a:solidFill>
            <a:round/>
          </a:ln>
        </p:spPr>
        <p:style>
          <a:lnRef idx="0"/>
          <a:fillRef idx="0"/>
          <a:effectRef idx="0"/>
          <a:fontRef idx="minor"/>
        </p:style>
      </p:sp>
      <p:sp>
        <p:nvSpPr>
          <p:cNvPr id="458" name="CustomShape 23"/>
          <p:cNvSpPr/>
          <p:nvPr/>
        </p:nvSpPr>
        <p:spPr>
          <a:xfrm>
            <a:off x="9884520" y="2889360"/>
            <a:ext cx="150840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0.47×</a:t>
            </a:r>
            <a:endParaRPr b="0" lang="en-US" sz="2500" spc="-1" strike="noStrike">
              <a:latin typeface="Arial"/>
            </a:endParaRPr>
          </a:p>
        </p:txBody>
      </p:sp>
      <p:sp>
        <p:nvSpPr>
          <p:cNvPr id="459" name="CustomShape 24"/>
          <p:cNvSpPr/>
          <p:nvPr/>
        </p:nvSpPr>
        <p:spPr>
          <a:xfrm>
            <a:off x="9884520" y="3392280"/>
            <a:ext cx="150840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Facebook</a:t>
            </a:r>
            <a:endParaRPr b="0" lang="en-US" sz="1050" spc="-1" strike="noStrike">
              <a:latin typeface="Arial"/>
            </a:endParaRPr>
          </a:p>
        </p:txBody>
      </p:sp>
      <p:sp>
        <p:nvSpPr>
          <p:cNvPr id="460" name="CustomShape 25"/>
          <p:cNvSpPr/>
          <p:nvPr/>
        </p:nvSpPr>
        <p:spPr>
          <a:xfrm>
            <a:off x="9884520" y="3465720"/>
            <a:ext cx="150840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Exposure headroom</a:t>
            </a:r>
            <a:endParaRPr b="0" lang="en-US" sz="820" spc="-1" strike="noStrike">
              <a:latin typeface="Arial"/>
            </a:endParaRPr>
          </a:p>
        </p:txBody>
      </p:sp>
      <p:sp>
        <p:nvSpPr>
          <p:cNvPr id="461" name="CustomShape 26"/>
          <p:cNvSpPr/>
          <p:nvPr/>
        </p:nvSpPr>
        <p:spPr>
          <a:xfrm>
            <a:off x="7635240" y="4041720"/>
            <a:ext cx="3876840" cy="1901520"/>
          </a:xfrm>
          <a:prstGeom prst="roundRect">
            <a:avLst>
              <a:gd name="adj" fmla="val 3846"/>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462" name="CustomShape 27"/>
          <p:cNvSpPr/>
          <p:nvPr/>
        </p:nvSpPr>
        <p:spPr>
          <a:xfrm>
            <a:off x="7799760" y="4206240"/>
            <a:ext cx="438480" cy="438480"/>
          </a:xfrm>
          <a:prstGeom prst="roundRect">
            <a:avLst>
              <a:gd name="adj" fmla="val 16667"/>
            </a:avLst>
          </a:prstGeom>
          <a:solidFill>
            <a:srgbClr val="0ea5a4"/>
          </a:solidFill>
          <a:ln w="12600">
            <a:solidFill>
              <a:srgbClr val="0ea5a4"/>
            </a:solidFill>
            <a:round/>
          </a:ln>
        </p:spPr>
        <p:style>
          <a:lnRef idx="0"/>
          <a:fillRef idx="0"/>
          <a:effectRef idx="0"/>
          <a:fontRef idx="minor"/>
        </p:style>
      </p:sp>
      <p:sp>
        <p:nvSpPr>
          <p:cNvPr id="463" name="CustomShape 28"/>
          <p:cNvSpPr/>
          <p:nvPr/>
        </p:nvSpPr>
        <p:spPr>
          <a:xfrm>
            <a:off x="8348400" y="4206240"/>
            <a:ext cx="299880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How to use this result</a:t>
            </a:r>
            <a:endParaRPr b="0" lang="en-US" sz="1400" spc="-1" strike="noStrike">
              <a:latin typeface="Arial"/>
            </a:endParaRPr>
          </a:p>
        </p:txBody>
      </p:sp>
      <p:sp>
        <p:nvSpPr>
          <p:cNvPr id="464" name="CustomShape 29"/>
          <p:cNvSpPr/>
          <p:nvPr/>
        </p:nvSpPr>
        <p:spPr>
          <a:xfrm>
            <a:off x="7836480" y="4745880"/>
            <a:ext cx="3474360" cy="1042200"/>
          </a:xfrm>
          <a:prstGeom prst="rect">
            <a:avLst/>
          </a:prstGeom>
          <a:noFill/>
          <a:ln>
            <a:noFill/>
          </a:ln>
        </p:spPr>
        <p:style>
          <a:lnRef idx="0"/>
          <a:fillRef idx="0"/>
          <a:effectRef idx="0"/>
          <a:fontRef idx="minor"/>
        </p:style>
        <p:txBody>
          <a:bodyPr lIns="0" rIns="0" tIns="0" bIns="0">
            <a:normAutofit/>
          </a:bodyPr>
          <a:p>
            <a:pPr>
              <a:lnSpc>
                <a:spcPct val="100000"/>
              </a:lnSpc>
              <a:tabLst>
                <a:tab algn="l" pos="0"/>
              </a:tabLst>
            </a:pPr>
            <a:r>
              <a:rPr b="0" lang="en-US" sz="1050" spc="-1" strike="noStrike">
                <a:solidFill>
                  <a:srgbClr val="64748b"/>
                </a:solidFill>
                <a:latin typeface="Arial"/>
              </a:rPr>
              <a:t>Saturation alone is not profitability. Final allocation decisions combine Hill headroom with ROI and marginal ROI. This is why Meta can show headroom but Paid Search remains the first scaling priority.</a:t>
            </a:r>
            <a:endParaRPr b="0" lang="en-US" sz="1050" spc="-1" strike="noStrike">
              <a:latin typeface="Arial"/>
            </a:endParaRPr>
          </a:p>
        </p:txBody>
      </p:sp>
      <p:sp>
        <p:nvSpPr>
          <p:cNvPr id="465" name="TextShape 30"/>
          <p:cNvSpPr txBox="1"/>
          <p:nvPr/>
        </p:nvSpPr>
        <p:spPr>
          <a:xfrm>
            <a:off x="11228760" y="6519600"/>
            <a:ext cx="411120" cy="200880"/>
          </a:xfrm>
          <a:prstGeom prst="rect">
            <a:avLst/>
          </a:prstGeom>
          <a:noFill/>
          <a:ln>
            <a:noFill/>
          </a:ln>
        </p:spPr>
        <p:txBody>
          <a:bodyPr lIns="0" rIns="0" tIns="0" bIns="0">
            <a:noAutofit/>
          </a:bodyPr>
          <a:p>
            <a:pPr algn="r">
              <a:lnSpc>
                <a:spcPct val="100000"/>
              </a:lnSpc>
            </a:pPr>
            <a:fld id="{25264EFF-BEA7-4711-9C01-9B1034A8EFC0}"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66"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ROI and marginal ROI</a:t>
            </a:r>
            <a:endParaRPr b="0" lang="en-US" sz="2600" spc="-1" strike="noStrike">
              <a:latin typeface="Arial"/>
            </a:endParaRPr>
          </a:p>
        </p:txBody>
      </p:sp>
      <p:sp>
        <p:nvSpPr>
          <p:cNvPr id="467"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Paid Search is the strongest scale opportunity; PMAX, Shopping and Video are weak at the margin.</a:t>
            </a:r>
            <a:endParaRPr b="0" lang="en-US" sz="1050" spc="-1" strike="noStrike">
              <a:latin typeface="Arial"/>
            </a:endParaRPr>
          </a:p>
        </p:txBody>
      </p:sp>
      <p:sp>
        <p:nvSpPr>
          <p:cNvPr id="468"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469"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TASK 4 · 20 POINTS</a:t>
            </a:r>
            <a:endParaRPr b="0" lang="en-US" sz="900" spc="-1" strike="noStrike">
              <a:latin typeface="Arial"/>
            </a:endParaRPr>
          </a:p>
        </p:txBody>
      </p:sp>
      <p:sp>
        <p:nvSpPr>
          <p:cNvPr id="470" name="CustomShape 5"/>
          <p:cNvSpPr/>
          <p:nvPr/>
        </p:nvSpPr>
        <p:spPr>
          <a:xfrm>
            <a:off x="567000" y="1417320"/>
            <a:ext cx="7817760" cy="4571640"/>
          </a:xfrm>
          <a:prstGeom prst="roundRect">
            <a:avLst>
              <a:gd name="adj" fmla="val 1200"/>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pic>
        <p:nvPicPr>
          <p:cNvPr id="471" name="Image 0" descr="/mnt/data/meridian_roi_mroi_comparison(1).png"/>
          <p:cNvPicPr/>
          <p:nvPr/>
        </p:nvPicPr>
        <p:blipFill>
          <a:blip r:embed="rId1"/>
          <a:stretch/>
        </p:blipFill>
        <p:spPr>
          <a:xfrm>
            <a:off x="991080" y="1508760"/>
            <a:ext cx="6969960" cy="4388760"/>
          </a:xfrm>
          <a:prstGeom prst="rect">
            <a:avLst/>
          </a:prstGeom>
          <a:ln>
            <a:noFill/>
          </a:ln>
        </p:spPr>
      </p:pic>
      <p:sp>
        <p:nvSpPr>
          <p:cNvPr id="472" name="CustomShape 6"/>
          <p:cNvSpPr/>
          <p:nvPr/>
        </p:nvSpPr>
        <p:spPr>
          <a:xfrm>
            <a:off x="8613720" y="1417320"/>
            <a:ext cx="2880000" cy="932400"/>
          </a:xfrm>
          <a:prstGeom prst="roundRect">
            <a:avLst>
              <a:gd name="adj" fmla="val 7843"/>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473" name="CustomShape 7"/>
          <p:cNvSpPr/>
          <p:nvPr/>
        </p:nvSpPr>
        <p:spPr>
          <a:xfrm>
            <a:off x="8613720" y="1417320"/>
            <a:ext cx="72720" cy="932400"/>
          </a:xfrm>
          <a:prstGeom prst="rect">
            <a:avLst/>
          </a:prstGeom>
          <a:solidFill>
            <a:srgbClr val="2563eb"/>
          </a:solidFill>
          <a:ln w="12600">
            <a:solidFill>
              <a:srgbClr val="2563eb"/>
            </a:solidFill>
            <a:round/>
          </a:ln>
        </p:spPr>
        <p:style>
          <a:lnRef idx="0"/>
          <a:fillRef idx="0"/>
          <a:effectRef idx="0"/>
          <a:fontRef idx="minor"/>
        </p:style>
      </p:sp>
      <p:sp>
        <p:nvSpPr>
          <p:cNvPr id="474" name="CustomShape 8"/>
          <p:cNvSpPr/>
          <p:nvPr/>
        </p:nvSpPr>
        <p:spPr>
          <a:xfrm>
            <a:off x="8814960" y="1600200"/>
            <a:ext cx="25599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11.53 / 5.41</a:t>
            </a:r>
            <a:endParaRPr b="0" lang="en-US" sz="2500" spc="-1" strike="noStrike">
              <a:latin typeface="Arial"/>
            </a:endParaRPr>
          </a:p>
        </p:txBody>
      </p:sp>
      <p:sp>
        <p:nvSpPr>
          <p:cNvPr id="475" name="CustomShape 9"/>
          <p:cNvSpPr/>
          <p:nvPr/>
        </p:nvSpPr>
        <p:spPr>
          <a:xfrm>
            <a:off x="8814960" y="2103120"/>
            <a:ext cx="25599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Paid Search ROI / mROI</a:t>
            </a:r>
            <a:endParaRPr b="0" lang="en-US" sz="1050" spc="-1" strike="noStrike">
              <a:latin typeface="Arial"/>
            </a:endParaRPr>
          </a:p>
        </p:txBody>
      </p:sp>
      <p:sp>
        <p:nvSpPr>
          <p:cNvPr id="476" name="CustomShape 10"/>
          <p:cNvSpPr/>
          <p:nvPr/>
        </p:nvSpPr>
        <p:spPr>
          <a:xfrm>
            <a:off x="8613720" y="2523600"/>
            <a:ext cx="2880000" cy="932400"/>
          </a:xfrm>
          <a:prstGeom prst="roundRect">
            <a:avLst>
              <a:gd name="adj" fmla="val 7843"/>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477" name="CustomShape 11"/>
          <p:cNvSpPr/>
          <p:nvPr/>
        </p:nvSpPr>
        <p:spPr>
          <a:xfrm>
            <a:off x="8613720" y="2523600"/>
            <a:ext cx="72720" cy="932400"/>
          </a:xfrm>
          <a:prstGeom prst="rect">
            <a:avLst/>
          </a:prstGeom>
          <a:solidFill>
            <a:srgbClr val="2563eb"/>
          </a:solidFill>
          <a:ln w="12600">
            <a:solidFill>
              <a:srgbClr val="2563eb"/>
            </a:solidFill>
            <a:round/>
          </a:ln>
        </p:spPr>
        <p:style>
          <a:lnRef idx="0"/>
          <a:fillRef idx="0"/>
          <a:effectRef idx="0"/>
          <a:fontRef idx="minor"/>
        </p:style>
      </p:sp>
      <p:sp>
        <p:nvSpPr>
          <p:cNvPr id="478" name="CustomShape 12"/>
          <p:cNvSpPr/>
          <p:nvPr/>
        </p:nvSpPr>
        <p:spPr>
          <a:xfrm>
            <a:off x="8814960" y="2706480"/>
            <a:ext cx="25599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2.40 / 1.42</a:t>
            </a:r>
            <a:endParaRPr b="0" lang="en-US" sz="2500" spc="-1" strike="noStrike">
              <a:latin typeface="Arial"/>
            </a:endParaRPr>
          </a:p>
        </p:txBody>
      </p:sp>
      <p:sp>
        <p:nvSpPr>
          <p:cNvPr id="479" name="CustomShape 13"/>
          <p:cNvSpPr/>
          <p:nvPr/>
        </p:nvSpPr>
        <p:spPr>
          <a:xfrm>
            <a:off x="8814960" y="3209400"/>
            <a:ext cx="25599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Facebook ROI / mROI</a:t>
            </a:r>
            <a:endParaRPr b="0" lang="en-US" sz="1050" spc="-1" strike="noStrike">
              <a:latin typeface="Arial"/>
            </a:endParaRPr>
          </a:p>
        </p:txBody>
      </p:sp>
      <p:sp>
        <p:nvSpPr>
          <p:cNvPr id="480" name="CustomShape 14"/>
          <p:cNvSpPr/>
          <p:nvPr/>
        </p:nvSpPr>
        <p:spPr>
          <a:xfrm>
            <a:off x="8613720" y="3630240"/>
            <a:ext cx="2880000" cy="932400"/>
          </a:xfrm>
          <a:prstGeom prst="roundRect">
            <a:avLst>
              <a:gd name="adj" fmla="val 7843"/>
            </a:avLst>
          </a:prstGeom>
          <a:solidFill>
            <a:srgbClr val="ffffff"/>
          </a:solidFill>
          <a:ln w="12600">
            <a:solidFill>
              <a:srgbClr val="d9e2ec"/>
            </a:solidFill>
            <a:round/>
          </a:ln>
          <a:effectLst>
            <a:outerShdw algn="bl" blurRad="3" dir="0" dist="0" kx="0" ky="0" rotWithShape="0" sx="100000" sy="100000">
              <a:srgbClr val="000000">
                <a:alpha val="0"/>
              </a:srgbClr>
            </a:outerShdw>
          </a:effectLst>
        </p:spPr>
        <p:style>
          <a:lnRef idx="0"/>
          <a:fillRef idx="0"/>
          <a:effectRef idx="0"/>
          <a:fontRef idx="minor"/>
        </p:style>
      </p:sp>
      <p:sp>
        <p:nvSpPr>
          <p:cNvPr id="481" name="CustomShape 15"/>
          <p:cNvSpPr/>
          <p:nvPr/>
        </p:nvSpPr>
        <p:spPr>
          <a:xfrm>
            <a:off x="8613720" y="3630240"/>
            <a:ext cx="72720" cy="932400"/>
          </a:xfrm>
          <a:prstGeom prst="rect">
            <a:avLst/>
          </a:prstGeom>
          <a:solidFill>
            <a:srgbClr val="ec4899"/>
          </a:solidFill>
          <a:ln w="12600">
            <a:solidFill>
              <a:srgbClr val="ec4899"/>
            </a:solidFill>
            <a:round/>
          </a:ln>
        </p:spPr>
        <p:style>
          <a:lnRef idx="0"/>
          <a:fillRef idx="0"/>
          <a:effectRef idx="0"/>
          <a:fontRef idx="minor"/>
        </p:style>
      </p:sp>
      <p:sp>
        <p:nvSpPr>
          <p:cNvPr id="482" name="CustomShape 16"/>
          <p:cNvSpPr/>
          <p:nvPr/>
        </p:nvSpPr>
        <p:spPr>
          <a:xfrm>
            <a:off x="8814960" y="3813120"/>
            <a:ext cx="25599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2.33 / 1.33</a:t>
            </a:r>
            <a:endParaRPr b="0" lang="en-US" sz="2500" spc="-1" strike="noStrike">
              <a:latin typeface="Arial"/>
            </a:endParaRPr>
          </a:p>
        </p:txBody>
      </p:sp>
      <p:sp>
        <p:nvSpPr>
          <p:cNvPr id="483" name="CustomShape 17"/>
          <p:cNvSpPr/>
          <p:nvPr/>
        </p:nvSpPr>
        <p:spPr>
          <a:xfrm>
            <a:off x="8814960" y="4316040"/>
            <a:ext cx="25599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Instagram ROI / mROI</a:t>
            </a:r>
            <a:endParaRPr b="0" lang="en-US" sz="1050" spc="-1" strike="noStrike">
              <a:latin typeface="Arial"/>
            </a:endParaRPr>
          </a:p>
        </p:txBody>
      </p:sp>
      <p:sp>
        <p:nvSpPr>
          <p:cNvPr id="484" name="CustomShape 18"/>
          <p:cNvSpPr/>
          <p:nvPr/>
        </p:nvSpPr>
        <p:spPr>
          <a:xfrm>
            <a:off x="8613720" y="4736520"/>
            <a:ext cx="2880000" cy="1252440"/>
          </a:xfrm>
          <a:prstGeom prst="roundRect">
            <a:avLst>
              <a:gd name="adj" fmla="val 5839"/>
            </a:avLst>
          </a:prstGeom>
          <a:solidFill>
            <a:srgbClr val="ffffff"/>
          </a:solidFill>
          <a:ln w="12600">
            <a:solidFill>
              <a:srgbClr val="d9e2ec"/>
            </a:solidFill>
            <a:round/>
          </a:ln>
          <a:effectLst>
            <a:outerShdw algn="bl" blurRad="4" dir="0" dist="0" kx="0" ky="0" rotWithShape="0" sx="100000" sy="100000">
              <a:srgbClr val="000000">
                <a:alpha val="0"/>
              </a:srgbClr>
            </a:outerShdw>
          </a:effectLst>
        </p:spPr>
        <p:style>
          <a:lnRef idx="0"/>
          <a:fillRef idx="0"/>
          <a:effectRef idx="0"/>
          <a:fontRef idx="minor"/>
        </p:style>
      </p:sp>
      <p:sp>
        <p:nvSpPr>
          <p:cNvPr id="485" name="CustomShape 19"/>
          <p:cNvSpPr/>
          <p:nvPr/>
        </p:nvSpPr>
        <p:spPr>
          <a:xfrm>
            <a:off x="8778240" y="4901040"/>
            <a:ext cx="438480" cy="438480"/>
          </a:xfrm>
          <a:prstGeom prst="roundRect">
            <a:avLst>
              <a:gd name="adj" fmla="val 16667"/>
            </a:avLst>
          </a:prstGeom>
          <a:solidFill>
            <a:srgbClr val="f59e0b"/>
          </a:solidFill>
          <a:ln w="12600">
            <a:solidFill>
              <a:srgbClr val="f59e0b"/>
            </a:solidFill>
            <a:round/>
          </a:ln>
        </p:spPr>
        <p:style>
          <a:lnRef idx="0"/>
          <a:fillRef idx="0"/>
          <a:effectRef idx="0"/>
          <a:fontRef idx="minor"/>
        </p:style>
      </p:sp>
      <p:sp>
        <p:nvSpPr>
          <p:cNvPr id="486" name="CustomShape 20"/>
          <p:cNvSpPr/>
          <p:nvPr/>
        </p:nvSpPr>
        <p:spPr>
          <a:xfrm>
            <a:off x="9326880" y="4901040"/>
            <a:ext cx="200232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Decision rule</a:t>
            </a:r>
            <a:endParaRPr b="0" lang="en-US" sz="1400" spc="-1" strike="noStrike">
              <a:latin typeface="Arial"/>
            </a:endParaRPr>
          </a:p>
        </p:txBody>
      </p:sp>
      <p:sp>
        <p:nvSpPr>
          <p:cNvPr id="487" name="CustomShape 21"/>
          <p:cNvSpPr/>
          <p:nvPr/>
        </p:nvSpPr>
        <p:spPr>
          <a:xfrm>
            <a:off x="8814960" y="5440680"/>
            <a:ext cx="2477520" cy="392760"/>
          </a:xfrm>
          <a:prstGeom prst="rect">
            <a:avLst/>
          </a:prstGeom>
          <a:noFill/>
          <a:ln>
            <a:noFill/>
          </a:ln>
        </p:spPr>
        <p:style>
          <a:lnRef idx="0"/>
          <a:fillRef idx="0"/>
          <a:effectRef idx="0"/>
          <a:fontRef idx="minor"/>
        </p:style>
        <p:txBody>
          <a:bodyPr lIns="0" rIns="0" tIns="0" bIns="0">
            <a:normAutofit fontScale="53000"/>
          </a:bodyPr>
          <a:p>
            <a:pPr>
              <a:lnSpc>
                <a:spcPct val="100000"/>
              </a:lnSpc>
              <a:tabLst>
                <a:tab algn="l" pos="0"/>
              </a:tabLst>
            </a:pPr>
            <a:r>
              <a:rPr b="0" lang="en-US" sz="1050" spc="-1" strike="noStrike">
                <a:solidFill>
                  <a:srgbClr val="64748b"/>
                </a:solidFill>
                <a:latin typeface="Arial"/>
              </a:rPr>
              <a:t>mROI &gt; 1 supports incremental investment. Shopping (0.46), PMAX (0.44) and Video (0.40) should be held or reduced.</a:t>
            </a:r>
            <a:endParaRPr b="0" lang="en-US" sz="1050" spc="-1" strike="noStrike">
              <a:latin typeface="Arial"/>
            </a:endParaRPr>
          </a:p>
        </p:txBody>
      </p:sp>
      <p:sp>
        <p:nvSpPr>
          <p:cNvPr id="488" name="TextShape 22"/>
          <p:cNvSpPr txBox="1"/>
          <p:nvPr/>
        </p:nvSpPr>
        <p:spPr>
          <a:xfrm>
            <a:off x="11228760" y="6519600"/>
            <a:ext cx="411120" cy="200880"/>
          </a:xfrm>
          <a:prstGeom prst="rect">
            <a:avLst/>
          </a:prstGeom>
          <a:noFill/>
          <a:ln>
            <a:noFill/>
          </a:ln>
        </p:spPr>
        <p:txBody>
          <a:bodyPr lIns="0" rIns="0" tIns="0" bIns="0">
            <a:noAutofit/>
          </a:bodyPr>
          <a:p>
            <a:pPr algn="r">
              <a:lnSpc>
                <a:spcPct val="100000"/>
              </a:lnSpc>
            </a:pPr>
            <a:fld id="{BE34880F-A296-4F2C-9957-828434C92F61}"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89"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SHAP explainability</a:t>
            </a:r>
            <a:endParaRPr b="0" lang="en-US" sz="2600" spc="-1" strike="noStrike">
              <a:latin typeface="Arial"/>
            </a:endParaRPr>
          </a:p>
        </p:txBody>
      </p:sp>
      <p:sp>
        <p:nvSpPr>
          <p:cNvPr id="490"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A high-fidelity Random Forest surrogate explains Meridian prediction patterns.</a:t>
            </a:r>
            <a:endParaRPr b="0" lang="en-US" sz="1050" spc="-1" strike="noStrike">
              <a:latin typeface="Arial"/>
            </a:endParaRPr>
          </a:p>
        </p:txBody>
      </p:sp>
      <p:sp>
        <p:nvSpPr>
          <p:cNvPr id="491"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492"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TASK 5 · 15 POINTS</a:t>
            </a:r>
            <a:endParaRPr b="0" lang="en-US" sz="900" spc="-1" strike="noStrike">
              <a:latin typeface="Arial"/>
            </a:endParaRPr>
          </a:p>
        </p:txBody>
      </p:sp>
      <p:sp>
        <p:nvSpPr>
          <p:cNvPr id="493" name="CustomShape 5"/>
          <p:cNvSpPr/>
          <p:nvPr/>
        </p:nvSpPr>
        <p:spPr>
          <a:xfrm>
            <a:off x="530280" y="1389960"/>
            <a:ext cx="5650560" cy="4251600"/>
          </a:xfrm>
          <a:prstGeom prst="roundRect">
            <a:avLst>
              <a:gd name="adj" fmla="val 1290"/>
            </a:avLst>
          </a:prstGeom>
          <a:solidFill>
            <a:srgbClr val="ffffff"/>
          </a:solidFill>
          <a:ln w="12600">
            <a:solidFill>
              <a:srgbClr val="d9e2ec"/>
            </a:solidFill>
            <a:round/>
          </a:ln>
          <a:effectLst>
            <a:outerShdw algn="bl" blurRad="5" dir="0" dist="0" kx="0" ky="0" rotWithShape="0" sx="100000" sy="100000">
              <a:srgbClr val="000000">
                <a:alpha val="0"/>
              </a:srgbClr>
            </a:outerShdw>
          </a:effectLst>
        </p:spPr>
        <p:style>
          <a:lnRef idx="0"/>
          <a:fillRef idx="0"/>
          <a:effectRef idx="0"/>
          <a:fontRef idx="minor"/>
        </p:style>
      </p:sp>
      <p:pic>
        <p:nvPicPr>
          <p:cNvPr id="494" name="Image 0" descr="/mnt/data/mmm_deck_assets/shap_top10.png"/>
          <p:cNvPicPr/>
          <p:nvPr/>
        </p:nvPicPr>
        <p:blipFill>
          <a:blip r:embed="rId1"/>
          <a:stretch/>
        </p:blipFill>
        <p:spPr>
          <a:xfrm>
            <a:off x="621720" y="1996200"/>
            <a:ext cx="5467680" cy="3038760"/>
          </a:xfrm>
          <a:prstGeom prst="rect">
            <a:avLst/>
          </a:prstGeom>
          <a:ln>
            <a:noFill/>
          </a:ln>
        </p:spPr>
      </p:pic>
      <p:sp>
        <p:nvSpPr>
          <p:cNvPr id="495" name="CustomShape 6"/>
          <p:cNvSpPr/>
          <p:nvPr/>
        </p:nvSpPr>
        <p:spPr>
          <a:xfrm>
            <a:off x="6419160" y="1389960"/>
            <a:ext cx="5193360" cy="4251600"/>
          </a:xfrm>
          <a:prstGeom prst="roundRect">
            <a:avLst>
              <a:gd name="adj" fmla="val 1290"/>
            </a:avLst>
          </a:prstGeom>
          <a:solidFill>
            <a:srgbClr val="ffffff"/>
          </a:solidFill>
          <a:ln w="12600">
            <a:solidFill>
              <a:srgbClr val="d9e2ec"/>
            </a:solidFill>
            <a:round/>
          </a:ln>
          <a:effectLst>
            <a:outerShdw algn="bl" blurRad="6" dir="0" dist="0" kx="0" ky="0" rotWithShape="0" sx="100000" sy="100000">
              <a:srgbClr val="000000">
                <a:alpha val="0"/>
              </a:srgbClr>
            </a:outerShdw>
          </a:effectLst>
        </p:spPr>
        <p:style>
          <a:lnRef idx="0"/>
          <a:fillRef idx="0"/>
          <a:effectRef idx="0"/>
          <a:fontRef idx="minor"/>
        </p:style>
      </p:sp>
      <p:pic>
        <p:nvPicPr>
          <p:cNvPr id="496" name="Image 1" descr="/mnt/data/mmm_deck_assets/shap_signed.png"/>
          <p:cNvPicPr/>
          <p:nvPr/>
        </p:nvPicPr>
        <p:blipFill>
          <a:blip r:embed="rId2"/>
          <a:stretch/>
        </p:blipFill>
        <p:spPr>
          <a:xfrm>
            <a:off x="6510600" y="1804680"/>
            <a:ext cx="5010480" cy="3421800"/>
          </a:xfrm>
          <a:prstGeom prst="rect">
            <a:avLst/>
          </a:prstGeom>
          <a:ln>
            <a:noFill/>
          </a:ln>
        </p:spPr>
      </p:pic>
      <p:sp>
        <p:nvSpPr>
          <p:cNvPr id="497" name="CustomShape 7"/>
          <p:cNvSpPr/>
          <p:nvPr/>
        </p:nvSpPr>
        <p:spPr>
          <a:xfrm>
            <a:off x="530280" y="5797440"/>
            <a:ext cx="1517400" cy="822600"/>
          </a:xfrm>
          <a:prstGeom prst="roundRect">
            <a:avLst>
              <a:gd name="adj" fmla="val 8889"/>
            </a:avLst>
          </a:prstGeom>
          <a:solidFill>
            <a:srgbClr val="ffffff"/>
          </a:solidFill>
          <a:ln w="12600">
            <a:solidFill>
              <a:srgbClr val="d9e2ec"/>
            </a:solidFill>
            <a:round/>
          </a:ln>
          <a:effectLst>
            <a:outerShdw algn="bl" blurRad="8" dir="0" dist="0" kx="0" ky="0" rotWithShape="0" sx="100000" sy="100000">
              <a:srgbClr val="000000">
                <a:alpha val="0"/>
              </a:srgbClr>
            </a:outerShdw>
          </a:effectLst>
        </p:spPr>
        <p:style>
          <a:lnRef idx="0"/>
          <a:fillRef idx="0"/>
          <a:effectRef idx="0"/>
          <a:fontRef idx="minor"/>
        </p:style>
      </p:sp>
      <p:sp>
        <p:nvSpPr>
          <p:cNvPr id="498" name="CustomShape 8"/>
          <p:cNvSpPr/>
          <p:nvPr/>
        </p:nvSpPr>
        <p:spPr>
          <a:xfrm>
            <a:off x="530280" y="5797440"/>
            <a:ext cx="72720" cy="822600"/>
          </a:xfrm>
          <a:prstGeom prst="rect">
            <a:avLst/>
          </a:prstGeom>
          <a:solidFill>
            <a:srgbClr val="0ea5a4"/>
          </a:solidFill>
          <a:ln w="12600">
            <a:solidFill>
              <a:srgbClr val="0ea5a4"/>
            </a:solidFill>
            <a:round/>
          </a:ln>
        </p:spPr>
        <p:style>
          <a:lnRef idx="0"/>
          <a:fillRef idx="0"/>
          <a:effectRef idx="0"/>
          <a:fontRef idx="minor"/>
        </p:style>
      </p:sp>
      <p:sp>
        <p:nvSpPr>
          <p:cNvPr id="499" name="CustomShape 9"/>
          <p:cNvSpPr/>
          <p:nvPr/>
        </p:nvSpPr>
        <p:spPr>
          <a:xfrm>
            <a:off x="731520" y="5980320"/>
            <a:ext cx="11973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0.974</a:t>
            </a:r>
            <a:endParaRPr b="0" lang="en-US" sz="2500" spc="-1" strike="noStrike">
              <a:latin typeface="Arial"/>
            </a:endParaRPr>
          </a:p>
        </p:txBody>
      </p:sp>
      <p:sp>
        <p:nvSpPr>
          <p:cNvPr id="500" name="CustomShape 10"/>
          <p:cNvSpPr/>
          <p:nvPr/>
        </p:nvSpPr>
        <p:spPr>
          <a:xfrm>
            <a:off x="731520" y="6483240"/>
            <a:ext cx="11973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Surrogate R²</a:t>
            </a:r>
            <a:endParaRPr b="0" lang="en-US" sz="1050" spc="-1" strike="noStrike">
              <a:latin typeface="Arial"/>
            </a:endParaRPr>
          </a:p>
        </p:txBody>
      </p:sp>
      <p:sp>
        <p:nvSpPr>
          <p:cNvPr id="501" name="CustomShape 11"/>
          <p:cNvSpPr/>
          <p:nvPr/>
        </p:nvSpPr>
        <p:spPr>
          <a:xfrm>
            <a:off x="731520" y="6300360"/>
            <a:ext cx="119736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Holdout</a:t>
            </a:r>
            <a:endParaRPr b="0" lang="en-US" sz="820" spc="-1" strike="noStrike">
              <a:latin typeface="Arial"/>
            </a:endParaRPr>
          </a:p>
        </p:txBody>
      </p:sp>
      <p:sp>
        <p:nvSpPr>
          <p:cNvPr id="502" name="CustomShape 12"/>
          <p:cNvSpPr/>
          <p:nvPr/>
        </p:nvSpPr>
        <p:spPr>
          <a:xfrm>
            <a:off x="2231280" y="5797440"/>
            <a:ext cx="1517400" cy="822600"/>
          </a:xfrm>
          <a:prstGeom prst="roundRect">
            <a:avLst>
              <a:gd name="adj" fmla="val 8889"/>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503" name="CustomShape 13"/>
          <p:cNvSpPr/>
          <p:nvPr/>
        </p:nvSpPr>
        <p:spPr>
          <a:xfrm>
            <a:off x="2231280" y="5797440"/>
            <a:ext cx="72720" cy="822600"/>
          </a:xfrm>
          <a:prstGeom prst="rect">
            <a:avLst/>
          </a:prstGeom>
          <a:solidFill>
            <a:srgbClr val="2563eb"/>
          </a:solidFill>
          <a:ln w="12600">
            <a:solidFill>
              <a:srgbClr val="2563eb"/>
            </a:solidFill>
            <a:round/>
          </a:ln>
        </p:spPr>
        <p:style>
          <a:lnRef idx="0"/>
          <a:fillRef idx="0"/>
          <a:effectRef idx="0"/>
          <a:fontRef idx="minor"/>
        </p:style>
      </p:sp>
      <p:sp>
        <p:nvSpPr>
          <p:cNvPr id="504" name="CustomShape 14"/>
          <p:cNvSpPr/>
          <p:nvPr/>
        </p:nvSpPr>
        <p:spPr>
          <a:xfrm>
            <a:off x="2432160" y="5980320"/>
            <a:ext cx="1197360" cy="4384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2500" spc="-1" strike="noStrike">
                <a:solidFill>
                  <a:srgbClr val="0b1f33"/>
                </a:solidFill>
                <a:latin typeface="Arial"/>
              </a:rPr>
              <a:t>0.988</a:t>
            </a:r>
            <a:endParaRPr b="0" lang="en-US" sz="2500" spc="-1" strike="noStrike">
              <a:latin typeface="Arial"/>
            </a:endParaRPr>
          </a:p>
        </p:txBody>
      </p:sp>
      <p:sp>
        <p:nvSpPr>
          <p:cNvPr id="505" name="CustomShape 15"/>
          <p:cNvSpPr/>
          <p:nvPr/>
        </p:nvSpPr>
        <p:spPr>
          <a:xfrm>
            <a:off x="2432160" y="6483240"/>
            <a:ext cx="1197360" cy="319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50" spc="-1" strike="noStrike">
                <a:solidFill>
                  <a:srgbClr val="64748b"/>
                </a:solidFill>
                <a:latin typeface="Arial"/>
              </a:rPr>
              <a:t>Correlation</a:t>
            </a:r>
            <a:endParaRPr b="0" lang="en-US" sz="1050" spc="-1" strike="noStrike">
              <a:latin typeface="Arial"/>
            </a:endParaRPr>
          </a:p>
        </p:txBody>
      </p:sp>
      <p:sp>
        <p:nvSpPr>
          <p:cNvPr id="506" name="CustomShape 16"/>
          <p:cNvSpPr/>
          <p:nvPr/>
        </p:nvSpPr>
        <p:spPr>
          <a:xfrm>
            <a:off x="2432160" y="6300360"/>
            <a:ext cx="1197360" cy="1825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20" spc="-1" strike="noStrike">
                <a:solidFill>
                  <a:srgbClr val="94a3b8"/>
                </a:solidFill>
                <a:latin typeface="Arial"/>
              </a:rPr>
              <a:t>With Meridian</a:t>
            </a:r>
            <a:endParaRPr b="0" lang="en-US" sz="820" spc="-1" strike="noStrike">
              <a:latin typeface="Arial"/>
            </a:endParaRPr>
          </a:p>
        </p:txBody>
      </p:sp>
      <p:sp>
        <p:nvSpPr>
          <p:cNvPr id="507" name="CustomShape 17"/>
          <p:cNvSpPr/>
          <p:nvPr/>
        </p:nvSpPr>
        <p:spPr>
          <a:xfrm>
            <a:off x="3931920" y="5797440"/>
            <a:ext cx="3309840" cy="822600"/>
          </a:xfrm>
          <a:prstGeom prst="roundRect">
            <a:avLst>
              <a:gd name="adj" fmla="val 8889"/>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508" name="CustomShape 18"/>
          <p:cNvSpPr/>
          <p:nvPr/>
        </p:nvSpPr>
        <p:spPr>
          <a:xfrm>
            <a:off x="4096440" y="5961960"/>
            <a:ext cx="438480" cy="438480"/>
          </a:xfrm>
          <a:prstGeom prst="roundRect">
            <a:avLst>
              <a:gd name="adj" fmla="val 16667"/>
            </a:avLst>
          </a:prstGeom>
          <a:solidFill>
            <a:srgbClr val="f59e0b"/>
          </a:solidFill>
          <a:ln w="12600">
            <a:solidFill>
              <a:srgbClr val="f59e0b"/>
            </a:solidFill>
            <a:round/>
          </a:ln>
        </p:spPr>
        <p:style>
          <a:lnRef idx="0"/>
          <a:fillRef idx="0"/>
          <a:effectRef idx="0"/>
          <a:fontRef idx="minor"/>
        </p:style>
      </p:sp>
      <p:sp>
        <p:nvSpPr>
          <p:cNvPr id="509" name="CustomShape 19"/>
          <p:cNvSpPr/>
          <p:nvPr/>
        </p:nvSpPr>
        <p:spPr>
          <a:xfrm>
            <a:off x="4645080" y="5961960"/>
            <a:ext cx="243180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Interpretation</a:t>
            </a:r>
            <a:endParaRPr b="0" lang="en-US" sz="1400" spc="-1" strike="noStrike">
              <a:latin typeface="Arial"/>
            </a:endParaRPr>
          </a:p>
        </p:txBody>
      </p:sp>
      <p:sp>
        <p:nvSpPr>
          <p:cNvPr id="510" name="CustomShape 20"/>
          <p:cNvSpPr/>
          <p:nvPr/>
        </p:nvSpPr>
        <p:spPr>
          <a:xfrm>
            <a:off x="4133160" y="6464160"/>
            <a:ext cx="2907360" cy="37080"/>
          </a:xfrm>
          <a:prstGeom prst="rect">
            <a:avLst/>
          </a:prstGeom>
          <a:noFill/>
          <a:ln>
            <a:noFill/>
          </a:ln>
        </p:spPr>
        <p:style>
          <a:lnRef idx="0"/>
          <a:fillRef idx="0"/>
          <a:effectRef idx="0"/>
          <a:fontRef idx="minor"/>
        </p:style>
        <p:txBody>
          <a:bodyPr lIns="0" rIns="0" tIns="0" bIns="0">
            <a:normAutofit fontScale="4000"/>
          </a:bodyPr>
          <a:p>
            <a:pPr>
              <a:lnSpc>
                <a:spcPct val="100000"/>
              </a:lnSpc>
              <a:tabLst>
                <a:tab algn="l" pos="0"/>
              </a:tabLst>
            </a:pPr>
            <a:r>
              <a:rPr b="0" lang="en-US" sz="1050" spc="-1" strike="noStrike">
                <a:solidFill>
                  <a:srgbClr val="64748b"/>
                </a:solidFill>
                <a:latin typeface="Arial"/>
              </a:rPr>
              <a:t>Trend and email dominate prediction; Meta and PMAX lead paid-media SHAP importance.</a:t>
            </a:r>
            <a:endParaRPr b="0" lang="en-US" sz="1050" spc="-1" strike="noStrike">
              <a:latin typeface="Arial"/>
            </a:endParaRPr>
          </a:p>
        </p:txBody>
      </p:sp>
      <p:sp>
        <p:nvSpPr>
          <p:cNvPr id="511" name="CustomShape 21"/>
          <p:cNvSpPr/>
          <p:nvPr/>
        </p:nvSpPr>
        <p:spPr>
          <a:xfrm>
            <a:off x="7479720" y="5797440"/>
            <a:ext cx="4132800" cy="822600"/>
          </a:xfrm>
          <a:prstGeom prst="roundRect">
            <a:avLst>
              <a:gd name="adj" fmla="val 8889"/>
            </a:avLst>
          </a:prstGeom>
          <a:solidFill>
            <a:srgbClr val="ffffff"/>
          </a:solidFill>
          <a:ln w="12600">
            <a:solidFill>
              <a:srgbClr val="d9e2ec"/>
            </a:solidFill>
            <a:round/>
          </a:ln>
          <a:effectLst>
            <a:outerShdw algn="bl" blurRad="1" dir="0" dist="0" kx="0" ky="0" rotWithShape="0" sx="100000" sy="100000">
              <a:srgbClr val="000000">
                <a:alpha val="0"/>
              </a:srgbClr>
            </a:outerShdw>
          </a:effectLst>
        </p:spPr>
        <p:style>
          <a:lnRef idx="0"/>
          <a:fillRef idx="0"/>
          <a:effectRef idx="0"/>
          <a:fontRef idx="minor"/>
        </p:style>
      </p:sp>
      <p:sp>
        <p:nvSpPr>
          <p:cNvPr id="512" name="CustomShape 22"/>
          <p:cNvSpPr/>
          <p:nvPr/>
        </p:nvSpPr>
        <p:spPr>
          <a:xfrm>
            <a:off x="7644240" y="5961960"/>
            <a:ext cx="438480" cy="438480"/>
          </a:xfrm>
          <a:prstGeom prst="roundRect">
            <a:avLst>
              <a:gd name="adj" fmla="val 16667"/>
            </a:avLst>
          </a:prstGeom>
          <a:solidFill>
            <a:srgbClr val="2563eb"/>
          </a:solidFill>
          <a:ln w="12600">
            <a:solidFill>
              <a:srgbClr val="2563eb"/>
            </a:solidFill>
            <a:round/>
          </a:ln>
        </p:spPr>
        <p:style>
          <a:lnRef idx="0"/>
          <a:fillRef idx="0"/>
          <a:effectRef idx="0"/>
          <a:fontRef idx="minor"/>
        </p:style>
      </p:sp>
      <p:sp>
        <p:nvSpPr>
          <p:cNvPr id="513" name="CustomShape 23"/>
          <p:cNvSpPr/>
          <p:nvPr/>
        </p:nvSpPr>
        <p:spPr>
          <a:xfrm>
            <a:off x="8192880" y="5961960"/>
            <a:ext cx="3254760" cy="31068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400" spc="-1" strike="noStrike">
                <a:solidFill>
                  <a:srgbClr val="0b1f33"/>
                </a:solidFill>
                <a:latin typeface="Arial"/>
              </a:rPr>
              <a:t>Important distinction</a:t>
            </a:r>
            <a:endParaRPr b="0" lang="en-US" sz="1400" spc="-1" strike="noStrike">
              <a:latin typeface="Arial"/>
            </a:endParaRPr>
          </a:p>
        </p:txBody>
      </p:sp>
      <p:sp>
        <p:nvSpPr>
          <p:cNvPr id="514" name="CustomShape 24"/>
          <p:cNvSpPr/>
          <p:nvPr/>
        </p:nvSpPr>
        <p:spPr>
          <a:xfrm>
            <a:off x="7680960" y="6464160"/>
            <a:ext cx="3730320" cy="37080"/>
          </a:xfrm>
          <a:prstGeom prst="rect">
            <a:avLst/>
          </a:prstGeom>
          <a:noFill/>
          <a:ln>
            <a:noFill/>
          </a:ln>
        </p:spPr>
        <p:style>
          <a:lnRef idx="0"/>
          <a:fillRef idx="0"/>
          <a:effectRef idx="0"/>
          <a:fontRef idx="minor"/>
        </p:style>
        <p:txBody>
          <a:bodyPr lIns="0" rIns="0" tIns="0" bIns="0">
            <a:normAutofit fontScale="4000"/>
          </a:bodyPr>
          <a:p>
            <a:pPr>
              <a:lnSpc>
                <a:spcPct val="100000"/>
              </a:lnSpc>
              <a:tabLst>
                <a:tab algn="l" pos="0"/>
              </a:tabLst>
            </a:pPr>
            <a:r>
              <a:rPr b="0" lang="en-US" sz="1050" spc="-1" strike="noStrike">
                <a:solidFill>
                  <a:srgbClr val="64748b"/>
                </a:solidFill>
                <a:latin typeface="Arial"/>
              </a:rPr>
              <a:t>SHAP explains prediction patterns. Meridian remains the source for causal contribution, ROI and mROI.</a:t>
            </a:r>
            <a:endParaRPr b="0" lang="en-US" sz="1050" spc="-1" strike="noStrike">
              <a:latin typeface="Arial"/>
            </a:endParaRPr>
          </a:p>
        </p:txBody>
      </p:sp>
      <p:sp>
        <p:nvSpPr>
          <p:cNvPr id="515" name="TextShape 25"/>
          <p:cNvSpPr txBox="1"/>
          <p:nvPr/>
        </p:nvSpPr>
        <p:spPr>
          <a:xfrm>
            <a:off x="11228760" y="6519600"/>
            <a:ext cx="411120" cy="200880"/>
          </a:xfrm>
          <a:prstGeom prst="rect">
            <a:avLst/>
          </a:prstGeom>
          <a:noFill/>
          <a:ln>
            <a:noFill/>
          </a:ln>
        </p:spPr>
        <p:txBody>
          <a:bodyPr lIns="0" rIns="0" tIns="0" bIns="0">
            <a:noAutofit/>
          </a:bodyPr>
          <a:p>
            <a:pPr algn="r">
              <a:lnSpc>
                <a:spcPct val="100000"/>
              </a:lnSpc>
            </a:pPr>
            <a:fld id="{B4E91186-00FA-4E5B-B49A-1CB79ED8D33B}"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16"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Future marketing investment scenarios</a:t>
            </a:r>
            <a:endParaRPr b="0" lang="en-US" sz="2600" spc="-1" strike="noStrike">
              <a:latin typeface="Arial"/>
            </a:endParaRPr>
          </a:p>
        </p:txBody>
      </p:sp>
      <p:sp>
        <p:nvSpPr>
          <p:cNvPr id="517"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Targeted reallocation outperforms broad-based spending increases.</a:t>
            </a:r>
            <a:endParaRPr b="0" lang="en-US" sz="1050" spc="-1" strike="noStrike">
              <a:latin typeface="Arial"/>
            </a:endParaRPr>
          </a:p>
        </p:txBody>
      </p:sp>
      <p:sp>
        <p:nvSpPr>
          <p:cNvPr id="518"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519"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TASK 6 · 15 POINTS</a:t>
            </a:r>
            <a:endParaRPr b="0" lang="en-US" sz="900" spc="-1" strike="noStrike">
              <a:latin typeface="Arial"/>
            </a:endParaRPr>
          </a:p>
        </p:txBody>
      </p:sp>
      <p:sp>
        <p:nvSpPr>
          <p:cNvPr id="520" name="CustomShape 5"/>
          <p:cNvSpPr/>
          <p:nvPr/>
        </p:nvSpPr>
        <p:spPr>
          <a:xfrm>
            <a:off x="567000" y="1417320"/>
            <a:ext cx="6674760" cy="4498560"/>
          </a:xfrm>
          <a:prstGeom prst="roundRect">
            <a:avLst>
              <a:gd name="adj" fmla="val 1220"/>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pic>
        <p:nvPicPr>
          <p:cNvPr id="521" name="Image 0" descr="/mnt/data/mmm_deck_assets/scenario_profit_clean.png"/>
          <p:cNvPicPr/>
          <p:nvPr/>
        </p:nvPicPr>
        <p:blipFill>
          <a:blip r:embed="rId1"/>
          <a:stretch/>
        </p:blipFill>
        <p:spPr>
          <a:xfrm>
            <a:off x="658440" y="1928880"/>
            <a:ext cx="6491880" cy="3475080"/>
          </a:xfrm>
          <a:prstGeom prst="rect">
            <a:avLst/>
          </a:prstGeom>
          <a:ln>
            <a:noFill/>
          </a:ln>
        </p:spPr>
      </p:pic>
      <p:sp>
        <p:nvSpPr>
          <p:cNvPr id="522" name="CustomShape 6"/>
          <p:cNvSpPr/>
          <p:nvPr/>
        </p:nvSpPr>
        <p:spPr>
          <a:xfrm>
            <a:off x="7479720" y="1417320"/>
            <a:ext cx="4068720" cy="4498560"/>
          </a:xfrm>
          <a:prstGeom prst="roundRect">
            <a:avLst>
              <a:gd name="adj" fmla="val 1798"/>
            </a:avLst>
          </a:prstGeom>
          <a:solidFill>
            <a:srgbClr val="ffffff"/>
          </a:solidFill>
          <a:ln w="12600">
            <a:solidFill>
              <a:srgbClr val="d9e2ec"/>
            </a:solidFill>
            <a:round/>
          </a:ln>
          <a:effectLst>
            <a:outerShdw algn="bl" blurRad="2" dir="0" dist="0" kx="0" ky="0" rotWithShape="0" sx="100000" sy="100000">
              <a:srgbClr val="000000">
                <a:alpha val="0"/>
              </a:srgbClr>
            </a:outerShdw>
          </a:effectLst>
        </p:spPr>
        <p:style>
          <a:lnRef idx="0"/>
          <a:fillRef idx="0"/>
          <a:effectRef idx="0"/>
          <a:fontRef idx="minor"/>
        </p:style>
      </p:sp>
      <p:sp>
        <p:nvSpPr>
          <p:cNvPr id="523" name="CustomShape 7"/>
          <p:cNvSpPr/>
          <p:nvPr/>
        </p:nvSpPr>
        <p:spPr>
          <a:xfrm>
            <a:off x="7735680" y="1645920"/>
            <a:ext cx="3520080" cy="310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700" spc="-1" strike="noStrike">
                <a:solidFill>
                  <a:srgbClr val="0b1f33"/>
                </a:solidFill>
                <a:latin typeface="Arial"/>
              </a:rPr>
              <a:t>Scenario comparison</a:t>
            </a:r>
            <a:endParaRPr b="0" lang="en-US" sz="1700" spc="-1" strike="noStrike">
              <a:latin typeface="Arial"/>
            </a:endParaRPr>
          </a:p>
        </p:txBody>
      </p:sp>
      <p:sp>
        <p:nvSpPr>
          <p:cNvPr id="524" name="CustomShape 8"/>
          <p:cNvSpPr/>
          <p:nvPr/>
        </p:nvSpPr>
        <p:spPr>
          <a:xfrm>
            <a:off x="7735680" y="2221920"/>
            <a:ext cx="1919880" cy="200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900" spc="-1" strike="noStrike">
                <a:solidFill>
                  <a:srgbClr val="64748b"/>
                </a:solidFill>
                <a:latin typeface="Arial"/>
              </a:rPr>
              <a:t>Scenario</a:t>
            </a:r>
            <a:endParaRPr b="0" lang="en-US" sz="900" spc="-1" strike="noStrike">
              <a:latin typeface="Arial"/>
            </a:endParaRPr>
          </a:p>
        </p:txBody>
      </p:sp>
      <p:sp>
        <p:nvSpPr>
          <p:cNvPr id="525" name="CustomShape 9"/>
          <p:cNvSpPr/>
          <p:nvPr/>
        </p:nvSpPr>
        <p:spPr>
          <a:xfrm>
            <a:off x="9674280" y="2221920"/>
            <a:ext cx="959760" cy="20088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900" spc="-1" strike="noStrike">
                <a:solidFill>
                  <a:srgbClr val="64748b"/>
                </a:solidFill>
                <a:latin typeface="Arial"/>
              </a:rPr>
              <a:t>Profit change</a:t>
            </a:r>
            <a:endParaRPr b="0" lang="en-US" sz="900" spc="-1" strike="noStrike">
              <a:latin typeface="Arial"/>
            </a:endParaRPr>
          </a:p>
        </p:txBody>
      </p:sp>
      <p:sp>
        <p:nvSpPr>
          <p:cNvPr id="526" name="CustomShape 10"/>
          <p:cNvSpPr/>
          <p:nvPr/>
        </p:nvSpPr>
        <p:spPr>
          <a:xfrm>
            <a:off x="10698480" y="2221920"/>
            <a:ext cx="594000" cy="20088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900" spc="-1" strike="noStrike">
                <a:solidFill>
                  <a:srgbClr val="64748b"/>
                </a:solidFill>
                <a:latin typeface="Arial"/>
              </a:rPr>
              <a:t>Extra ROI</a:t>
            </a:r>
            <a:endParaRPr b="0" lang="en-US" sz="900" spc="-1" strike="noStrike">
              <a:latin typeface="Arial"/>
            </a:endParaRPr>
          </a:p>
        </p:txBody>
      </p:sp>
      <p:sp>
        <p:nvSpPr>
          <p:cNvPr id="527" name="CustomShape 11"/>
          <p:cNvSpPr/>
          <p:nvPr/>
        </p:nvSpPr>
        <p:spPr>
          <a:xfrm>
            <a:off x="7644240" y="2477880"/>
            <a:ext cx="3739680" cy="511560"/>
          </a:xfrm>
          <a:prstGeom prst="roundRect">
            <a:avLst>
              <a:gd name="adj" fmla="val 8929"/>
            </a:avLst>
          </a:prstGeom>
          <a:solidFill>
            <a:srgbClr val="eaf2ff"/>
          </a:solidFill>
          <a:ln w="12600">
            <a:solidFill>
              <a:srgbClr val="c8d9ff"/>
            </a:solidFill>
            <a:round/>
          </a:ln>
        </p:spPr>
        <p:style>
          <a:lnRef idx="0"/>
          <a:fillRef idx="0"/>
          <a:effectRef idx="0"/>
          <a:fontRef idx="minor"/>
        </p:style>
      </p:sp>
      <p:sp>
        <p:nvSpPr>
          <p:cNvPr id="528" name="CustomShape 12"/>
          <p:cNvSpPr/>
          <p:nvPr/>
        </p:nvSpPr>
        <p:spPr>
          <a:xfrm>
            <a:off x="7735680" y="2587680"/>
            <a:ext cx="191988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939" spc="-1" strike="noStrike">
                <a:solidFill>
                  <a:srgbClr val="0b1f33"/>
                </a:solidFill>
                <a:latin typeface="Arial"/>
              </a:rPr>
              <a:t>Paid Search +50%</a:t>
            </a:r>
            <a:endParaRPr b="0" lang="en-US" sz="939" spc="-1" strike="noStrike">
              <a:latin typeface="Arial"/>
            </a:endParaRPr>
          </a:p>
        </p:txBody>
      </p:sp>
      <p:sp>
        <p:nvSpPr>
          <p:cNvPr id="529" name="CustomShape 13"/>
          <p:cNvSpPr/>
          <p:nvPr/>
        </p:nvSpPr>
        <p:spPr>
          <a:xfrm>
            <a:off x="9674280" y="2587680"/>
            <a:ext cx="959760" cy="2556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939" spc="-1" strike="noStrike">
                <a:solidFill>
                  <a:srgbClr val="2563eb"/>
                </a:solidFill>
                <a:latin typeface="Arial"/>
              </a:rPr>
              <a:t>+$760.5k</a:t>
            </a:r>
            <a:endParaRPr b="0" lang="en-US" sz="939" spc="-1" strike="noStrike">
              <a:latin typeface="Arial"/>
            </a:endParaRPr>
          </a:p>
        </p:txBody>
      </p:sp>
      <p:sp>
        <p:nvSpPr>
          <p:cNvPr id="530" name="CustomShape 14"/>
          <p:cNvSpPr/>
          <p:nvPr/>
        </p:nvSpPr>
        <p:spPr>
          <a:xfrm>
            <a:off x="10698480" y="2587680"/>
            <a:ext cx="594000" cy="255600"/>
          </a:xfrm>
          <a:prstGeom prst="rect">
            <a:avLst/>
          </a:prstGeom>
          <a:noFill/>
          <a:ln>
            <a:noFill/>
          </a:ln>
        </p:spPr>
        <p:style>
          <a:lnRef idx="0"/>
          <a:fillRef idx="0"/>
          <a:effectRef idx="0"/>
          <a:fontRef idx="minor"/>
        </p:style>
        <p:txBody>
          <a:bodyPr lIns="0" rIns="0" tIns="0" bIns="0" anchor="ctr">
            <a:normAutofit/>
          </a:bodyPr>
          <a:p>
            <a:pPr algn="r">
              <a:lnSpc>
                <a:spcPct val="100000"/>
              </a:lnSpc>
              <a:tabLst>
                <a:tab algn="l" pos="0"/>
              </a:tabLst>
            </a:pPr>
            <a:r>
              <a:rPr b="1" lang="en-US" sz="920" spc="-1" strike="noStrike">
                <a:solidFill>
                  <a:srgbClr val="0ea5a4"/>
                </a:solidFill>
                <a:latin typeface="Arial"/>
              </a:rPr>
              <a:t>4.46</a:t>
            </a:r>
            <a:endParaRPr b="0" lang="en-US" sz="920" spc="-1" strike="noStrike">
              <a:latin typeface="Arial"/>
            </a:endParaRPr>
          </a:p>
        </p:txBody>
      </p:sp>
      <p:sp>
        <p:nvSpPr>
          <p:cNvPr id="531" name="CustomShape 15"/>
          <p:cNvSpPr/>
          <p:nvPr/>
        </p:nvSpPr>
        <p:spPr>
          <a:xfrm>
            <a:off x="7735680" y="3218760"/>
            <a:ext cx="191988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9" spc="-1" strike="noStrike">
                <a:solidFill>
                  <a:srgbClr val="0b1f33"/>
                </a:solidFill>
                <a:latin typeface="Arial"/>
              </a:rPr>
              <a:t>Equal +20%</a:t>
            </a:r>
            <a:endParaRPr b="0" lang="en-US" sz="939" spc="-1" strike="noStrike">
              <a:latin typeface="Arial"/>
            </a:endParaRPr>
          </a:p>
        </p:txBody>
      </p:sp>
      <p:sp>
        <p:nvSpPr>
          <p:cNvPr id="532" name="CustomShape 16"/>
          <p:cNvSpPr/>
          <p:nvPr/>
        </p:nvSpPr>
        <p:spPr>
          <a:xfrm>
            <a:off x="9674280" y="3218760"/>
            <a:ext cx="959760" cy="2556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939" spc="-1" strike="noStrike">
                <a:solidFill>
                  <a:srgbClr val="0b1f33"/>
                </a:solidFill>
                <a:latin typeface="Arial"/>
              </a:rPr>
              <a:t>+$453.3k</a:t>
            </a:r>
            <a:endParaRPr b="0" lang="en-US" sz="939" spc="-1" strike="noStrike">
              <a:latin typeface="Arial"/>
            </a:endParaRPr>
          </a:p>
        </p:txBody>
      </p:sp>
      <p:sp>
        <p:nvSpPr>
          <p:cNvPr id="533" name="CustomShape 17"/>
          <p:cNvSpPr/>
          <p:nvPr/>
        </p:nvSpPr>
        <p:spPr>
          <a:xfrm>
            <a:off x="10698480" y="3218760"/>
            <a:ext cx="594000" cy="255600"/>
          </a:xfrm>
          <a:prstGeom prst="rect">
            <a:avLst/>
          </a:prstGeom>
          <a:noFill/>
          <a:ln>
            <a:noFill/>
          </a:ln>
        </p:spPr>
        <p:style>
          <a:lnRef idx="0"/>
          <a:fillRef idx="0"/>
          <a:effectRef idx="0"/>
          <a:fontRef idx="minor"/>
        </p:style>
        <p:txBody>
          <a:bodyPr lIns="0" rIns="0" tIns="0" bIns="0" anchor="ctr">
            <a:normAutofit/>
          </a:bodyPr>
          <a:p>
            <a:pPr algn="r">
              <a:lnSpc>
                <a:spcPct val="100000"/>
              </a:lnSpc>
              <a:tabLst>
                <a:tab algn="l" pos="0"/>
              </a:tabLst>
            </a:pPr>
            <a:r>
              <a:rPr b="0" lang="en-US" sz="920" spc="-1" strike="noStrike">
                <a:solidFill>
                  <a:srgbClr val="64748b"/>
                </a:solidFill>
                <a:latin typeface="Arial"/>
              </a:rPr>
              <a:t>1.25</a:t>
            </a:r>
            <a:endParaRPr b="0" lang="en-US" sz="920" spc="-1" strike="noStrike">
              <a:latin typeface="Arial"/>
            </a:endParaRPr>
          </a:p>
        </p:txBody>
      </p:sp>
      <p:sp>
        <p:nvSpPr>
          <p:cNvPr id="534" name="CustomShape 18"/>
          <p:cNvSpPr/>
          <p:nvPr/>
        </p:nvSpPr>
        <p:spPr>
          <a:xfrm>
            <a:off x="7735680" y="3849480"/>
            <a:ext cx="191988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9" spc="-1" strike="noStrike">
                <a:solidFill>
                  <a:srgbClr val="0b1f33"/>
                </a:solidFill>
                <a:latin typeface="Arial"/>
              </a:rPr>
              <a:t>Random half +10%</a:t>
            </a:r>
            <a:endParaRPr b="0" lang="en-US" sz="939" spc="-1" strike="noStrike">
              <a:latin typeface="Arial"/>
            </a:endParaRPr>
          </a:p>
        </p:txBody>
      </p:sp>
      <p:sp>
        <p:nvSpPr>
          <p:cNvPr id="535" name="CustomShape 19"/>
          <p:cNvSpPr/>
          <p:nvPr/>
        </p:nvSpPr>
        <p:spPr>
          <a:xfrm>
            <a:off x="9674280" y="3849480"/>
            <a:ext cx="959760" cy="2556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939" spc="-1" strike="noStrike">
                <a:solidFill>
                  <a:srgbClr val="0b1f33"/>
                </a:solidFill>
                <a:latin typeface="Arial"/>
              </a:rPr>
              <a:t>+$306.1k</a:t>
            </a:r>
            <a:endParaRPr b="0" lang="en-US" sz="939" spc="-1" strike="noStrike">
              <a:latin typeface="Arial"/>
            </a:endParaRPr>
          </a:p>
        </p:txBody>
      </p:sp>
      <p:sp>
        <p:nvSpPr>
          <p:cNvPr id="536" name="CustomShape 20"/>
          <p:cNvSpPr/>
          <p:nvPr/>
        </p:nvSpPr>
        <p:spPr>
          <a:xfrm>
            <a:off x="10698480" y="3849480"/>
            <a:ext cx="594000" cy="255600"/>
          </a:xfrm>
          <a:prstGeom prst="rect">
            <a:avLst/>
          </a:prstGeom>
          <a:noFill/>
          <a:ln>
            <a:noFill/>
          </a:ln>
        </p:spPr>
        <p:style>
          <a:lnRef idx="0"/>
          <a:fillRef idx="0"/>
          <a:effectRef idx="0"/>
          <a:fontRef idx="minor"/>
        </p:style>
        <p:txBody>
          <a:bodyPr lIns="0" rIns="0" tIns="0" bIns="0" anchor="ctr">
            <a:normAutofit/>
          </a:bodyPr>
          <a:p>
            <a:pPr algn="r">
              <a:lnSpc>
                <a:spcPct val="100000"/>
              </a:lnSpc>
              <a:tabLst>
                <a:tab algn="l" pos="0"/>
              </a:tabLst>
            </a:pPr>
            <a:r>
              <a:rPr b="0" lang="en-US" sz="920" spc="-1" strike="noStrike">
                <a:solidFill>
                  <a:srgbClr val="64748b"/>
                </a:solidFill>
                <a:latin typeface="Arial"/>
              </a:rPr>
              <a:t>1.60</a:t>
            </a:r>
            <a:endParaRPr b="0" lang="en-US" sz="920" spc="-1" strike="noStrike">
              <a:latin typeface="Arial"/>
            </a:endParaRPr>
          </a:p>
        </p:txBody>
      </p:sp>
      <p:sp>
        <p:nvSpPr>
          <p:cNvPr id="537" name="CustomShape 21"/>
          <p:cNvSpPr/>
          <p:nvPr/>
        </p:nvSpPr>
        <p:spPr>
          <a:xfrm>
            <a:off x="7735680" y="4480560"/>
            <a:ext cx="1919880" cy="25560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939" spc="-1" strike="noStrike">
                <a:solidFill>
                  <a:srgbClr val="0b1f33"/>
                </a:solidFill>
                <a:latin typeface="Arial"/>
              </a:rPr>
              <a:t>Cut PMAX + Shopping</a:t>
            </a:r>
            <a:endParaRPr b="0" lang="en-US" sz="939" spc="-1" strike="noStrike">
              <a:latin typeface="Arial"/>
            </a:endParaRPr>
          </a:p>
        </p:txBody>
      </p:sp>
      <p:sp>
        <p:nvSpPr>
          <p:cNvPr id="538" name="CustomShape 22"/>
          <p:cNvSpPr/>
          <p:nvPr/>
        </p:nvSpPr>
        <p:spPr>
          <a:xfrm>
            <a:off x="9674280" y="4480560"/>
            <a:ext cx="959760" cy="255600"/>
          </a:xfrm>
          <a:prstGeom prst="rect">
            <a:avLst/>
          </a:prstGeom>
          <a:noFill/>
          <a:ln>
            <a:noFill/>
          </a:ln>
        </p:spPr>
        <p:style>
          <a:lnRef idx="0"/>
          <a:fillRef idx="0"/>
          <a:effectRef idx="0"/>
          <a:fontRef idx="minor"/>
        </p:style>
        <p:txBody>
          <a:bodyPr lIns="0" rIns="0" tIns="0" bIns="0" anchor="ctr">
            <a:noAutofit/>
          </a:bodyPr>
          <a:p>
            <a:pPr algn="r">
              <a:lnSpc>
                <a:spcPct val="100000"/>
              </a:lnSpc>
              <a:tabLst>
                <a:tab algn="l" pos="0"/>
              </a:tabLst>
            </a:pPr>
            <a:r>
              <a:rPr b="1" lang="en-US" sz="939" spc="-1" strike="noStrike">
                <a:solidFill>
                  <a:srgbClr val="0b1f33"/>
                </a:solidFill>
                <a:latin typeface="Arial"/>
              </a:rPr>
              <a:t>+$59.3k</a:t>
            </a:r>
            <a:endParaRPr b="0" lang="en-US" sz="939" spc="-1" strike="noStrike">
              <a:latin typeface="Arial"/>
            </a:endParaRPr>
          </a:p>
        </p:txBody>
      </p:sp>
      <p:sp>
        <p:nvSpPr>
          <p:cNvPr id="539" name="CustomShape 23"/>
          <p:cNvSpPr/>
          <p:nvPr/>
        </p:nvSpPr>
        <p:spPr>
          <a:xfrm>
            <a:off x="10698480" y="4480560"/>
            <a:ext cx="594000" cy="255600"/>
          </a:xfrm>
          <a:prstGeom prst="rect">
            <a:avLst/>
          </a:prstGeom>
          <a:noFill/>
          <a:ln>
            <a:noFill/>
          </a:ln>
        </p:spPr>
        <p:style>
          <a:lnRef idx="0"/>
          <a:fillRef idx="0"/>
          <a:effectRef idx="0"/>
          <a:fontRef idx="minor"/>
        </p:style>
        <p:txBody>
          <a:bodyPr lIns="0" rIns="0" tIns="0" bIns="0" anchor="ctr">
            <a:normAutofit fontScale="94000"/>
          </a:bodyPr>
          <a:p>
            <a:pPr algn="r">
              <a:lnSpc>
                <a:spcPct val="100000"/>
              </a:lnSpc>
              <a:tabLst>
                <a:tab algn="l" pos="0"/>
              </a:tabLst>
            </a:pPr>
            <a:r>
              <a:rPr b="0" lang="en-US" sz="920" spc="-1" strike="noStrike">
                <a:solidFill>
                  <a:srgbClr val="64748b"/>
                </a:solidFill>
                <a:latin typeface="Arial"/>
              </a:rPr>
              <a:t>Cost saving</a:t>
            </a:r>
            <a:endParaRPr b="0" lang="en-US" sz="920" spc="-1" strike="noStrike">
              <a:latin typeface="Arial"/>
            </a:endParaRPr>
          </a:p>
        </p:txBody>
      </p:sp>
      <p:sp>
        <p:nvSpPr>
          <p:cNvPr id="540" name="Line 24"/>
          <p:cNvSpPr/>
          <p:nvPr/>
        </p:nvSpPr>
        <p:spPr>
          <a:xfrm>
            <a:off x="7735680" y="5202720"/>
            <a:ext cx="3511440" cy="0"/>
          </a:xfrm>
          <a:prstGeom prst="line">
            <a:avLst/>
          </a:prstGeom>
          <a:ln w="12600">
            <a:solidFill>
              <a:srgbClr val="e6ebf1"/>
            </a:solidFill>
            <a:round/>
          </a:ln>
        </p:spPr>
        <p:style>
          <a:lnRef idx="0"/>
          <a:fillRef idx="0"/>
          <a:effectRef idx="0"/>
          <a:fontRef idx="minor"/>
        </p:style>
      </p:sp>
      <p:sp>
        <p:nvSpPr>
          <p:cNvPr id="541" name="CustomShape 25"/>
          <p:cNvSpPr/>
          <p:nvPr/>
        </p:nvSpPr>
        <p:spPr>
          <a:xfrm>
            <a:off x="7735680" y="5385960"/>
            <a:ext cx="914040" cy="209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900" spc="-1" strike="noStrike">
                <a:solidFill>
                  <a:srgbClr val="0ea5a4"/>
                </a:solidFill>
                <a:latin typeface="Arial"/>
              </a:rPr>
              <a:t>Best result</a:t>
            </a:r>
            <a:endParaRPr b="0" lang="en-US" sz="900" spc="-1" strike="noStrike">
              <a:latin typeface="Arial"/>
            </a:endParaRPr>
          </a:p>
        </p:txBody>
      </p:sp>
      <p:sp>
        <p:nvSpPr>
          <p:cNvPr id="542" name="CustomShape 26"/>
          <p:cNvSpPr/>
          <p:nvPr/>
        </p:nvSpPr>
        <p:spPr>
          <a:xfrm>
            <a:off x="8577000" y="5294520"/>
            <a:ext cx="2605680" cy="4021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839" spc="-1" strike="noStrike">
                <a:solidFill>
                  <a:srgbClr val="64748b"/>
                </a:solidFill>
                <a:latin typeface="Arial"/>
              </a:rPr>
              <a:t>Paid Search +50% generated $980k revenue and 11.6k purchases from $220k extra spend.</a:t>
            </a:r>
            <a:endParaRPr b="0" lang="en-US" sz="839" spc="-1" strike="noStrike">
              <a:latin typeface="Arial"/>
            </a:endParaRPr>
          </a:p>
        </p:txBody>
      </p:sp>
      <p:sp>
        <p:nvSpPr>
          <p:cNvPr id="543" name="TextShape 27"/>
          <p:cNvSpPr txBox="1"/>
          <p:nvPr/>
        </p:nvSpPr>
        <p:spPr>
          <a:xfrm>
            <a:off x="11228760" y="6519600"/>
            <a:ext cx="411120" cy="200880"/>
          </a:xfrm>
          <a:prstGeom prst="rect">
            <a:avLst/>
          </a:prstGeom>
          <a:noFill/>
          <a:ln>
            <a:noFill/>
          </a:ln>
        </p:spPr>
        <p:txBody>
          <a:bodyPr lIns="0" rIns="0" tIns="0" bIns="0">
            <a:noAutofit/>
          </a:bodyPr>
          <a:p>
            <a:pPr algn="r">
              <a:lnSpc>
                <a:spcPct val="100000"/>
              </a:lnSpc>
            </a:pPr>
            <a:fld id="{139280C1-88E8-48E2-B8A4-5991EB6FA308}"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44"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Recommended next-quarter investment plan</a:t>
            </a:r>
            <a:endParaRPr b="0" lang="en-US" sz="2600" spc="-1" strike="noStrike">
              <a:latin typeface="Arial"/>
            </a:endParaRPr>
          </a:p>
        </p:txBody>
      </p:sp>
      <p:sp>
        <p:nvSpPr>
          <p:cNvPr id="545"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Reallocate toward the channel with the strongest marginal economics.</a:t>
            </a:r>
            <a:endParaRPr b="0" lang="en-US" sz="1050" spc="-1" strike="noStrike">
              <a:latin typeface="Arial"/>
            </a:endParaRPr>
          </a:p>
        </p:txBody>
      </p:sp>
      <p:sp>
        <p:nvSpPr>
          <p:cNvPr id="546"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547"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fontScale="51000"/>
          </a:bodyPr>
          <a:p>
            <a:pPr algn="ctr">
              <a:lnSpc>
                <a:spcPct val="100000"/>
              </a:lnSpc>
              <a:tabLst>
                <a:tab algn="l" pos="0"/>
              </a:tabLst>
            </a:pPr>
            <a:r>
              <a:rPr b="1" lang="en-US" sz="900" spc="-1" strike="noStrike">
                <a:solidFill>
                  <a:srgbClr val="2563eb"/>
                </a:solidFill>
                <a:latin typeface="Arial"/>
              </a:rPr>
              <a:t>BUSINESS RECOMMENDATION</a:t>
            </a:r>
            <a:endParaRPr b="0" lang="en-US" sz="900" spc="-1" strike="noStrike">
              <a:latin typeface="Arial"/>
            </a:endParaRPr>
          </a:p>
        </p:txBody>
      </p:sp>
      <p:sp>
        <p:nvSpPr>
          <p:cNvPr id="548" name="CustomShape 5"/>
          <p:cNvSpPr/>
          <p:nvPr/>
        </p:nvSpPr>
        <p:spPr>
          <a:xfrm>
            <a:off x="640080" y="1481400"/>
            <a:ext cx="3154320" cy="3520080"/>
          </a:xfrm>
          <a:prstGeom prst="roundRect">
            <a:avLst>
              <a:gd name="adj" fmla="val 2319"/>
            </a:avLst>
          </a:prstGeom>
          <a:solidFill>
            <a:srgbClr val="ffffff"/>
          </a:solidFill>
          <a:ln w="12600">
            <a:solidFill>
              <a:srgbClr val="d9e2ec"/>
            </a:solidFill>
            <a:round/>
          </a:ln>
          <a:effectLst>
            <a:outerShdw algn="bl" blurRad="3" dir="0" dist="0" kx="0" ky="0" rotWithShape="0" sx="100000" sy="100000">
              <a:srgbClr val="000000">
                <a:alpha val="0"/>
              </a:srgbClr>
            </a:outerShdw>
          </a:effectLst>
        </p:spPr>
        <p:style>
          <a:lnRef idx="0"/>
          <a:fillRef idx="0"/>
          <a:effectRef idx="0"/>
          <a:fontRef idx="minor"/>
        </p:style>
      </p:sp>
      <p:sp>
        <p:nvSpPr>
          <p:cNvPr id="549" name="CustomShape 6"/>
          <p:cNvSpPr/>
          <p:nvPr/>
        </p:nvSpPr>
        <p:spPr>
          <a:xfrm>
            <a:off x="640080" y="1481400"/>
            <a:ext cx="3154320" cy="109440"/>
          </a:xfrm>
          <a:prstGeom prst="rect">
            <a:avLst/>
          </a:prstGeom>
          <a:solidFill>
            <a:srgbClr val="0ea5a4"/>
          </a:solidFill>
          <a:ln w="12600">
            <a:solidFill>
              <a:srgbClr val="0ea5a4"/>
            </a:solidFill>
            <a:round/>
          </a:ln>
        </p:spPr>
        <p:style>
          <a:lnRef idx="0"/>
          <a:fillRef idx="0"/>
          <a:effectRef idx="0"/>
          <a:fontRef idx="minor"/>
        </p:style>
      </p:sp>
      <p:sp>
        <p:nvSpPr>
          <p:cNvPr id="550" name="CustomShape 7"/>
          <p:cNvSpPr/>
          <p:nvPr/>
        </p:nvSpPr>
        <p:spPr>
          <a:xfrm>
            <a:off x="868680" y="1783080"/>
            <a:ext cx="2697120" cy="3013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500" spc="-1" strike="noStrike">
                <a:solidFill>
                  <a:srgbClr val="0ea5a4"/>
                </a:solidFill>
                <a:latin typeface="Arial"/>
              </a:rPr>
              <a:t>SCALE</a:t>
            </a:r>
            <a:endParaRPr b="0" lang="en-US" sz="1500" spc="-1" strike="noStrike">
              <a:latin typeface="Arial"/>
            </a:endParaRPr>
          </a:p>
        </p:txBody>
      </p:sp>
      <p:sp>
        <p:nvSpPr>
          <p:cNvPr id="551" name="CustomShape 8"/>
          <p:cNvSpPr/>
          <p:nvPr/>
        </p:nvSpPr>
        <p:spPr>
          <a:xfrm>
            <a:off x="868680" y="2331720"/>
            <a:ext cx="2697120" cy="5299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800" spc="-1" strike="noStrike">
                <a:solidFill>
                  <a:srgbClr val="0b1f33"/>
                </a:solidFill>
                <a:latin typeface="Arial"/>
              </a:rPr>
              <a:t>Google Paid Search</a:t>
            </a:r>
            <a:endParaRPr b="0" lang="en-US" sz="1800" spc="-1" strike="noStrike">
              <a:latin typeface="Arial"/>
            </a:endParaRPr>
          </a:p>
        </p:txBody>
      </p:sp>
      <p:sp>
        <p:nvSpPr>
          <p:cNvPr id="552" name="CustomShape 9"/>
          <p:cNvSpPr/>
          <p:nvPr/>
        </p:nvSpPr>
        <p:spPr>
          <a:xfrm>
            <a:off x="868680" y="3108960"/>
            <a:ext cx="2697120" cy="118836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20" spc="-1" strike="noStrike">
                <a:solidFill>
                  <a:srgbClr val="64748b"/>
                </a:solidFill>
                <a:latin typeface="Arial"/>
              </a:rPr>
              <a:t>Increase investment first. Tested +50% scenario produced the strongest profit uplift and an extra-spend ROI of 4.46.</a:t>
            </a:r>
            <a:endParaRPr b="0" lang="en-US" sz="1020" spc="-1" strike="noStrike">
              <a:latin typeface="Arial"/>
            </a:endParaRPr>
          </a:p>
        </p:txBody>
      </p:sp>
      <p:sp>
        <p:nvSpPr>
          <p:cNvPr id="553" name="CustomShape 10"/>
          <p:cNvSpPr/>
          <p:nvPr/>
        </p:nvSpPr>
        <p:spPr>
          <a:xfrm>
            <a:off x="4160520" y="1481400"/>
            <a:ext cx="3154320" cy="3520080"/>
          </a:xfrm>
          <a:prstGeom prst="roundRect">
            <a:avLst>
              <a:gd name="adj" fmla="val 2319"/>
            </a:avLst>
          </a:prstGeom>
          <a:solidFill>
            <a:srgbClr val="ffffff"/>
          </a:solidFill>
          <a:ln w="12600">
            <a:solidFill>
              <a:srgbClr val="d9e2ec"/>
            </a:solidFill>
            <a:round/>
          </a:ln>
          <a:effectLst>
            <a:outerShdw algn="bl" blurRad="4" dir="0" dist="0" kx="0" ky="0" rotWithShape="0" sx="100000" sy="100000">
              <a:srgbClr val="000000">
                <a:alpha val="0"/>
              </a:srgbClr>
            </a:outerShdw>
          </a:effectLst>
        </p:spPr>
        <p:style>
          <a:lnRef idx="0"/>
          <a:fillRef idx="0"/>
          <a:effectRef idx="0"/>
          <a:fontRef idx="minor"/>
        </p:style>
      </p:sp>
      <p:sp>
        <p:nvSpPr>
          <p:cNvPr id="554" name="CustomShape 11"/>
          <p:cNvSpPr/>
          <p:nvPr/>
        </p:nvSpPr>
        <p:spPr>
          <a:xfrm>
            <a:off x="4160520" y="1481400"/>
            <a:ext cx="3154320" cy="109440"/>
          </a:xfrm>
          <a:prstGeom prst="rect">
            <a:avLst/>
          </a:prstGeom>
          <a:solidFill>
            <a:srgbClr val="2563eb"/>
          </a:solidFill>
          <a:ln w="12600">
            <a:solidFill>
              <a:srgbClr val="2563eb"/>
            </a:solidFill>
            <a:round/>
          </a:ln>
        </p:spPr>
        <p:style>
          <a:lnRef idx="0"/>
          <a:fillRef idx="0"/>
          <a:effectRef idx="0"/>
          <a:fontRef idx="minor"/>
        </p:style>
      </p:sp>
      <p:sp>
        <p:nvSpPr>
          <p:cNvPr id="555" name="CustomShape 12"/>
          <p:cNvSpPr/>
          <p:nvPr/>
        </p:nvSpPr>
        <p:spPr>
          <a:xfrm>
            <a:off x="4389120" y="1783080"/>
            <a:ext cx="2697120" cy="3013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500" spc="-1" strike="noStrike">
                <a:solidFill>
                  <a:srgbClr val="2563eb"/>
                </a:solidFill>
                <a:latin typeface="Arial"/>
              </a:rPr>
              <a:t>MAINTAIN / TEST</a:t>
            </a:r>
            <a:endParaRPr b="0" lang="en-US" sz="1500" spc="-1" strike="noStrike">
              <a:latin typeface="Arial"/>
            </a:endParaRPr>
          </a:p>
        </p:txBody>
      </p:sp>
      <p:sp>
        <p:nvSpPr>
          <p:cNvPr id="556" name="CustomShape 13"/>
          <p:cNvSpPr/>
          <p:nvPr/>
        </p:nvSpPr>
        <p:spPr>
          <a:xfrm>
            <a:off x="4389120" y="2331720"/>
            <a:ext cx="2697120" cy="5299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800" spc="-1" strike="noStrike">
                <a:solidFill>
                  <a:srgbClr val="0b1f33"/>
                </a:solidFill>
                <a:latin typeface="Arial"/>
              </a:rPr>
              <a:t>Meta Facebook + Instagram</a:t>
            </a:r>
            <a:endParaRPr b="0" lang="en-US" sz="1800" spc="-1" strike="noStrike">
              <a:latin typeface="Arial"/>
            </a:endParaRPr>
          </a:p>
        </p:txBody>
      </p:sp>
      <p:sp>
        <p:nvSpPr>
          <p:cNvPr id="557" name="CustomShape 14"/>
          <p:cNvSpPr/>
          <p:nvPr/>
        </p:nvSpPr>
        <p:spPr>
          <a:xfrm>
            <a:off x="4389120" y="3108960"/>
            <a:ext cx="2697120" cy="118836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20" spc="-1" strike="noStrike">
                <a:solidFill>
                  <a:srgbClr val="64748b"/>
                </a:solidFill>
                <a:latin typeface="Arial"/>
              </a:rPr>
              <a:t>Keep as major volume channels. Scale cautiously because they already represent 89% of spend and mROI is lower than Search.</a:t>
            </a:r>
            <a:endParaRPr b="0" lang="en-US" sz="1020" spc="-1" strike="noStrike">
              <a:latin typeface="Arial"/>
            </a:endParaRPr>
          </a:p>
        </p:txBody>
      </p:sp>
      <p:sp>
        <p:nvSpPr>
          <p:cNvPr id="558" name="CustomShape 15"/>
          <p:cNvSpPr/>
          <p:nvPr/>
        </p:nvSpPr>
        <p:spPr>
          <a:xfrm>
            <a:off x="7680960" y="1481400"/>
            <a:ext cx="3154320" cy="3520080"/>
          </a:xfrm>
          <a:prstGeom prst="roundRect">
            <a:avLst>
              <a:gd name="adj" fmla="val 2319"/>
            </a:avLst>
          </a:prstGeom>
          <a:solidFill>
            <a:srgbClr val="ffffff"/>
          </a:solidFill>
          <a:ln w="12600">
            <a:solidFill>
              <a:srgbClr val="d9e2ec"/>
            </a:solidFill>
            <a:round/>
          </a:ln>
          <a:effectLst>
            <a:outerShdw algn="bl" blurRad="5" dir="0" dist="0" kx="0" ky="0" rotWithShape="0" sx="100000" sy="100000">
              <a:srgbClr val="000000">
                <a:alpha val="0"/>
              </a:srgbClr>
            </a:outerShdw>
          </a:effectLst>
        </p:spPr>
        <p:style>
          <a:lnRef idx="0"/>
          <a:fillRef idx="0"/>
          <a:effectRef idx="0"/>
          <a:fontRef idx="minor"/>
        </p:style>
      </p:sp>
      <p:sp>
        <p:nvSpPr>
          <p:cNvPr id="559" name="CustomShape 16"/>
          <p:cNvSpPr/>
          <p:nvPr/>
        </p:nvSpPr>
        <p:spPr>
          <a:xfrm>
            <a:off x="7680960" y="1481400"/>
            <a:ext cx="3154320" cy="109440"/>
          </a:xfrm>
          <a:prstGeom prst="rect">
            <a:avLst/>
          </a:prstGeom>
          <a:solidFill>
            <a:srgbClr val="f59e0b"/>
          </a:solidFill>
          <a:ln w="12600">
            <a:solidFill>
              <a:srgbClr val="f59e0b"/>
            </a:solidFill>
            <a:round/>
          </a:ln>
        </p:spPr>
        <p:style>
          <a:lnRef idx="0"/>
          <a:fillRef idx="0"/>
          <a:effectRef idx="0"/>
          <a:fontRef idx="minor"/>
        </p:style>
      </p:sp>
      <p:sp>
        <p:nvSpPr>
          <p:cNvPr id="560" name="CustomShape 17"/>
          <p:cNvSpPr/>
          <p:nvPr/>
        </p:nvSpPr>
        <p:spPr>
          <a:xfrm>
            <a:off x="7909560" y="1783080"/>
            <a:ext cx="2697120" cy="3013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500" spc="-1" strike="noStrike">
                <a:solidFill>
                  <a:srgbClr val="f59e0b"/>
                </a:solidFill>
                <a:latin typeface="Arial"/>
              </a:rPr>
              <a:t>REDUCE / HOLD</a:t>
            </a:r>
            <a:endParaRPr b="0" lang="en-US" sz="1500" spc="-1" strike="noStrike">
              <a:latin typeface="Arial"/>
            </a:endParaRPr>
          </a:p>
        </p:txBody>
      </p:sp>
      <p:sp>
        <p:nvSpPr>
          <p:cNvPr id="561" name="CustomShape 18"/>
          <p:cNvSpPr/>
          <p:nvPr/>
        </p:nvSpPr>
        <p:spPr>
          <a:xfrm>
            <a:off x="7909560" y="2331720"/>
            <a:ext cx="2697120" cy="5299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800" spc="-1" strike="noStrike">
                <a:solidFill>
                  <a:srgbClr val="0b1f33"/>
                </a:solidFill>
                <a:latin typeface="Arial"/>
              </a:rPr>
              <a:t>PMAX, Shopping, Video</a:t>
            </a:r>
            <a:endParaRPr b="0" lang="en-US" sz="1800" spc="-1" strike="noStrike">
              <a:latin typeface="Arial"/>
            </a:endParaRPr>
          </a:p>
        </p:txBody>
      </p:sp>
      <p:sp>
        <p:nvSpPr>
          <p:cNvPr id="562" name="CustomShape 19"/>
          <p:cNvSpPr/>
          <p:nvPr/>
        </p:nvSpPr>
        <p:spPr>
          <a:xfrm>
            <a:off x="7909560" y="3108960"/>
            <a:ext cx="2697120" cy="118836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20" spc="-1" strike="noStrike">
                <a:solidFill>
                  <a:srgbClr val="64748b"/>
                </a:solidFill>
                <a:latin typeface="Arial"/>
              </a:rPr>
              <a:t>Trim saturated PMAX and Shopping. Review Video because historical ROI and mROI are below break-even.</a:t>
            </a:r>
            <a:endParaRPr b="0" lang="en-US" sz="1020" spc="-1" strike="noStrike">
              <a:latin typeface="Arial"/>
            </a:endParaRPr>
          </a:p>
        </p:txBody>
      </p:sp>
      <p:sp>
        <p:nvSpPr>
          <p:cNvPr id="563" name="CustomShape 20"/>
          <p:cNvSpPr/>
          <p:nvPr/>
        </p:nvSpPr>
        <p:spPr>
          <a:xfrm>
            <a:off x="640080" y="5321880"/>
            <a:ext cx="10195200" cy="712800"/>
          </a:xfrm>
          <a:prstGeom prst="roundRect">
            <a:avLst>
              <a:gd name="adj" fmla="val 10256"/>
            </a:avLst>
          </a:prstGeom>
          <a:solidFill>
            <a:srgbClr val="0b1f33"/>
          </a:solidFill>
          <a:ln w="12600">
            <a:solidFill>
              <a:srgbClr val="0b1f33"/>
            </a:solidFill>
            <a:round/>
          </a:ln>
        </p:spPr>
        <p:style>
          <a:lnRef idx="0"/>
          <a:fillRef idx="0"/>
          <a:effectRef idx="0"/>
          <a:fontRef idx="minor"/>
        </p:style>
      </p:sp>
      <p:sp>
        <p:nvSpPr>
          <p:cNvPr id="564" name="CustomShape 21"/>
          <p:cNvSpPr/>
          <p:nvPr/>
        </p:nvSpPr>
        <p:spPr>
          <a:xfrm>
            <a:off x="914400" y="5532120"/>
            <a:ext cx="9646560" cy="25560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1300" spc="-1" strike="noStrike">
                <a:solidFill>
                  <a:srgbClr val="ffffff"/>
                </a:solidFill>
                <a:latin typeface="Arial"/>
              </a:rPr>
              <a:t>Best tested action: Paid Search +50%  →  +$760.5k estimated profit  |  +$980.4k revenue  |  +11,608 purchases</a:t>
            </a:r>
            <a:endParaRPr b="0" lang="en-US" sz="1300" spc="-1" strike="noStrike">
              <a:latin typeface="Arial"/>
            </a:endParaRPr>
          </a:p>
        </p:txBody>
      </p:sp>
      <p:sp>
        <p:nvSpPr>
          <p:cNvPr id="565" name="CustomShape 22"/>
          <p:cNvSpPr/>
          <p:nvPr/>
        </p:nvSpPr>
        <p:spPr>
          <a:xfrm>
            <a:off x="10991160" y="5349240"/>
            <a:ext cx="621360" cy="310680"/>
          </a:xfrm>
          <a:prstGeom prst="roundRect">
            <a:avLst>
              <a:gd name="adj" fmla="val 23529"/>
            </a:avLst>
          </a:prstGeom>
          <a:solidFill>
            <a:srgbClr val="e8f0ff"/>
          </a:solidFill>
          <a:ln w="12600">
            <a:solidFill>
              <a:srgbClr val="e8f0ff"/>
            </a:solidFill>
            <a:round/>
          </a:ln>
        </p:spPr>
        <p:style>
          <a:lnRef idx="0"/>
          <a:fillRef idx="0"/>
          <a:effectRef idx="0"/>
          <a:fontRef idx="minor"/>
        </p:style>
      </p:sp>
      <p:sp>
        <p:nvSpPr>
          <p:cNvPr id="566" name="CustomShape 23"/>
          <p:cNvSpPr/>
          <p:nvPr/>
        </p:nvSpPr>
        <p:spPr>
          <a:xfrm>
            <a:off x="11073240" y="5408640"/>
            <a:ext cx="456840" cy="164160"/>
          </a:xfrm>
          <a:prstGeom prst="rect">
            <a:avLst/>
          </a:prstGeom>
          <a:noFill/>
          <a:ln>
            <a:noFill/>
          </a:ln>
        </p:spPr>
        <p:style>
          <a:lnRef idx="0"/>
          <a:fillRef idx="0"/>
          <a:effectRef idx="0"/>
          <a:fontRef idx="minor"/>
        </p:style>
        <p:txBody>
          <a:bodyPr lIns="0" rIns="0" tIns="0" bIns="0" anchor="ctr">
            <a:normAutofit fontScale="51000"/>
          </a:bodyPr>
          <a:p>
            <a:pPr algn="ctr">
              <a:lnSpc>
                <a:spcPct val="100000"/>
              </a:lnSpc>
              <a:tabLst>
                <a:tab algn="l" pos="0"/>
              </a:tabLst>
            </a:pPr>
            <a:r>
              <a:rPr b="1" lang="en-US" sz="900" spc="-1" strike="noStrike">
                <a:solidFill>
                  <a:srgbClr val="2563eb"/>
                </a:solidFill>
                <a:latin typeface="Arial"/>
              </a:rPr>
              <a:t>Monitor monthly</a:t>
            </a:r>
            <a:endParaRPr b="0" lang="en-US" sz="900" spc="-1" strike="noStrike">
              <a:latin typeface="Arial"/>
            </a:endParaRPr>
          </a:p>
        </p:txBody>
      </p:sp>
      <p:sp>
        <p:nvSpPr>
          <p:cNvPr id="567" name="TextShape 24"/>
          <p:cNvSpPr txBox="1"/>
          <p:nvPr/>
        </p:nvSpPr>
        <p:spPr>
          <a:xfrm>
            <a:off x="11228760" y="6519600"/>
            <a:ext cx="411120" cy="200880"/>
          </a:xfrm>
          <a:prstGeom prst="rect">
            <a:avLst/>
          </a:prstGeom>
          <a:noFill/>
          <a:ln>
            <a:noFill/>
          </a:ln>
        </p:spPr>
        <p:txBody>
          <a:bodyPr lIns="0" rIns="0" tIns="0" bIns="0">
            <a:noAutofit/>
          </a:bodyPr>
          <a:p>
            <a:pPr algn="r">
              <a:lnSpc>
                <a:spcPct val="100000"/>
              </a:lnSpc>
            </a:pPr>
            <a:fld id="{8C061F72-BE3C-46FB-8C92-68BCE57CE9FB}"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568" name="CustomShape 1"/>
          <p:cNvSpPr/>
          <p:nvPr/>
        </p:nvSpPr>
        <p:spPr>
          <a:xfrm>
            <a:off x="530280" y="292680"/>
            <a:ext cx="9052200" cy="42012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2600" spc="-1" strike="noStrike">
                <a:solidFill>
                  <a:srgbClr val="0b1f33"/>
                </a:solidFill>
                <a:latin typeface="Arial"/>
                <a:ea typeface="Arial"/>
              </a:rPr>
              <a:t>Conclusion, trust and limitations</a:t>
            </a:r>
            <a:endParaRPr b="0" lang="en-US" sz="2600" spc="-1" strike="noStrike">
              <a:latin typeface="Arial"/>
            </a:endParaRPr>
          </a:p>
        </p:txBody>
      </p:sp>
      <p:sp>
        <p:nvSpPr>
          <p:cNvPr id="569" name="CustomShape 2"/>
          <p:cNvSpPr/>
          <p:nvPr/>
        </p:nvSpPr>
        <p:spPr>
          <a:xfrm>
            <a:off x="548640" y="768240"/>
            <a:ext cx="10789560" cy="25560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0" lang="en-US" sz="1050" spc="-1" strike="noStrike">
                <a:solidFill>
                  <a:srgbClr val="64748b"/>
                </a:solidFill>
                <a:latin typeface="Arial"/>
              </a:rPr>
              <a:t>The business answers are clear, but decisions should still be implemented gradually and measured.</a:t>
            </a:r>
            <a:endParaRPr b="0" lang="en-US" sz="1050" spc="-1" strike="noStrike">
              <a:latin typeface="Arial"/>
            </a:endParaRPr>
          </a:p>
        </p:txBody>
      </p:sp>
      <p:sp>
        <p:nvSpPr>
          <p:cNvPr id="570" name="CustomShape 3"/>
          <p:cNvSpPr/>
          <p:nvPr/>
        </p:nvSpPr>
        <p:spPr>
          <a:xfrm>
            <a:off x="548640" y="1033200"/>
            <a:ext cx="1599840" cy="292320"/>
          </a:xfrm>
          <a:prstGeom prst="roundRect">
            <a:avLst>
              <a:gd name="adj" fmla="val 21875"/>
            </a:avLst>
          </a:prstGeom>
          <a:solidFill>
            <a:srgbClr val="e8eef7"/>
          </a:solidFill>
          <a:ln w="12600">
            <a:solidFill>
              <a:srgbClr val="e8eef7"/>
            </a:solidFill>
            <a:round/>
          </a:ln>
        </p:spPr>
        <p:style>
          <a:lnRef idx="0"/>
          <a:fillRef idx="0"/>
          <a:effectRef idx="0"/>
          <a:fontRef idx="minor"/>
        </p:style>
      </p:sp>
      <p:sp>
        <p:nvSpPr>
          <p:cNvPr id="571" name="CustomShape 4"/>
          <p:cNvSpPr/>
          <p:nvPr/>
        </p:nvSpPr>
        <p:spPr>
          <a:xfrm>
            <a:off x="621720" y="1088280"/>
            <a:ext cx="1453680" cy="164160"/>
          </a:xfrm>
          <a:prstGeom prst="rect">
            <a:avLst/>
          </a:prstGeom>
          <a:noFill/>
          <a:ln>
            <a:noFill/>
          </a:ln>
        </p:spPr>
        <p:style>
          <a:lnRef idx="0"/>
          <a:fillRef idx="0"/>
          <a:effectRef idx="0"/>
          <a:fontRef idx="minor"/>
        </p:style>
        <p:txBody>
          <a:bodyPr lIns="0" rIns="0" tIns="0" bIns="0" anchor="ctr">
            <a:normAutofit/>
          </a:bodyPr>
          <a:p>
            <a:pPr algn="ctr">
              <a:lnSpc>
                <a:spcPct val="100000"/>
              </a:lnSpc>
              <a:tabLst>
                <a:tab algn="l" pos="0"/>
              </a:tabLst>
            </a:pPr>
            <a:r>
              <a:rPr b="1" lang="en-US" sz="900" spc="-1" strike="noStrike">
                <a:solidFill>
                  <a:srgbClr val="2563eb"/>
                </a:solidFill>
                <a:latin typeface="Arial"/>
              </a:rPr>
              <a:t>FINAL ANSWERS</a:t>
            </a:r>
            <a:endParaRPr b="0" lang="en-US" sz="900" spc="-1" strike="noStrike">
              <a:latin typeface="Arial"/>
            </a:endParaRPr>
          </a:p>
        </p:txBody>
      </p:sp>
      <p:sp>
        <p:nvSpPr>
          <p:cNvPr id="572" name="CustomShape 5"/>
          <p:cNvSpPr/>
          <p:nvPr/>
        </p:nvSpPr>
        <p:spPr>
          <a:xfrm>
            <a:off x="603360" y="1417320"/>
            <a:ext cx="5650560" cy="4525920"/>
          </a:xfrm>
          <a:prstGeom prst="roundRect">
            <a:avLst>
              <a:gd name="adj" fmla="val 1616"/>
            </a:avLst>
          </a:prstGeom>
          <a:solidFill>
            <a:srgbClr val="ffffff"/>
          </a:solidFill>
          <a:ln w="12600">
            <a:solidFill>
              <a:srgbClr val="d9e2ec"/>
            </a:solidFill>
            <a:round/>
          </a:ln>
          <a:effectLst>
            <a:outerShdw algn="bl" blurRad="7" dir="0" dist="0" kx="0" ky="0" rotWithShape="0" sx="100000" sy="100000">
              <a:srgbClr val="000000">
                <a:alpha val="0"/>
              </a:srgbClr>
            </a:outerShdw>
          </a:effectLst>
        </p:spPr>
        <p:style>
          <a:lnRef idx="0"/>
          <a:fillRef idx="0"/>
          <a:effectRef idx="0"/>
          <a:fontRef idx="minor"/>
        </p:style>
      </p:sp>
      <p:sp>
        <p:nvSpPr>
          <p:cNvPr id="573" name="CustomShape 6"/>
          <p:cNvSpPr/>
          <p:nvPr/>
        </p:nvSpPr>
        <p:spPr>
          <a:xfrm>
            <a:off x="896040" y="1682640"/>
            <a:ext cx="4983120" cy="328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800" spc="-1" strike="noStrike">
                <a:solidFill>
                  <a:srgbClr val="0b1f33"/>
                </a:solidFill>
                <a:latin typeface="Arial"/>
              </a:rPr>
              <a:t>Five questions answered</a:t>
            </a:r>
            <a:endParaRPr b="0" lang="en-US" sz="1800" spc="-1" strike="noStrike">
              <a:latin typeface="Arial"/>
            </a:endParaRPr>
          </a:p>
        </p:txBody>
      </p:sp>
      <p:sp>
        <p:nvSpPr>
          <p:cNvPr id="574" name="CustomShape 7"/>
          <p:cNvSpPr/>
          <p:nvPr/>
        </p:nvSpPr>
        <p:spPr>
          <a:xfrm>
            <a:off x="896040" y="2277000"/>
            <a:ext cx="310680" cy="310680"/>
          </a:xfrm>
          <a:prstGeom prst="ellipse">
            <a:avLst/>
          </a:prstGeom>
          <a:solidFill>
            <a:srgbClr val="2563eb"/>
          </a:solidFill>
          <a:ln w="12600">
            <a:solidFill>
              <a:srgbClr val="2563eb"/>
            </a:solidFill>
            <a:round/>
          </a:ln>
        </p:spPr>
        <p:style>
          <a:lnRef idx="0"/>
          <a:fillRef idx="0"/>
          <a:effectRef idx="0"/>
          <a:fontRef idx="minor"/>
        </p:style>
      </p:sp>
      <p:sp>
        <p:nvSpPr>
          <p:cNvPr id="575" name="CustomShape 8"/>
          <p:cNvSpPr/>
          <p:nvPr/>
        </p:nvSpPr>
        <p:spPr>
          <a:xfrm>
            <a:off x="896040" y="2331720"/>
            <a:ext cx="310680" cy="1368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900" spc="-1" strike="noStrike">
                <a:solidFill>
                  <a:srgbClr val="ffffff"/>
                </a:solidFill>
                <a:latin typeface="Arial"/>
              </a:rPr>
              <a:t>1</a:t>
            </a:r>
            <a:endParaRPr b="0" lang="en-US" sz="900" spc="-1" strike="noStrike">
              <a:latin typeface="Arial"/>
            </a:endParaRPr>
          </a:p>
        </p:txBody>
      </p:sp>
      <p:sp>
        <p:nvSpPr>
          <p:cNvPr id="576" name="CustomShape 9"/>
          <p:cNvSpPr/>
          <p:nvPr/>
        </p:nvSpPr>
        <p:spPr>
          <a:xfrm>
            <a:off x="1353240" y="2258640"/>
            <a:ext cx="1992960" cy="237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00" spc="-1" strike="noStrike">
                <a:solidFill>
                  <a:srgbClr val="64748b"/>
                </a:solidFill>
                <a:latin typeface="Arial"/>
              </a:rPr>
              <a:t>Highest incremental purchases</a:t>
            </a:r>
            <a:endParaRPr b="0" lang="en-US" sz="1000" spc="-1" strike="noStrike">
              <a:latin typeface="Arial"/>
            </a:endParaRPr>
          </a:p>
        </p:txBody>
      </p:sp>
      <p:sp>
        <p:nvSpPr>
          <p:cNvPr id="577" name="CustomShape 10"/>
          <p:cNvSpPr/>
          <p:nvPr/>
        </p:nvSpPr>
        <p:spPr>
          <a:xfrm>
            <a:off x="3456360" y="2258640"/>
            <a:ext cx="2322360" cy="2923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80" spc="-1" strike="noStrike">
                <a:solidFill>
                  <a:srgbClr val="0b1f33"/>
                </a:solidFill>
                <a:latin typeface="Arial"/>
              </a:rPr>
              <a:t>Meta Instagram</a:t>
            </a:r>
            <a:endParaRPr b="0" lang="en-US" sz="1080" spc="-1" strike="noStrike">
              <a:latin typeface="Arial"/>
            </a:endParaRPr>
          </a:p>
        </p:txBody>
      </p:sp>
      <p:sp>
        <p:nvSpPr>
          <p:cNvPr id="578" name="CustomShape 11"/>
          <p:cNvSpPr/>
          <p:nvPr/>
        </p:nvSpPr>
        <p:spPr>
          <a:xfrm>
            <a:off x="896040" y="2935080"/>
            <a:ext cx="310680" cy="310680"/>
          </a:xfrm>
          <a:prstGeom prst="ellipse">
            <a:avLst/>
          </a:prstGeom>
          <a:solidFill>
            <a:srgbClr val="2563eb"/>
          </a:solidFill>
          <a:ln w="12600">
            <a:solidFill>
              <a:srgbClr val="2563eb"/>
            </a:solidFill>
            <a:round/>
          </a:ln>
        </p:spPr>
        <p:style>
          <a:lnRef idx="0"/>
          <a:fillRef idx="0"/>
          <a:effectRef idx="0"/>
          <a:fontRef idx="minor"/>
        </p:style>
      </p:sp>
      <p:sp>
        <p:nvSpPr>
          <p:cNvPr id="579" name="CustomShape 12"/>
          <p:cNvSpPr/>
          <p:nvPr/>
        </p:nvSpPr>
        <p:spPr>
          <a:xfrm>
            <a:off x="896040" y="2990160"/>
            <a:ext cx="310680" cy="1368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900" spc="-1" strike="noStrike">
                <a:solidFill>
                  <a:srgbClr val="ffffff"/>
                </a:solidFill>
                <a:latin typeface="Arial"/>
              </a:rPr>
              <a:t>2</a:t>
            </a:r>
            <a:endParaRPr b="0" lang="en-US" sz="900" spc="-1" strike="noStrike">
              <a:latin typeface="Arial"/>
            </a:endParaRPr>
          </a:p>
        </p:txBody>
      </p:sp>
      <p:sp>
        <p:nvSpPr>
          <p:cNvPr id="580" name="CustomShape 13"/>
          <p:cNvSpPr/>
          <p:nvPr/>
        </p:nvSpPr>
        <p:spPr>
          <a:xfrm>
            <a:off x="1353240" y="2917080"/>
            <a:ext cx="1992960" cy="237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00" spc="-1" strike="noStrike">
                <a:solidFill>
                  <a:srgbClr val="64748b"/>
                </a:solidFill>
                <a:latin typeface="Arial"/>
              </a:rPr>
              <a:t>Strongest ROI and mROI</a:t>
            </a:r>
            <a:endParaRPr b="0" lang="en-US" sz="1000" spc="-1" strike="noStrike">
              <a:latin typeface="Arial"/>
            </a:endParaRPr>
          </a:p>
        </p:txBody>
      </p:sp>
      <p:sp>
        <p:nvSpPr>
          <p:cNvPr id="581" name="CustomShape 14"/>
          <p:cNvSpPr/>
          <p:nvPr/>
        </p:nvSpPr>
        <p:spPr>
          <a:xfrm>
            <a:off x="3456360" y="2917080"/>
            <a:ext cx="2322360" cy="2923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80" spc="-1" strike="noStrike">
                <a:solidFill>
                  <a:srgbClr val="0b1f33"/>
                </a:solidFill>
                <a:latin typeface="Arial"/>
              </a:rPr>
              <a:t>Google Paid Search</a:t>
            </a:r>
            <a:endParaRPr b="0" lang="en-US" sz="1080" spc="-1" strike="noStrike">
              <a:latin typeface="Arial"/>
            </a:endParaRPr>
          </a:p>
        </p:txBody>
      </p:sp>
      <p:sp>
        <p:nvSpPr>
          <p:cNvPr id="582" name="CustomShape 15"/>
          <p:cNvSpPr/>
          <p:nvPr/>
        </p:nvSpPr>
        <p:spPr>
          <a:xfrm>
            <a:off x="896040" y="3593520"/>
            <a:ext cx="310680" cy="310680"/>
          </a:xfrm>
          <a:prstGeom prst="ellipse">
            <a:avLst/>
          </a:prstGeom>
          <a:solidFill>
            <a:srgbClr val="2563eb"/>
          </a:solidFill>
          <a:ln w="12600">
            <a:solidFill>
              <a:srgbClr val="2563eb"/>
            </a:solidFill>
            <a:round/>
          </a:ln>
        </p:spPr>
        <p:style>
          <a:lnRef idx="0"/>
          <a:fillRef idx="0"/>
          <a:effectRef idx="0"/>
          <a:fontRef idx="minor"/>
        </p:style>
      </p:sp>
      <p:sp>
        <p:nvSpPr>
          <p:cNvPr id="583" name="CustomShape 16"/>
          <p:cNvSpPr/>
          <p:nvPr/>
        </p:nvSpPr>
        <p:spPr>
          <a:xfrm>
            <a:off x="896040" y="3648600"/>
            <a:ext cx="310680" cy="1368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900" spc="-1" strike="noStrike">
                <a:solidFill>
                  <a:srgbClr val="ffffff"/>
                </a:solidFill>
                <a:latin typeface="Arial"/>
              </a:rPr>
              <a:t>3</a:t>
            </a:r>
            <a:endParaRPr b="0" lang="en-US" sz="900" spc="-1" strike="noStrike">
              <a:latin typeface="Arial"/>
            </a:endParaRPr>
          </a:p>
        </p:txBody>
      </p:sp>
      <p:sp>
        <p:nvSpPr>
          <p:cNvPr id="584" name="CustomShape 17"/>
          <p:cNvSpPr/>
          <p:nvPr/>
        </p:nvSpPr>
        <p:spPr>
          <a:xfrm>
            <a:off x="1353240" y="3575160"/>
            <a:ext cx="1992960" cy="237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00" spc="-1" strike="noStrike">
                <a:solidFill>
                  <a:srgbClr val="64748b"/>
                </a:solidFill>
                <a:latin typeface="Arial"/>
              </a:rPr>
              <a:t>Most saturated</a:t>
            </a:r>
            <a:endParaRPr b="0" lang="en-US" sz="1000" spc="-1" strike="noStrike">
              <a:latin typeface="Arial"/>
            </a:endParaRPr>
          </a:p>
        </p:txBody>
      </p:sp>
      <p:sp>
        <p:nvSpPr>
          <p:cNvPr id="585" name="CustomShape 18"/>
          <p:cNvSpPr/>
          <p:nvPr/>
        </p:nvSpPr>
        <p:spPr>
          <a:xfrm>
            <a:off x="3456360" y="3575160"/>
            <a:ext cx="2322360" cy="2923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80" spc="-1" strike="noStrike">
                <a:solidFill>
                  <a:srgbClr val="0b1f33"/>
                </a:solidFill>
                <a:latin typeface="Arial"/>
              </a:rPr>
              <a:t>Google PMAX</a:t>
            </a:r>
            <a:endParaRPr b="0" lang="en-US" sz="1080" spc="-1" strike="noStrike">
              <a:latin typeface="Arial"/>
            </a:endParaRPr>
          </a:p>
        </p:txBody>
      </p:sp>
      <p:sp>
        <p:nvSpPr>
          <p:cNvPr id="586" name="CustomShape 19"/>
          <p:cNvSpPr/>
          <p:nvPr/>
        </p:nvSpPr>
        <p:spPr>
          <a:xfrm>
            <a:off x="896040" y="4251960"/>
            <a:ext cx="310680" cy="310680"/>
          </a:xfrm>
          <a:prstGeom prst="ellipse">
            <a:avLst/>
          </a:prstGeom>
          <a:solidFill>
            <a:srgbClr val="0ea5a4"/>
          </a:solidFill>
          <a:ln w="12600">
            <a:solidFill>
              <a:srgbClr val="0ea5a4"/>
            </a:solidFill>
            <a:round/>
          </a:ln>
        </p:spPr>
        <p:style>
          <a:lnRef idx="0"/>
          <a:fillRef idx="0"/>
          <a:effectRef idx="0"/>
          <a:fontRef idx="minor"/>
        </p:style>
      </p:sp>
      <p:sp>
        <p:nvSpPr>
          <p:cNvPr id="587" name="CustomShape 20"/>
          <p:cNvSpPr/>
          <p:nvPr/>
        </p:nvSpPr>
        <p:spPr>
          <a:xfrm>
            <a:off x="896040" y="4306680"/>
            <a:ext cx="310680" cy="1368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900" spc="-1" strike="noStrike">
                <a:solidFill>
                  <a:srgbClr val="ffffff"/>
                </a:solidFill>
                <a:latin typeface="Arial"/>
              </a:rPr>
              <a:t>4</a:t>
            </a:r>
            <a:endParaRPr b="0" lang="en-US" sz="900" spc="-1" strike="noStrike">
              <a:latin typeface="Arial"/>
            </a:endParaRPr>
          </a:p>
        </p:txBody>
      </p:sp>
      <p:sp>
        <p:nvSpPr>
          <p:cNvPr id="588" name="CustomShape 21"/>
          <p:cNvSpPr/>
          <p:nvPr/>
        </p:nvSpPr>
        <p:spPr>
          <a:xfrm>
            <a:off x="1353240" y="4233600"/>
            <a:ext cx="1992960" cy="237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00" spc="-1" strike="noStrike">
                <a:solidFill>
                  <a:srgbClr val="64748b"/>
                </a:solidFill>
                <a:latin typeface="Arial"/>
              </a:rPr>
              <a:t>Best tested allocation</a:t>
            </a:r>
            <a:endParaRPr b="0" lang="en-US" sz="1000" spc="-1" strike="noStrike">
              <a:latin typeface="Arial"/>
            </a:endParaRPr>
          </a:p>
        </p:txBody>
      </p:sp>
      <p:sp>
        <p:nvSpPr>
          <p:cNvPr id="589" name="CustomShape 22"/>
          <p:cNvSpPr/>
          <p:nvPr/>
        </p:nvSpPr>
        <p:spPr>
          <a:xfrm>
            <a:off x="3456360" y="4233600"/>
            <a:ext cx="2322360" cy="29232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80" spc="-1" strike="noStrike">
                <a:solidFill>
                  <a:srgbClr val="0b1f33"/>
                </a:solidFill>
                <a:latin typeface="Arial"/>
              </a:rPr>
              <a:t>Paid Search +50%</a:t>
            </a:r>
            <a:endParaRPr b="0" lang="en-US" sz="1080" spc="-1" strike="noStrike">
              <a:latin typeface="Arial"/>
            </a:endParaRPr>
          </a:p>
        </p:txBody>
      </p:sp>
      <p:sp>
        <p:nvSpPr>
          <p:cNvPr id="590" name="CustomShape 23"/>
          <p:cNvSpPr/>
          <p:nvPr/>
        </p:nvSpPr>
        <p:spPr>
          <a:xfrm>
            <a:off x="896040" y="4910400"/>
            <a:ext cx="310680" cy="310680"/>
          </a:xfrm>
          <a:prstGeom prst="ellipse">
            <a:avLst/>
          </a:prstGeom>
          <a:solidFill>
            <a:srgbClr val="2563eb"/>
          </a:solidFill>
          <a:ln w="12600">
            <a:solidFill>
              <a:srgbClr val="2563eb"/>
            </a:solidFill>
            <a:round/>
          </a:ln>
        </p:spPr>
        <p:style>
          <a:lnRef idx="0"/>
          <a:fillRef idx="0"/>
          <a:effectRef idx="0"/>
          <a:fontRef idx="minor"/>
        </p:style>
      </p:sp>
      <p:sp>
        <p:nvSpPr>
          <p:cNvPr id="591" name="CustomShape 24"/>
          <p:cNvSpPr/>
          <p:nvPr/>
        </p:nvSpPr>
        <p:spPr>
          <a:xfrm>
            <a:off x="896040" y="4965120"/>
            <a:ext cx="310680" cy="136800"/>
          </a:xfrm>
          <a:prstGeom prst="rect">
            <a:avLst/>
          </a:prstGeom>
          <a:noFill/>
          <a:ln>
            <a:noFill/>
          </a:ln>
        </p:spPr>
        <p:style>
          <a:lnRef idx="0"/>
          <a:fillRef idx="0"/>
          <a:effectRef idx="0"/>
          <a:fontRef idx="minor"/>
        </p:style>
        <p:txBody>
          <a:bodyPr lIns="0" rIns="0" tIns="0" bIns="0" anchor="ctr">
            <a:noAutofit/>
          </a:bodyPr>
          <a:p>
            <a:pPr algn="ctr">
              <a:lnSpc>
                <a:spcPct val="100000"/>
              </a:lnSpc>
              <a:tabLst>
                <a:tab algn="l" pos="0"/>
              </a:tabLst>
            </a:pPr>
            <a:r>
              <a:rPr b="1" lang="en-US" sz="900" spc="-1" strike="noStrike">
                <a:solidFill>
                  <a:srgbClr val="ffffff"/>
                </a:solidFill>
                <a:latin typeface="Arial"/>
              </a:rPr>
              <a:t>5</a:t>
            </a:r>
            <a:endParaRPr b="0" lang="en-US" sz="900" spc="-1" strike="noStrike">
              <a:latin typeface="Arial"/>
            </a:endParaRPr>
          </a:p>
        </p:txBody>
      </p:sp>
      <p:sp>
        <p:nvSpPr>
          <p:cNvPr id="592" name="CustomShape 25"/>
          <p:cNvSpPr/>
          <p:nvPr/>
        </p:nvSpPr>
        <p:spPr>
          <a:xfrm>
            <a:off x="1353240" y="4892040"/>
            <a:ext cx="1992960" cy="2372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00" spc="-1" strike="noStrike">
                <a:solidFill>
                  <a:srgbClr val="64748b"/>
                </a:solidFill>
                <a:latin typeface="Arial"/>
              </a:rPr>
              <a:t>Explainability</a:t>
            </a:r>
            <a:endParaRPr b="0" lang="en-US" sz="1000" spc="-1" strike="noStrike">
              <a:latin typeface="Arial"/>
            </a:endParaRPr>
          </a:p>
        </p:txBody>
      </p:sp>
      <p:sp>
        <p:nvSpPr>
          <p:cNvPr id="593" name="CustomShape 26"/>
          <p:cNvSpPr/>
          <p:nvPr/>
        </p:nvSpPr>
        <p:spPr>
          <a:xfrm>
            <a:off x="3456360" y="4892040"/>
            <a:ext cx="2322360" cy="292320"/>
          </a:xfrm>
          <a:prstGeom prst="rect">
            <a:avLst/>
          </a:prstGeom>
          <a:noFill/>
          <a:ln>
            <a:noFill/>
          </a:ln>
        </p:spPr>
        <p:style>
          <a:lnRef idx="0"/>
          <a:fillRef idx="0"/>
          <a:effectRef idx="0"/>
          <a:fontRef idx="minor"/>
        </p:style>
        <p:txBody>
          <a:bodyPr lIns="0" rIns="0" tIns="0" bIns="0" anchor="ctr">
            <a:normAutofit fontScale="94000"/>
          </a:bodyPr>
          <a:p>
            <a:pPr>
              <a:lnSpc>
                <a:spcPct val="100000"/>
              </a:lnSpc>
              <a:tabLst>
                <a:tab algn="l" pos="0"/>
              </a:tabLst>
            </a:pPr>
            <a:r>
              <a:rPr b="1" lang="en-US" sz="1080" spc="-1" strike="noStrike">
                <a:solidFill>
                  <a:srgbClr val="0b1f33"/>
                </a:solidFill>
                <a:latin typeface="Arial"/>
              </a:rPr>
              <a:t>Strong surrogate fidelity; SHAP is predictive, Meridian is causal</a:t>
            </a:r>
            <a:endParaRPr b="0" lang="en-US" sz="1080" spc="-1" strike="noStrike">
              <a:latin typeface="Arial"/>
            </a:endParaRPr>
          </a:p>
        </p:txBody>
      </p:sp>
      <p:sp>
        <p:nvSpPr>
          <p:cNvPr id="594" name="CustomShape 27"/>
          <p:cNvSpPr/>
          <p:nvPr/>
        </p:nvSpPr>
        <p:spPr>
          <a:xfrm>
            <a:off x="6510600" y="1417320"/>
            <a:ext cx="5074560" cy="4525920"/>
          </a:xfrm>
          <a:prstGeom prst="roundRect">
            <a:avLst>
              <a:gd name="adj" fmla="val 1616"/>
            </a:avLst>
          </a:prstGeom>
          <a:solidFill>
            <a:srgbClr val="0b1f33"/>
          </a:solidFill>
          <a:ln w="12600">
            <a:solidFill>
              <a:srgbClr val="0b1f33"/>
            </a:solidFill>
            <a:round/>
          </a:ln>
          <a:effectLst>
            <a:outerShdw algn="bl" blurRad="9" dir="0" dist="0" kx="0" ky="0" rotWithShape="0" sx="100000" sy="100000">
              <a:srgbClr val="000000">
                <a:alpha val="0"/>
              </a:srgbClr>
            </a:outerShdw>
          </a:effectLst>
        </p:spPr>
        <p:style>
          <a:lnRef idx="0"/>
          <a:fillRef idx="0"/>
          <a:effectRef idx="0"/>
          <a:fontRef idx="minor"/>
        </p:style>
      </p:sp>
      <p:sp>
        <p:nvSpPr>
          <p:cNvPr id="595" name="CustomShape 28"/>
          <p:cNvSpPr/>
          <p:nvPr/>
        </p:nvSpPr>
        <p:spPr>
          <a:xfrm>
            <a:off x="6839640" y="1728360"/>
            <a:ext cx="4388760" cy="3286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800" spc="-1" strike="noStrike">
                <a:solidFill>
                  <a:srgbClr val="ffffff"/>
                </a:solidFill>
                <a:latin typeface="Arial"/>
              </a:rPr>
              <a:t>Limitations</a:t>
            </a:r>
            <a:endParaRPr b="0" lang="en-US" sz="1800" spc="-1" strike="noStrike">
              <a:latin typeface="Arial"/>
            </a:endParaRPr>
          </a:p>
        </p:txBody>
      </p:sp>
      <p:sp>
        <p:nvSpPr>
          <p:cNvPr id="596" name="CustomShape 29"/>
          <p:cNvSpPr/>
          <p:nvPr/>
        </p:nvSpPr>
        <p:spPr>
          <a:xfrm>
            <a:off x="6839640" y="2414160"/>
            <a:ext cx="91080" cy="91080"/>
          </a:xfrm>
          <a:prstGeom prst="ellipse">
            <a:avLst/>
          </a:prstGeom>
          <a:solidFill>
            <a:srgbClr val="0ea5a4"/>
          </a:solidFill>
          <a:ln w="12600">
            <a:solidFill>
              <a:srgbClr val="0ea5a4"/>
            </a:solidFill>
            <a:round/>
          </a:ln>
        </p:spPr>
        <p:style>
          <a:lnRef idx="0"/>
          <a:fillRef idx="0"/>
          <a:effectRef idx="0"/>
          <a:fontRef idx="minor"/>
        </p:style>
      </p:sp>
      <p:sp>
        <p:nvSpPr>
          <p:cNvPr id="597" name="CustomShape 30"/>
          <p:cNvSpPr/>
          <p:nvPr/>
        </p:nvSpPr>
        <p:spPr>
          <a:xfrm>
            <a:off x="7022520" y="2331720"/>
            <a:ext cx="4068720" cy="38376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20" spc="-1" strike="noStrike">
                <a:solidFill>
                  <a:srgbClr val="d8e5f2"/>
                </a:solidFill>
                <a:latin typeface="Arial"/>
              </a:rPr>
              <a:t>Results apply to one selected organization and period.</a:t>
            </a:r>
            <a:endParaRPr b="0" lang="en-US" sz="1020" spc="-1" strike="noStrike">
              <a:latin typeface="Arial"/>
            </a:endParaRPr>
          </a:p>
        </p:txBody>
      </p:sp>
      <p:sp>
        <p:nvSpPr>
          <p:cNvPr id="598" name="CustomShape 31"/>
          <p:cNvSpPr/>
          <p:nvPr/>
        </p:nvSpPr>
        <p:spPr>
          <a:xfrm>
            <a:off x="6839640" y="2980800"/>
            <a:ext cx="91080" cy="91080"/>
          </a:xfrm>
          <a:prstGeom prst="ellipse">
            <a:avLst/>
          </a:prstGeom>
          <a:solidFill>
            <a:srgbClr val="0ea5a4"/>
          </a:solidFill>
          <a:ln w="12600">
            <a:solidFill>
              <a:srgbClr val="0ea5a4"/>
            </a:solidFill>
            <a:round/>
          </a:ln>
        </p:spPr>
        <p:style>
          <a:lnRef idx="0"/>
          <a:fillRef idx="0"/>
          <a:effectRef idx="0"/>
          <a:fontRef idx="minor"/>
        </p:style>
      </p:sp>
      <p:sp>
        <p:nvSpPr>
          <p:cNvPr id="599" name="CustomShape 32"/>
          <p:cNvSpPr/>
          <p:nvPr/>
        </p:nvSpPr>
        <p:spPr>
          <a:xfrm>
            <a:off x="7022520" y="2898720"/>
            <a:ext cx="4068720" cy="38376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20" spc="-1" strike="noStrike">
                <a:solidFill>
                  <a:srgbClr val="d8e5f2"/>
                </a:solidFill>
                <a:latin typeface="Arial"/>
              </a:rPr>
              <a:t>MMM depends on causal assumptions and available control variables.</a:t>
            </a:r>
            <a:endParaRPr b="0" lang="en-US" sz="1020" spc="-1" strike="noStrike">
              <a:latin typeface="Arial"/>
            </a:endParaRPr>
          </a:p>
        </p:txBody>
      </p:sp>
      <p:sp>
        <p:nvSpPr>
          <p:cNvPr id="600" name="CustomShape 33"/>
          <p:cNvSpPr/>
          <p:nvPr/>
        </p:nvSpPr>
        <p:spPr>
          <a:xfrm>
            <a:off x="6839640" y="3547800"/>
            <a:ext cx="91080" cy="91080"/>
          </a:xfrm>
          <a:prstGeom prst="ellipse">
            <a:avLst/>
          </a:prstGeom>
          <a:solidFill>
            <a:srgbClr val="0ea5a4"/>
          </a:solidFill>
          <a:ln w="12600">
            <a:solidFill>
              <a:srgbClr val="0ea5a4"/>
            </a:solidFill>
            <a:round/>
          </a:ln>
        </p:spPr>
        <p:style>
          <a:lnRef idx="0"/>
          <a:fillRef idx="0"/>
          <a:effectRef idx="0"/>
          <a:fontRef idx="minor"/>
        </p:style>
      </p:sp>
      <p:sp>
        <p:nvSpPr>
          <p:cNvPr id="601" name="CustomShape 34"/>
          <p:cNvSpPr/>
          <p:nvPr/>
        </p:nvSpPr>
        <p:spPr>
          <a:xfrm>
            <a:off x="7022520" y="3465720"/>
            <a:ext cx="4068720" cy="38376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20" spc="-1" strike="noStrike">
                <a:solidFill>
                  <a:srgbClr val="d8e5f2"/>
                </a:solidFill>
                <a:latin typeface="Arial"/>
              </a:rPr>
              <a:t>Some channel estimates have wide credible intervals.</a:t>
            </a:r>
            <a:endParaRPr b="0" lang="en-US" sz="1020" spc="-1" strike="noStrike">
              <a:latin typeface="Arial"/>
            </a:endParaRPr>
          </a:p>
        </p:txBody>
      </p:sp>
      <p:sp>
        <p:nvSpPr>
          <p:cNvPr id="602" name="CustomShape 35"/>
          <p:cNvSpPr/>
          <p:nvPr/>
        </p:nvSpPr>
        <p:spPr>
          <a:xfrm>
            <a:off x="6839640" y="4114800"/>
            <a:ext cx="91080" cy="91080"/>
          </a:xfrm>
          <a:prstGeom prst="ellipse">
            <a:avLst/>
          </a:prstGeom>
          <a:solidFill>
            <a:srgbClr val="0ea5a4"/>
          </a:solidFill>
          <a:ln w="12600">
            <a:solidFill>
              <a:srgbClr val="0ea5a4"/>
            </a:solidFill>
            <a:round/>
          </a:ln>
        </p:spPr>
        <p:style>
          <a:lnRef idx="0"/>
          <a:fillRef idx="0"/>
          <a:effectRef idx="0"/>
          <a:fontRef idx="minor"/>
        </p:style>
      </p:sp>
      <p:sp>
        <p:nvSpPr>
          <p:cNvPr id="603" name="CustomShape 36"/>
          <p:cNvSpPr/>
          <p:nvPr/>
        </p:nvSpPr>
        <p:spPr>
          <a:xfrm>
            <a:off x="7022520" y="4032360"/>
            <a:ext cx="4068720" cy="38376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20" spc="-1" strike="noStrike">
                <a:solidFill>
                  <a:srgbClr val="d8e5f2"/>
                </a:solidFill>
                <a:latin typeface="Arial"/>
              </a:rPr>
              <a:t>SHAP explains a surrogate prediction model, not incrementality.</a:t>
            </a:r>
            <a:endParaRPr b="0" lang="en-US" sz="1020" spc="-1" strike="noStrike">
              <a:latin typeface="Arial"/>
            </a:endParaRPr>
          </a:p>
        </p:txBody>
      </p:sp>
      <p:sp>
        <p:nvSpPr>
          <p:cNvPr id="604" name="CustomShape 37"/>
          <p:cNvSpPr/>
          <p:nvPr/>
        </p:nvSpPr>
        <p:spPr>
          <a:xfrm>
            <a:off x="6839640" y="4681800"/>
            <a:ext cx="91080" cy="91080"/>
          </a:xfrm>
          <a:prstGeom prst="ellipse">
            <a:avLst/>
          </a:prstGeom>
          <a:solidFill>
            <a:srgbClr val="f59e0b"/>
          </a:solidFill>
          <a:ln w="12600">
            <a:solidFill>
              <a:srgbClr val="f59e0b"/>
            </a:solidFill>
            <a:round/>
          </a:ln>
        </p:spPr>
        <p:style>
          <a:lnRef idx="0"/>
          <a:fillRef idx="0"/>
          <a:effectRef idx="0"/>
          <a:fontRef idx="minor"/>
        </p:style>
      </p:sp>
      <p:sp>
        <p:nvSpPr>
          <p:cNvPr id="605" name="CustomShape 38"/>
          <p:cNvSpPr/>
          <p:nvPr/>
        </p:nvSpPr>
        <p:spPr>
          <a:xfrm>
            <a:off x="7022520" y="4599360"/>
            <a:ext cx="4068720" cy="38376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0" lang="en-US" sz="1020" spc="-1" strike="noStrike">
                <a:solidFill>
                  <a:srgbClr val="d8e5f2"/>
                </a:solidFill>
                <a:latin typeface="Arial"/>
              </a:rPr>
              <a:t>Scenario results are estimates and should be validated with experiments.</a:t>
            </a:r>
            <a:endParaRPr b="0" lang="en-US" sz="1020" spc="-1" strike="noStrike">
              <a:latin typeface="Arial"/>
            </a:endParaRPr>
          </a:p>
        </p:txBody>
      </p:sp>
      <p:sp>
        <p:nvSpPr>
          <p:cNvPr id="606" name="CustomShape 39"/>
          <p:cNvSpPr/>
          <p:nvPr/>
        </p:nvSpPr>
        <p:spPr>
          <a:xfrm>
            <a:off x="6839640" y="5321880"/>
            <a:ext cx="1572480" cy="200880"/>
          </a:xfrm>
          <a:prstGeom prst="rect">
            <a:avLst/>
          </a:prstGeom>
          <a:noFill/>
          <a:ln>
            <a:noFill/>
          </a:ln>
        </p:spPr>
        <p:style>
          <a:lnRef idx="0"/>
          <a:fillRef idx="0"/>
          <a:effectRef idx="0"/>
          <a:fontRef idx="minor"/>
        </p:style>
        <p:txBody>
          <a:bodyPr lIns="0" rIns="0" tIns="0" bIns="0" anchor="ctr">
            <a:noAutofit/>
          </a:bodyPr>
          <a:p>
            <a:pPr>
              <a:lnSpc>
                <a:spcPct val="100000"/>
              </a:lnSpc>
              <a:tabLst>
                <a:tab algn="l" pos="0"/>
              </a:tabLst>
            </a:pPr>
            <a:r>
              <a:rPr b="1" lang="en-US" sz="1000" spc="-1" strike="noStrike">
                <a:solidFill>
                  <a:srgbClr val="f59e0b"/>
                </a:solidFill>
                <a:latin typeface="Arial"/>
              </a:rPr>
              <a:t>Final recommendation</a:t>
            </a:r>
            <a:endParaRPr b="0" lang="en-US" sz="1000" spc="-1" strike="noStrike">
              <a:latin typeface="Arial"/>
            </a:endParaRPr>
          </a:p>
        </p:txBody>
      </p:sp>
      <p:sp>
        <p:nvSpPr>
          <p:cNvPr id="607" name="CustomShape 40"/>
          <p:cNvSpPr/>
          <p:nvPr/>
        </p:nvSpPr>
        <p:spPr>
          <a:xfrm>
            <a:off x="8394120" y="5230440"/>
            <a:ext cx="2669760" cy="456840"/>
          </a:xfrm>
          <a:prstGeom prst="rect">
            <a:avLst/>
          </a:prstGeom>
          <a:noFill/>
          <a:ln>
            <a:noFill/>
          </a:ln>
        </p:spPr>
        <p:style>
          <a:lnRef idx="0"/>
          <a:fillRef idx="0"/>
          <a:effectRef idx="0"/>
          <a:fontRef idx="minor"/>
        </p:style>
        <p:txBody>
          <a:bodyPr lIns="0" rIns="0" tIns="0" bIns="0" anchor="ctr">
            <a:normAutofit/>
          </a:bodyPr>
          <a:p>
            <a:pPr>
              <a:lnSpc>
                <a:spcPct val="100000"/>
              </a:lnSpc>
              <a:tabLst>
                <a:tab algn="l" pos="0"/>
              </a:tabLst>
            </a:pPr>
            <a:r>
              <a:rPr b="1" lang="en-US" sz="1060" spc="-1" strike="noStrike">
                <a:solidFill>
                  <a:srgbClr val="ffffff"/>
                </a:solidFill>
                <a:latin typeface="Arial"/>
              </a:rPr>
              <a:t>Scale Paid Search, keep Meta disciplined, and remove low-return spend from saturated channels.</a:t>
            </a:r>
            <a:endParaRPr b="0" lang="en-US" sz="1060" spc="-1" strike="noStrike">
              <a:latin typeface="Arial"/>
            </a:endParaRPr>
          </a:p>
        </p:txBody>
      </p:sp>
      <p:sp>
        <p:nvSpPr>
          <p:cNvPr id="608" name="TextShape 41"/>
          <p:cNvSpPr txBox="1"/>
          <p:nvPr/>
        </p:nvSpPr>
        <p:spPr>
          <a:xfrm>
            <a:off x="11228760" y="6519600"/>
            <a:ext cx="411120" cy="200880"/>
          </a:xfrm>
          <a:prstGeom prst="rect">
            <a:avLst/>
          </a:prstGeom>
          <a:noFill/>
          <a:ln>
            <a:noFill/>
          </a:ln>
        </p:spPr>
        <p:txBody>
          <a:bodyPr lIns="0" rIns="0" tIns="0" bIns="0">
            <a:noAutofit/>
          </a:bodyPr>
          <a:p>
            <a:pPr algn="r">
              <a:lnSpc>
                <a:spcPct val="100000"/>
              </a:lnSpc>
            </a:pPr>
            <a:fld id="{3CD0CDD3-F972-4797-A93D-AE48D7C992DD}" type="slidenum">
              <a:rPr b="0" lang="en-US" sz="900" spc="-1" strike="noStrike">
                <a:solidFill>
                  <a:srgbClr val="64748b"/>
                </a:solidFill>
                <a:latin typeface="Arial"/>
                <a:ea typeface="Arial"/>
              </a:rPr>
              <a:t>&lt;number&gt;</a:t>
            </a:fld>
            <a:endParaRPr b="0" lang="en-US" sz="900" spc="-1" strike="noStrike">
              <a:latin typeface="Times New Roman"/>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LibreOffice/6.4.7.2$Linux_X86_64 LibreOffice_project/40$Build-2</Application>
  <Words>0</Words>
  <Paragraphs>0</Paragraphs>
  <Company>Marketing Analytics Assignment</Company>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2026-07-16T12:58:13Z</dcterms:created>
  <dc:creator>Muzamil</dc:creator>
  <dc:description/>
  <dc:language>en-US</dc:language>
  <cp:lastModifiedBy/>
  <dcterms:modified xsi:type="dcterms:W3CDTF">2026-07-16T18:25:46Z</dcterms:modified>
  <cp:revision>2</cp:revision>
  <dc:subject>Marketing Mix Modeling with Meridian and SHAP</dc:subject>
  <dc:title>Marketing Mix Modeling with Meridian and SHAP Explainability</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AppVersion">
    <vt:lpwstr>16.0000</vt:lpwstr>
  </property>
  <property fmtid="{D5CDD505-2E9C-101B-9397-08002B2CF9AE}" pid="3" name="Company">
    <vt:lpwstr>Marketing Analytics Assignment</vt:lpwstr>
  </property>
  <property fmtid="{D5CDD505-2E9C-101B-9397-08002B2CF9AE}" pid="4" name="HiddenSlides">
    <vt:i4>0</vt:i4>
  </property>
  <property fmtid="{D5CDD505-2E9C-101B-9397-08002B2CF9AE}" pid="5" name="HyperlinksChanged">
    <vt:bool>0</vt:bool>
  </property>
  <property fmtid="{D5CDD505-2E9C-101B-9397-08002B2CF9AE}" pid="6" name="LinksUpToDate">
    <vt:bool>0</vt:bool>
  </property>
  <property fmtid="{D5CDD505-2E9C-101B-9397-08002B2CF9AE}" pid="7" name="MMClips">
    <vt:i4>0</vt:i4>
  </property>
  <property fmtid="{D5CDD505-2E9C-101B-9397-08002B2CF9AE}" pid="8" name="Notes">
    <vt:i4>16</vt:i4>
  </property>
  <property fmtid="{D5CDD505-2E9C-101B-9397-08002B2CF9AE}" pid="9" name="PresentationFormat">
    <vt:lpwstr>On-screen Show (16:9)</vt:lpwstr>
  </property>
  <property fmtid="{D5CDD505-2E9C-101B-9397-08002B2CF9AE}" pid="10" name="ScaleCrop">
    <vt:bool>0</vt:bool>
  </property>
  <property fmtid="{D5CDD505-2E9C-101B-9397-08002B2CF9AE}" pid="11" name="ShareDoc">
    <vt:bool>0</vt:bool>
  </property>
  <property fmtid="{D5CDD505-2E9C-101B-9397-08002B2CF9AE}" pid="12" name="Slides">
    <vt:i4>16</vt:i4>
  </property>
</Properties>
</file>